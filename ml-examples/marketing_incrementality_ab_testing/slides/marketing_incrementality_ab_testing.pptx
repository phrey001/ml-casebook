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1.xml" ContentType="application/vnd.openxmlformats-officedocument.presentationml.notesSlide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notesSlides/notesSlide2.xml" ContentType="application/vnd.openxmlformats-officedocument.presentationml.notesSlide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diagrams/data5.xml" ContentType="application/vnd.openxmlformats-officedocument.drawingml.diagramData+xml"/>
  <Override PartName="/ppt/diagrams/layout5.xml" ContentType="application/vnd.openxmlformats-officedocument.drawingml.diagramLayout+xml"/>
  <Override PartName="/ppt/diagrams/quickStyle5.xml" ContentType="application/vnd.openxmlformats-officedocument.drawingml.diagramStyle+xml"/>
  <Override PartName="/ppt/diagrams/colors5.xml" ContentType="application/vnd.openxmlformats-officedocument.drawingml.diagramColors+xml"/>
  <Override PartName="/ppt/diagrams/drawing5.xml" ContentType="application/vnd.ms-office.drawingml.diagramDrawing+xml"/>
  <Override PartName="/ppt/diagrams/data6.xml" ContentType="application/vnd.openxmlformats-officedocument.drawingml.diagramData+xml"/>
  <Override PartName="/ppt/diagrams/layout6.xml" ContentType="application/vnd.openxmlformats-officedocument.drawingml.diagramLayout+xml"/>
  <Override PartName="/ppt/diagrams/quickStyle6.xml" ContentType="application/vnd.openxmlformats-officedocument.drawingml.diagramStyle+xml"/>
  <Override PartName="/ppt/diagrams/colors6.xml" ContentType="application/vnd.openxmlformats-officedocument.drawingml.diagramColors+xml"/>
  <Override PartName="/ppt/diagrams/drawing6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8" r:id="rId1"/>
  </p:sldMasterIdLst>
  <p:notesMasterIdLst>
    <p:notesMasterId r:id="rId15"/>
  </p:notesMasterIdLst>
  <p:sldIdLst>
    <p:sldId id="256" r:id="rId2"/>
    <p:sldId id="270" r:id="rId3"/>
    <p:sldId id="260" r:id="rId4"/>
    <p:sldId id="286" r:id="rId5"/>
    <p:sldId id="271" r:id="rId6"/>
    <p:sldId id="289" r:id="rId7"/>
    <p:sldId id="290" r:id="rId8"/>
    <p:sldId id="291" r:id="rId9"/>
    <p:sldId id="292" r:id="rId10"/>
    <p:sldId id="264" r:id="rId11"/>
    <p:sldId id="265" r:id="rId12"/>
    <p:sldId id="263" r:id="rId13"/>
    <p:sldId id="293" r:id="rId14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EADBBF6A-A540-4E50-8379-15AE5058B2C4}">
          <p14:sldIdLst>
            <p14:sldId id="256"/>
            <p14:sldId id="270"/>
            <p14:sldId id="260"/>
            <p14:sldId id="286"/>
            <p14:sldId id="271"/>
            <p14:sldId id="289"/>
            <p14:sldId id="290"/>
            <p14:sldId id="291"/>
            <p14:sldId id="292"/>
            <p14:sldId id="264"/>
            <p14:sldId id="265"/>
            <p14:sldId id="263"/>
            <p14:sldId id="293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A5301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794" autoAdjust="0"/>
  </p:normalViewPr>
  <p:slideViewPr>
    <p:cSldViewPr snapToGrid="0">
      <p:cViewPr varScale="1">
        <p:scale>
          <a:sx n="85" d="100"/>
          <a:sy n="85" d="100"/>
        </p:scale>
        <p:origin x="978" y="30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diagrams/_rels/data1.xml.rels><?xml version="1.0" encoding="UTF-8" standalone="yes"?>
<Relationships xmlns="http://schemas.openxmlformats.org/package/2006/relationships"><Relationship Id="rId1" Type="http://schemas.openxmlformats.org/officeDocument/2006/relationships/hyperlink" Target="https://blog.minethatdata.com/2008/03/minethatdata-e-mail-analytics-and-data.html" TargetMode="External"/></Relationships>
</file>

<file path=ppt/diagrams/_rels/drawing1.xml.rels><?xml version="1.0" encoding="UTF-8" standalone="yes"?>
<Relationships xmlns="http://schemas.openxmlformats.org/package/2006/relationships"><Relationship Id="rId1" Type="http://schemas.openxmlformats.org/officeDocument/2006/relationships/hyperlink" Target="https://blog.minethatdata.com/2008/03/minethatdata-e-mail-analytics-and-data.html" TargetMode="Externa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6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C0DF5EA1-9C95-4948-8257-635541060A77}" type="doc">
      <dgm:prSet loTypeId="urn:microsoft.com/office/officeart/2005/8/layout/list1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SG"/>
        </a:p>
      </dgm:t>
    </dgm:pt>
    <dgm:pt modelId="{3E9A84A9-1CBC-4562-8932-8C655F0CEFED}">
      <dgm:prSet custT="1"/>
      <dgm:spPr/>
      <dgm:t>
        <a:bodyPr/>
        <a:lstStyle/>
        <a:p>
          <a:r>
            <a:rPr lang="en-SG" sz="2000" b="1" u="none" dirty="0"/>
            <a:t>Business</a:t>
          </a:r>
        </a:p>
      </dgm:t>
    </dgm:pt>
    <dgm:pt modelId="{0FDB69EE-E01A-4CEC-9E4A-53D0037E25AF}" type="parTrans" cxnId="{9D561F9B-D40F-4B87-809C-E189016E725E}">
      <dgm:prSet/>
      <dgm:spPr/>
      <dgm:t>
        <a:bodyPr/>
        <a:lstStyle/>
        <a:p>
          <a:endParaRPr lang="en-SG"/>
        </a:p>
      </dgm:t>
    </dgm:pt>
    <dgm:pt modelId="{E3F3D327-810F-421E-B66D-AEE975450AC7}" type="sibTrans" cxnId="{9D561F9B-D40F-4B87-809C-E189016E725E}">
      <dgm:prSet/>
      <dgm:spPr/>
      <dgm:t>
        <a:bodyPr/>
        <a:lstStyle/>
        <a:p>
          <a:endParaRPr lang="en-SG"/>
        </a:p>
      </dgm:t>
    </dgm:pt>
    <dgm:pt modelId="{28F48650-713F-4BC0-98CB-6FD1593B3FDC}">
      <dgm:prSet custT="1"/>
      <dgm:spPr/>
      <dgm:t>
        <a:bodyPr/>
        <a:lstStyle/>
        <a:p>
          <a:pPr algn="just">
            <a:lnSpc>
              <a:spcPct val="100000"/>
            </a:lnSpc>
            <a:buFont typeface="Wingdings" panose="05000000000000000000" pitchFamily="2" charset="2"/>
            <a:buNone/>
          </a:pPr>
          <a:r>
            <a:rPr lang="en-SG" sz="1400" b="1" dirty="0"/>
            <a:t>Problem</a:t>
          </a:r>
          <a:endParaRPr lang="en-SG" sz="1400" b="0" dirty="0"/>
        </a:p>
      </dgm:t>
    </dgm:pt>
    <dgm:pt modelId="{F5CCBCD0-02B7-4928-97F4-EB50F75615E4}" type="parTrans" cxnId="{A48D412E-437C-4FEA-9350-871167D90E67}">
      <dgm:prSet/>
      <dgm:spPr/>
      <dgm:t>
        <a:bodyPr/>
        <a:lstStyle/>
        <a:p>
          <a:endParaRPr lang="en-SG"/>
        </a:p>
      </dgm:t>
    </dgm:pt>
    <dgm:pt modelId="{4A23CC98-F3D7-4768-BAA6-B4DAEEFE82F0}" type="sibTrans" cxnId="{A48D412E-437C-4FEA-9350-871167D90E67}">
      <dgm:prSet/>
      <dgm:spPr/>
      <dgm:t>
        <a:bodyPr/>
        <a:lstStyle/>
        <a:p>
          <a:endParaRPr lang="en-SG"/>
        </a:p>
      </dgm:t>
    </dgm:pt>
    <dgm:pt modelId="{5AC010DA-E63C-4F94-BF57-5EFA05D75A1E}">
      <dgm:prSet custT="1"/>
      <dgm:spPr/>
      <dgm:t>
        <a:bodyPr/>
        <a:lstStyle/>
        <a:p>
          <a:pPr algn="just">
            <a:lnSpc>
              <a:spcPct val="100000"/>
            </a:lnSpc>
            <a:buFont typeface="Wingdings" panose="05000000000000000000" pitchFamily="2" charset="2"/>
            <a:buNone/>
          </a:pPr>
          <a:r>
            <a:rPr lang="en-SG" sz="1400" b="1" i="0" dirty="0"/>
            <a:t>Why it matters</a:t>
          </a:r>
          <a:endParaRPr lang="en-SG" sz="1400" b="1" dirty="0"/>
        </a:p>
      </dgm:t>
    </dgm:pt>
    <dgm:pt modelId="{F4873F09-DC9F-4B55-A13C-3D46E3A9534C}" type="parTrans" cxnId="{B223B201-A224-4499-80EC-07B0BA1BC5E8}">
      <dgm:prSet/>
      <dgm:spPr/>
      <dgm:t>
        <a:bodyPr/>
        <a:lstStyle/>
        <a:p>
          <a:endParaRPr lang="en-SG"/>
        </a:p>
      </dgm:t>
    </dgm:pt>
    <dgm:pt modelId="{ED5134B4-9DBA-409C-BE46-317E9405A5B5}" type="sibTrans" cxnId="{B223B201-A224-4499-80EC-07B0BA1BC5E8}">
      <dgm:prSet/>
      <dgm:spPr/>
      <dgm:t>
        <a:bodyPr/>
        <a:lstStyle/>
        <a:p>
          <a:endParaRPr lang="en-SG"/>
        </a:p>
      </dgm:t>
    </dgm:pt>
    <dgm:pt modelId="{F62C5B83-8744-448E-870F-1BEACC356026}">
      <dgm:prSet custT="1"/>
      <dgm:spPr/>
      <dgm:t>
        <a:bodyPr/>
        <a:lstStyle/>
        <a:p>
          <a:r>
            <a:rPr lang="en-SG" sz="2000" b="1" u="none" dirty="0"/>
            <a:t>Dataset</a:t>
          </a:r>
        </a:p>
      </dgm:t>
    </dgm:pt>
    <dgm:pt modelId="{DAB04CEB-F490-4F85-B59B-8334F8A9991B}" type="parTrans" cxnId="{63B7F82D-9720-441E-9B78-6A1FE7376E51}">
      <dgm:prSet/>
      <dgm:spPr/>
      <dgm:t>
        <a:bodyPr/>
        <a:lstStyle/>
        <a:p>
          <a:endParaRPr lang="en-SG"/>
        </a:p>
      </dgm:t>
    </dgm:pt>
    <dgm:pt modelId="{C2321657-03E4-4FAA-A7F7-210D6E89B876}" type="sibTrans" cxnId="{63B7F82D-9720-441E-9B78-6A1FE7376E51}">
      <dgm:prSet/>
      <dgm:spPr/>
      <dgm:t>
        <a:bodyPr/>
        <a:lstStyle/>
        <a:p>
          <a:endParaRPr lang="en-SG"/>
        </a:p>
      </dgm:t>
    </dgm:pt>
    <dgm:pt modelId="{0AFE6E16-C7FF-4092-A00C-A625B08B4320}">
      <dgm:prSet custT="1"/>
      <dgm:spPr/>
      <dgm:t>
        <a:bodyPr/>
        <a:lstStyle/>
        <a:p>
          <a:pPr marL="0" indent="0" algn="just">
            <a:lnSpc>
              <a:spcPct val="100000"/>
            </a:lnSpc>
            <a:buFont typeface="Wingdings" panose="05000000000000000000" pitchFamily="2" charset="2"/>
            <a:buNone/>
          </a:pPr>
          <a:r>
            <a:rPr lang="en-SG" sz="1400" b="1" dirty="0"/>
            <a:t>Source:</a:t>
          </a:r>
          <a:r>
            <a:rPr lang="en-SG" sz="1400" dirty="0"/>
            <a:t> </a:t>
          </a:r>
          <a:r>
            <a:rPr lang="en-SG" sz="1400" dirty="0">
              <a:hlinkClick xmlns:r="http://schemas.openxmlformats.org/officeDocument/2006/relationships" r:id="rId1"/>
            </a:rPr>
            <a:t>Hillstrom Email Marketing Dataset (MineThatData)</a:t>
          </a:r>
          <a:endParaRPr lang="en-SG" sz="1400" b="1" dirty="0"/>
        </a:p>
      </dgm:t>
    </dgm:pt>
    <dgm:pt modelId="{9262EC9E-A759-4E5C-B11D-0D39E34F0300}" type="parTrans" cxnId="{ADB5A0EA-D9F6-4904-BF9F-02FA1358702B}">
      <dgm:prSet/>
      <dgm:spPr/>
      <dgm:t>
        <a:bodyPr/>
        <a:lstStyle/>
        <a:p>
          <a:endParaRPr lang="en-SG"/>
        </a:p>
      </dgm:t>
    </dgm:pt>
    <dgm:pt modelId="{BF0CDB86-DF00-42EA-95B5-6AD3ED665C59}" type="sibTrans" cxnId="{ADB5A0EA-D9F6-4904-BF9F-02FA1358702B}">
      <dgm:prSet/>
      <dgm:spPr/>
      <dgm:t>
        <a:bodyPr/>
        <a:lstStyle/>
        <a:p>
          <a:endParaRPr lang="en-SG"/>
        </a:p>
      </dgm:t>
    </dgm:pt>
    <dgm:pt modelId="{A151283C-11D4-40E1-9943-F008BD9CCFED}">
      <dgm:prSet custT="1"/>
      <dgm:spPr/>
      <dgm:t>
        <a:bodyPr/>
        <a:lstStyle/>
        <a:p>
          <a:pPr algn="just">
            <a:lnSpc>
              <a:spcPct val="100000"/>
            </a:lnSpc>
            <a:buFont typeface="Wingdings" panose="05000000000000000000" pitchFamily="2" charset="2"/>
            <a:buChar char="Ø"/>
          </a:pPr>
          <a:r>
            <a:rPr lang="en-SG" sz="1400" b="0" dirty="0"/>
            <a:t> Does the campaign drive </a:t>
          </a:r>
          <a:r>
            <a:rPr lang="en-SG" sz="1400" b="1" dirty="0"/>
            <a:t>incremental conversions and revenue?</a:t>
          </a:r>
          <a:r>
            <a:rPr lang="en-SG" sz="1400" b="0" dirty="0"/>
            <a:t>
 Or does it </a:t>
          </a:r>
          <a:r>
            <a:rPr lang="en-SG" sz="1400" b="1" dirty="0"/>
            <a:t>take credit for existing behavior?</a:t>
          </a:r>
        </a:p>
      </dgm:t>
    </dgm:pt>
    <dgm:pt modelId="{A15DB541-C8A1-4B7D-9EE7-369C1C050020}" type="parTrans" cxnId="{66D28683-8AFB-4C6E-8964-4E2FF65E5AE4}">
      <dgm:prSet/>
      <dgm:spPr/>
      <dgm:t>
        <a:bodyPr/>
        <a:lstStyle/>
        <a:p>
          <a:endParaRPr lang="en-SG"/>
        </a:p>
      </dgm:t>
    </dgm:pt>
    <dgm:pt modelId="{170BB129-4DC3-42AC-848C-BE867DE2EE20}" type="sibTrans" cxnId="{66D28683-8AFB-4C6E-8964-4E2FF65E5AE4}">
      <dgm:prSet/>
      <dgm:spPr/>
      <dgm:t>
        <a:bodyPr/>
        <a:lstStyle/>
        <a:p>
          <a:endParaRPr lang="en-SG"/>
        </a:p>
      </dgm:t>
    </dgm:pt>
    <dgm:pt modelId="{D424CF1B-7C78-4945-BDD7-E067B7FF6E74}">
      <dgm:prSet custT="1"/>
      <dgm:spPr/>
      <dgm:t>
        <a:bodyPr/>
        <a:lstStyle/>
        <a:p>
          <a:pPr algn="just">
            <a:lnSpc>
              <a:spcPct val="100000"/>
            </a:lnSpc>
            <a:buFont typeface="Wingdings" panose="05000000000000000000" pitchFamily="2" charset="2"/>
            <a:buChar char="Ø"/>
          </a:pPr>
          <a:r>
            <a:rPr lang="en-SG" sz="1400" b="0" i="0" dirty="0"/>
            <a:t> Weak incrementality → </a:t>
          </a:r>
          <a:r>
            <a:rPr lang="en-SG" sz="1400" b="1" i="0" dirty="0"/>
            <a:t>wasted spend and inflated ROI</a:t>
          </a:r>
          <a:r>
            <a:rPr lang="en-SG" sz="1400" b="0" i="0" dirty="0"/>
            <a:t>
 Inflated ROI → </a:t>
          </a:r>
          <a:r>
            <a:rPr lang="en-SG" sz="1400" b="1" i="0" dirty="0"/>
            <a:t>misleading decisions</a:t>
          </a:r>
          <a:endParaRPr lang="en-SG" sz="1400" b="1" dirty="0"/>
        </a:p>
      </dgm:t>
    </dgm:pt>
    <dgm:pt modelId="{99249FC0-3B5A-433D-8552-5DF742146454}" type="parTrans" cxnId="{2BC373EB-A2CA-4945-BA4E-CB89B72EB625}">
      <dgm:prSet/>
      <dgm:spPr/>
      <dgm:t>
        <a:bodyPr/>
        <a:lstStyle/>
        <a:p>
          <a:endParaRPr lang="en-SG"/>
        </a:p>
      </dgm:t>
    </dgm:pt>
    <dgm:pt modelId="{AAD72B86-17C1-4578-A8C0-93BABA7340CB}" type="sibTrans" cxnId="{2BC373EB-A2CA-4945-BA4E-CB89B72EB625}">
      <dgm:prSet/>
      <dgm:spPr/>
      <dgm:t>
        <a:bodyPr/>
        <a:lstStyle/>
        <a:p>
          <a:endParaRPr lang="en-SG"/>
        </a:p>
      </dgm:t>
    </dgm:pt>
    <dgm:pt modelId="{F0206589-8334-4A7A-9654-7DB8721BDFE3}">
      <dgm:prSet custT="1"/>
      <dgm:spPr/>
      <dgm:t>
        <a:bodyPr/>
        <a:lstStyle/>
        <a:p>
          <a:pPr marL="0" indent="0" algn="just">
            <a:lnSpc>
              <a:spcPct val="100000"/>
            </a:lnSpc>
            <a:buFont typeface="Wingdings" panose="05000000000000000000" pitchFamily="2" charset="2"/>
            <a:buNone/>
          </a:pPr>
          <a:r>
            <a:rPr lang="en-SG" sz="1400" b="1" dirty="0"/>
            <a:t>Background &amp; Users</a:t>
          </a:r>
          <a:endParaRPr lang="en-SG" sz="1400" b="0" dirty="0"/>
        </a:p>
      </dgm:t>
    </dgm:pt>
    <dgm:pt modelId="{5EF5F00F-3D0C-4E11-A30A-CF4B42B3EAC6}" type="parTrans" cxnId="{33E20AED-8307-4D4E-A2C1-296900BF3EE8}">
      <dgm:prSet/>
      <dgm:spPr/>
      <dgm:t>
        <a:bodyPr/>
        <a:lstStyle/>
        <a:p>
          <a:endParaRPr lang="en-SG"/>
        </a:p>
      </dgm:t>
    </dgm:pt>
    <dgm:pt modelId="{3A02485C-6B0D-4904-813D-B44E8EFA6EA1}" type="sibTrans" cxnId="{33E20AED-8307-4D4E-A2C1-296900BF3EE8}">
      <dgm:prSet/>
      <dgm:spPr/>
      <dgm:t>
        <a:bodyPr/>
        <a:lstStyle/>
        <a:p>
          <a:endParaRPr lang="en-SG"/>
        </a:p>
      </dgm:t>
    </dgm:pt>
    <dgm:pt modelId="{DDC08B9B-A226-466C-B3D5-F83EDB3B8D0D}">
      <dgm:prSet custT="1"/>
      <dgm:spPr/>
      <dgm:t>
        <a:bodyPr/>
        <a:lstStyle/>
        <a:p>
          <a:pPr marL="0" indent="0" algn="just">
            <a:lnSpc>
              <a:spcPct val="100000"/>
            </a:lnSpc>
            <a:buFont typeface="Wingdings" panose="05000000000000000000" pitchFamily="2" charset="2"/>
            <a:buNone/>
          </a:pPr>
          <a:r>
            <a:rPr lang="en-SG" sz="1400" b="1" dirty="0"/>
            <a:t>Key Labels (Outcomes)</a:t>
          </a:r>
          <a:r>
            <a:rPr lang="en-SG" sz="1400" b="1" baseline="30000" dirty="0"/>
            <a:t>1</a:t>
          </a:r>
          <a:r>
            <a:rPr lang="en-SG" sz="1400" b="1" dirty="0"/>
            <a:t>: </a:t>
          </a:r>
          <a:r>
            <a:rPr lang="en-SG" sz="1400" dirty="0"/>
            <a:t>`conversion`, `spend`</a:t>
          </a:r>
          <a:endParaRPr lang="en-SG" sz="1400" b="1" dirty="0"/>
        </a:p>
      </dgm:t>
    </dgm:pt>
    <dgm:pt modelId="{D92E4BDC-EAAA-4679-B03E-85BBCB9ACE00}" type="parTrans" cxnId="{AFA57352-891E-4502-9D8E-CC6531BE3317}">
      <dgm:prSet/>
      <dgm:spPr/>
      <dgm:t>
        <a:bodyPr/>
        <a:lstStyle/>
        <a:p>
          <a:endParaRPr lang="en-SG"/>
        </a:p>
      </dgm:t>
    </dgm:pt>
    <dgm:pt modelId="{235BBF72-05A4-4109-8D06-6BF263499158}" type="sibTrans" cxnId="{AFA57352-891E-4502-9D8E-CC6531BE3317}">
      <dgm:prSet/>
      <dgm:spPr/>
      <dgm:t>
        <a:bodyPr/>
        <a:lstStyle/>
        <a:p>
          <a:endParaRPr lang="en-SG"/>
        </a:p>
      </dgm:t>
    </dgm:pt>
    <dgm:pt modelId="{1FB1A2B8-C22D-4AEE-B591-1AE9274D9069}">
      <dgm:prSet custT="1"/>
      <dgm:spPr/>
      <dgm:t>
        <a:bodyPr/>
        <a:lstStyle/>
        <a:p>
          <a:pPr marL="0" indent="0" algn="just">
            <a:lnSpc>
              <a:spcPct val="100000"/>
            </a:lnSpc>
            <a:buFont typeface="Wingdings" panose="05000000000000000000" pitchFamily="2" charset="2"/>
            <a:buNone/>
          </a:pPr>
          <a:r>
            <a:rPr lang="en-SG" sz="1400" b="1" dirty="0"/>
            <a:t>Key Features (Customer attributes)</a:t>
          </a:r>
          <a:r>
            <a:rPr lang="en-SG" sz="1400" b="1" baseline="30000" dirty="0"/>
            <a:t>1</a:t>
          </a:r>
          <a:r>
            <a:rPr lang="en-SG" sz="1400" b="1" dirty="0"/>
            <a:t>: </a:t>
          </a:r>
          <a:r>
            <a:rPr lang="en-SG" sz="1400" dirty="0"/>
            <a:t>`history`</a:t>
          </a:r>
          <a:endParaRPr lang="en-SG" sz="1400" b="1" dirty="0"/>
        </a:p>
      </dgm:t>
    </dgm:pt>
    <dgm:pt modelId="{40BACDC4-DE5A-4264-9DF7-E1A4FF1345E6}" type="parTrans" cxnId="{DC99D9F6-B50A-455D-BD7A-440FF6A265BB}">
      <dgm:prSet/>
      <dgm:spPr/>
      <dgm:t>
        <a:bodyPr/>
        <a:lstStyle/>
        <a:p>
          <a:endParaRPr lang="en-SG"/>
        </a:p>
      </dgm:t>
    </dgm:pt>
    <dgm:pt modelId="{EB6F3C79-8233-4DF9-92DE-0C2C6463527F}" type="sibTrans" cxnId="{DC99D9F6-B50A-455D-BD7A-440FF6A265BB}">
      <dgm:prSet/>
      <dgm:spPr/>
      <dgm:t>
        <a:bodyPr/>
        <a:lstStyle/>
        <a:p>
          <a:endParaRPr lang="en-SG"/>
        </a:p>
      </dgm:t>
    </dgm:pt>
    <dgm:pt modelId="{1F5953A4-8D20-4CBF-A628-02A119B12C67}">
      <dgm:prSet custT="1"/>
      <dgm:spPr/>
      <dgm:t>
        <a:bodyPr/>
        <a:lstStyle/>
        <a:p>
          <a:pPr marL="0" indent="0" algn="just">
            <a:lnSpc>
              <a:spcPct val="100000"/>
            </a:lnSpc>
            <a:buFont typeface="Wingdings" panose="05000000000000000000" pitchFamily="2" charset="2"/>
            <a:buChar char="Ø"/>
          </a:pPr>
          <a:r>
            <a:rPr lang="en-SG" sz="1400" b="0" dirty="0"/>
            <a:t> </a:t>
          </a:r>
          <a:r>
            <a:rPr lang="en-SG" sz="1400" b="1" dirty="0"/>
            <a:t>Randomized experiment – 3 equal groups </a:t>
          </a:r>
          <a:r>
            <a:rPr lang="en-SG" sz="1400" b="0" dirty="0"/>
            <a:t>(Men / Women / No Email)</a:t>
          </a:r>
        </a:p>
      </dgm:t>
    </dgm:pt>
    <dgm:pt modelId="{A2D56977-5861-40AA-94EE-831B917E790E}" type="parTrans" cxnId="{232C81AC-9256-4159-9C5E-AE83E168F2FD}">
      <dgm:prSet/>
      <dgm:spPr/>
      <dgm:t>
        <a:bodyPr/>
        <a:lstStyle/>
        <a:p>
          <a:endParaRPr lang="en-SG"/>
        </a:p>
      </dgm:t>
    </dgm:pt>
    <dgm:pt modelId="{C8B20BD9-09C9-49A3-8959-846EF3FEF4A8}" type="sibTrans" cxnId="{232C81AC-9256-4159-9C5E-AE83E168F2FD}">
      <dgm:prSet/>
      <dgm:spPr/>
      <dgm:t>
        <a:bodyPr/>
        <a:lstStyle/>
        <a:p>
          <a:endParaRPr lang="en-SG"/>
        </a:p>
      </dgm:t>
    </dgm:pt>
    <dgm:pt modelId="{B139511B-1795-4EED-A620-84970C3DFBE4}">
      <dgm:prSet custT="1"/>
      <dgm:spPr/>
      <dgm:t>
        <a:bodyPr/>
        <a:lstStyle/>
        <a:p>
          <a:pPr marL="0" indent="0" algn="just">
            <a:lnSpc>
              <a:spcPct val="100000"/>
            </a:lnSpc>
            <a:buFont typeface="Wingdings" panose="05000000000000000000" pitchFamily="2" charset="2"/>
            <a:buChar char="Ø"/>
          </a:pPr>
          <a:r>
            <a:rPr lang="en-SG" sz="1400" dirty="0"/>
            <a:t> 64k customers </a:t>
          </a:r>
          <a:r>
            <a:rPr lang="en-SG" sz="1400" b="1" dirty="0"/>
            <a:t>(last purchased within 12 months)</a:t>
          </a:r>
        </a:p>
      </dgm:t>
    </dgm:pt>
    <dgm:pt modelId="{2973ABB7-7AEF-48E8-8E84-5AE7C580B4AC}" type="parTrans" cxnId="{23333F53-EC84-4C4E-AAA1-41F4F5369A5C}">
      <dgm:prSet/>
      <dgm:spPr/>
      <dgm:t>
        <a:bodyPr/>
        <a:lstStyle/>
        <a:p>
          <a:endParaRPr lang="en-SG"/>
        </a:p>
      </dgm:t>
    </dgm:pt>
    <dgm:pt modelId="{520F3483-0401-428F-84B0-9F5E40141153}" type="sibTrans" cxnId="{23333F53-EC84-4C4E-AAA1-41F4F5369A5C}">
      <dgm:prSet/>
      <dgm:spPr/>
      <dgm:t>
        <a:bodyPr/>
        <a:lstStyle/>
        <a:p>
          <a:endParaRPr lang="en-SG"/>
        </a:p>
      </dgm:t>
    </dgm:pt>
    <dgm:pt modelId="{72137ACB-4F34-4B44-9158-315A8456E3AE}">
      <dgm:prSet custT="1"/>
      <dgm:spPr/>
      <dgm:t>
        <a:bodyPr/>
        <a:lstStyle/>
        <a:p>
          <a:pPr marL="0" indent="0" algn="just">
            <a:lnSpc>
              <a:spcPct val="100000"/>
            </a:lnSpc>
            <a:buFont typeface="Wingdings" panose="05000000000000000000" pitchFamily="2" charset="2"/>
            <a:buNone/>
          </a:pPr>
          <a:endParaRPr lang="en-SG" sz="1400" b="1" dirty="0"/>
        </a:p>
      </dgm:t>
    </dgm:pt>
    <dgm:pt modelId="{571E78C6-4349-41D6-A4CA-E7780E1ED6BC}" type="parTrans" cxnId="{0D046282-AC2F-4A56-9317-0BA5B13DB60C}">
      <dgm:prSet/>
      <dgm:spPr/>
      <dgm:t>
        <a:bodyPr/>
        <a:lstStyle/>
        <a:p>
          <a:endParaRPr lang="en-SG"/>
        </a:p>
      </dgm:t>
    </dgm:pt>
    <dgm:pt modelId="{A222F679-FE92-475A-B04E-B447D00DB125}" type="sibTrans" cxnId="{0D046282-AC2F-4A56-9317-0BA5B13DB60C}">
      <dgm:prSet/>
      <dgm:spPr/>
      <dgm:t>
        <a:bodyPr/>
        <a:lstStyle/>
        <a:p>
          <a:endParaRPr lang="en-SG"/>
        </a:p>
      </dgm:t>
    </dgm:pt>
    <dgm:pt modelId="{A62B43BA-9B61-48F8-931B-B9B7BF422C71}">
      <dgm:prSet custT="1"/>
      <dgm:spPr/>
      <dgm:t>
        <a:bodyPr/>
        <a:lstStyle/>
        <a:p>
          <a:pPr marL="0" indent="0" algn="just">
            <a:lnSpc>
              <a:spcPct val="100000"/>
            </a:lnSpc>
            <a:buFont typeface="Wingdings" panose="05000000000000000000" pitchFamily="2" charset="2"/>
            <a:buChar char="Ø"/>
          </a:pPr>
          <a:r>
            <a:rPr lang="en-SG" sz="1400" b="0" dirty="0"/>
            <a:t> </a:t>
          </a:r>
          <a:r>
            <a:rPr lang="en-SG" sz="1400" dirty="0"/>
            <a:t>suitable </a:t>
          </a:r>
          <a:r>
            <a:rPr lang="en-SG" sz="1400" b="1" dirty="0"/>
            <a:t>for causal (incremental) lift measurement</a:t>
          </a:r>
        </a:p>
      </dgm:t>
    </dgm:pt>
    <dgm:pt modelId="{A5EA1282-B3C3-48A6-B938-74038C93EC44}" type="parTrans" cxnId="{E78D4C2A-E52E-4C37-B7D6-D40ADAD667B6}">
      <dgm:prSet/>
      <dgm:spPr/>
      <dgm:t>
        <a:bodyPr/>
        <a:lstStyle/>
        <a:p>
          <a:endParaRPr lang="en-SG"/>
        </a:p>
      </dgm:t>
    </dgm:pt>
    <dgm:pt modelId="{586E5FFF-FB4A-48CF-B10D-BD0827E2C55B}" type="sibTrans" cxnId="{E78D4C2A-E52E-4C37-B7D6-D40ADAD667B6}">
      <dgm:prSet/>
      <dgm:spPr/>
      <dgm:t>
        <a:bodyPr/>
        <a:lstStyle/>
        <a:p>
          <a:endParaRPr lang="en-SG"/>
        </a:p>
      </dgm:t>
    </dgm:pt>
    <dgm:pt modelId="{B456B74B-7003-41F7-9087-22A9D2905CE5}">
      <dgm:prSet custT="1"/>
      <dgm:spPr/>
      <dgm:t>
        <a:bodyPr/>
        <a:lstStyle/>
        <a:p>
          <a:pPr marL="0" indent="0" algn="just">
            <a:lnSpc>
              <a:spcPct val="100000"/>
            </a:lnSpc>
            <a:buFont typeface="Wingdings" panose="05000000000000000000" pitchFamily="2" charset="2"/>
            <a:buNone/>
          </a:pPr>
          <a:endParaRPr lang="en-SG" sz="1400" b="0" dirty="0"/>
        </a:p>
      </dgm:t>
    </dgm:pt>
    <dgm:pt modelId="{105CD4AA-F912-4099-A451-58B09324BBF1}" type="parTrans" cxnId="{AEED8EEE-9811-403D-8140-B9070650D0EA}">
      <dgm:prSet/>
      <dgm:spPr/>
      <dgm:t>
        <a:bodyPr/>
        <a:lstStyle/>
        <a:p>
          <a:endParaRPr lang="en-SG"/>
        </a:p>
      </dgm:t>
    </dgm:pt>
    <dgm:pt modelId="{778F7B3F-8883-4AEF-80EB-37DA37958800}" type="sibTrans" cxnId="{AEED8EEE-9811-403D-8140-B9070650D0EA}">
      <dgm:prSet/>
      <dgm:spPr/>
      <dgm:t>
        <a:bodyPr/>
        <a:lstStyle/>
        <a:p>
          <a:endParaRPr lang="en-SG"/>
        </a:p>
      </dgm:t>
    </dgm:pt>
    <dgm:pt modelId="{D7900FB2-0646-4930-9A55-37F0F45BAAB3}">
      <dgm:prSet custT="1"/>
      <dgm:spPr/>
      <dgm:t>
        <a:bodyPr/>
        <a:lstStyle/>
        <a:p>
          <a:pPr algn="just">
            <a:lnSpc>
              <a:spcPct val="100000"/>
            </a:lnSpc>
            <a:buFont typeface="Wingdings" panose="05000000000000000000" pitchFamily="2" charset="2"/>
            <a:buChar char="Ø"/>
          </a:pPr>
          <a:endParaRPr lang="en-SG" sz="1400" b="1" dirty="0"/>
        </a:p>
      </dgm:t>
    </dgm:pt>
    <dgm:pt modelId="{92461E5B-C3C8-4ACA-89E3-474B096580CA}" type="parTrans" cxnId="{4694655A-C26F-4D12-A736-C1A15E723D2D}">
      <dgm:prSet/>
      <dgm:spPr/>
      <dgm:t>
        <a:bodyPr/>
        <a:lstStyle/>
        <a:p>
          <a:endParaRPr lang="en-SG"/>
        </a:p>
      </dgm:t>
    </dgm:pt>
    <dgm:pt modelId="{26F64ADE-993E-4F88-9716-D53FD0A1DC5A}" type="sibTrans" cxnId="{4694655A-C26F-4D12-A736-C1A15E723D2D}">
      <dgm:prSet/>
      <dgm:spPr/>
      <dgm:t>
        <a:bodyPr/>
        <a:lstStyle/>
        <a:p>
          <a:endParaRPr lang="en-SG"/>
        </a:p>
      </dgm:t>
    </dgm:pt>
    <dgm:pt modelId="{01BC8C3D-0076-4497-93ED-213D72BECA65}" type="pres">
      <dgm:prSet presAssocID="{C0DF5EA1-9C95-4948-8257-635541060A77}" presName="linear" presStyleCnt="0">
        <dgm:presLayoutVars>
          <dgm:dir/>
          <dgm:animLvl val="lvl"/>
          <dgm:resizeHandles val="exact"/>
        </dgm:presLayoutVars>
      </dgm:prSet>
      <dgm:spPr/>
    </dgm:pt>
    <dgm:pt modelId="{3914EF41-F7E6-45B1-B7F6-37C5E3A508AC}" type="pres">
      <dgm:prSet presAssocID="{3E9A84A9-1CBC-4562-8932-8C655F0CEFED}" presName="parentLin" presStyleCnt="0"/>
      <dgm:spPr/>
    </dgm:pt>
    <dgm:pt modelId="{ADFD197E-A1D8-45AC-924D-D8D5B3B644A1}" type="pres">
      <dgm:prSet presAssocID="{3E9A84A9-1CBC-4562-8932-8C655F0CEFED}" presName="parentLeftMargin" presStyleLbl="node1" presStyleIdx="0" presStyleCnt="2"/>
      <dgm:spPr/>
    </dgm:pt>
    <dgm:pt modelId="{2A2B5F5A-0955-4A24-AE6C-AAF8FDC2D0E9}" type="pres">
      <dgm:prSet presAssocID="{3E9A84A9-1CBC-4562-8932-8C655F0CEFED}" presName="parentText" presStyleLbl="node1" presStyleIdx="0" presStyleCnt="2">
        <dgm:presLayoutVars>
          <dgm:chMax val="0"/>
          <dgm:bulletEnabled val="1"/>
        </dgm:presLayoutVars>
      </dgm:prSet>
      <dgm:spPr/>
    </dgm:pt>
    <dgm:pt modelId="{03B7DF4F-CB2B-4D7B-9DD7-8545D526EF18}" type="pres">
      <dgm:prSet presAssocID="{3E9A84A9-1CBC-4562-8932-8C655F0CEFED}" presName="negativeSpace" presStyleCnt="0"/>
      <dgm:spPr/>
    </dgm:pt>
    <dgm:pt modelId="{56F85C35-F699-4640-B952-1E19D48E42FC}" type="pres">
      <dgm:prSet presAssocID="{3E9A84A9-1CBC-4562-8932-8C655F0CEFED}" presName="childText" presStyleLbl="conFgAcc1" presStyleIdx="0" presStyleCnt="2" custScaleX="100000">
        <dgm:presLayoutVars>
          <dgm:bulletEnabled val="1"/>
        </dgm:presLayoutVars>
      </dgm:prSet>
      <dgm:spPr/>
    </dgm:pt>
    <dgm:pt modelId="{E68DED93-93BB-419F-9F11-32FC9FC6D2D1}" type="pres">
      <dgm:prSet presAssocID="{E3F3D327-810F-421E-B66D-AEE975450AC7}" presName="spaceBetweenRectangles" presStyleCnt="0"/>
      <dgm:spPr/>
    </dgm:pt>
    <dgm:pt modelId="{08C5B6C3-9CB8-48FB-B35C-096031EEA500}" type="pres">
      <dgm:prSet presAssocID="{F62C5B83-8744-448E-870F-1BEACC356026}" presName="parentLin" presStyleCnt="0"/>
      <dgm:spPr/>
    </dgm:pt>
    <dgm:pt modelId="{ECD152D7-887A-46FE-B022-DFCD329C8F4F}" type="pres">
      <dgm:prSet presAssocID="{F62C5B83-8744-448E-870F-1BEACC356026}" presName="parentLeftMargin" presStyleLbl="node1" presStyleIdx="0" presStyleCnt="2"/>
      <dgm:spPr/>
    </dgm:pt>
    <dgm:pt modelId="{6657E7CD-1802-4279-A7A5-C928EBC98B73}" type="pres">
      <dgm:prSet presAssocID="{F62C5B83-8744-448E-870F-1BEACC356026}" presName="parentText" presStyleLbl="node1" presStyleIdx="1" presStyleCnt="2">
        <dgm:presLayoutVars>
          <dgm:chMax val="0"/>
          <dgm:bulletEnabled val="1"/>
        </dgm:presLayoutVars>
      </dgm:prSet>
      <dgm:spPr/>
    </dgm:pt>
    <dgm:pt modelId="{A59A1D68-2A70-4AAD-8112-CA18C48E1F3C}" type="pres">
      <dgm:prSet presAssocID="{F62C5B83-8744-448E-870F-1BEACC356026}" presName="negativeSpace" presStyleCnt="0"/>
      <dgm:spPr/>
    </dgm:pt>
    <dgm:pt modelId="{F9660ED3-7E34-4DC3-9E46-435268952735}" type="pres">
      <dgm:prSet presAssocID="{F62C5B83-8744-448E-870F-1BEACC356026}" presName="childText" presStyleLbl="conFgAcc1" presStyleIdx="1" presStyleCnt="2">
        <dgm:presLayoutVars>
          <dgm:bulletEnabled val="1"/>
        </dgm:presLayoutVars>
      </dgm:prSet>
      <dgm:spPr/>
    </dgm:pt>
  </dgm:ptLst>
  <dgm:cxnLst>
    <dgm:cxn modelId="{B223B201-A224-4499-80EC-07B0BA1BC5E8}" srcId="{3E9A84A9-1CBC-4562-8932-8C655F0CEFED}" destId="{5AC010DA-E63C-4F94-BF57-5EFA05D75A1E}" srcOrd="3" destOrd="0" parTransId="{F4873F09-DC9F-4B55-A13C-3D46E3A9534C}" sibTransId="{ED5134B4-9DBA-409C-BE46-317E9405A5B5}"/>
    <dgm:cxn modelId="{92A3A308-5E13-45D3-903C-6075A92C288D}" type="presOf" srcId="{A151283C-11D4-40E1-9943-F008BD9CCFED}" destId="{56F85C35-F699-4640-B952-1E19D48E42FC}" srcOrd="0" destOrd="1" presId="urn:microsoft.com/office/officeart/2005/8/layout/list1"/>
    <dgm:cxn modelId="{43A75014-A62B-49FC-B362-B15EBEC105E9}" type="presOf" srcId="{28F48650-713F-4BC0-98CB-6FD1593B3FDC}" destId="{56F85C35-F699-4640-B952-1E19D48E42FC}" srcOrd="0" destOrd="0" presId="urn:microsoft.com/office/officeart/2005/8/layout/list1"/>
    <dgm:cxn modelId="{530D6C20-88AE-41B6-A08A-92DADFF852B5}" type="presOf" srcId="{F62C5B83-8744-448E-870F-1BEACC356026}" destId="{6657E7CD-1802-4279-A7A5-C928EBC98B73}" srcOrd="1" destOrd="0" presId="urn:microsoft.com/office/officeart/2005/8/layout/list1"/>
    <dgm:cxn modelId="{E78D4C2A-E52E-4C37-B7D6-D40ADAD667B6}" srcId="{F62C5B83-8744-448E-870F-1BEACC356026}" destId="{A62B43BA-9B61-48F8-931B-B9B7BF422C71}" srcOrd="5" destOrd="0" parTransId="{A5EA1282-B3C3-48A6-B938-74038C93EC44}" sibTransId="{586E5FFF-FB4A-48CF-B10D-BD0827E2C55B}"/>
    <dgm:cxn modelId="{63B7F82D-9720-441E-9B78-6A1FE7376E51}" srcId="{C0DF5EA1-9C95-4948-8257-635541060A77}" destId="{F62C5B83-8744-448E-870F-1BEACC356026}" srcOrd="1" destOrd="0" parTransId="{DAB04CEB-F490-4F85-B59B-8334F8A9991B}" sibTransId="{C2321657-03E4-4FAA-A7F7-210D6E89B876}"/>
    <dgm:cxn modelId="{A48D412E-437C-4FEA-9350-871167D90E67}" srcId="{3E9A84A9-1CBC-4562-8932-8C655F0CEFED}" destId="{28F48650-713F-4BC0-98CB-6FD1593B3FDC}" srcOrd="0" destOrd="0" parTransId="{F5CCBCD0-02B7-4928-97F4-EB50F75615E4}" sibTransId="{4A23CC98-F3D7-4768-BAA6-B4DAEEFE82F0}"/>
    <dgm:cxn modelId="{92B2723F-B89C-4B61-8575-779CD4A33306}" type="presOf" srcId="{3E9A84A9-1CBC-4562-8932-8C655F0CEFED}" destId="{2A2B5F5A-0955-4A24-AE6C-AAF8FDC2D0E9}" srcOrd="1" destOrd="0" presId="urn:microsoft.com/office/officeart/2005/8/layout/list1"/>
    <dgm:cxn modelId="{C70FB563-F7A0-47F8-A207-9831CBE5B0B0}" type="presOf" srcId="{DDC08B9B-A226-466C-B3D5-F83EDB3B8D0D}" destId="{F9660ED3-7E34-4DC3-9E46-435268952735}" srcOrd="0" destOrd="7" presId="urn:microsoft.com/office/officeart/2005/8/layout/list1"/>
    <dgm:cxn modelId="{C6DD2A4E-94C8-4905-8200-1E0B08402A49}" type="presOf" srcId="{F62C5B83-8744-448E-870F-1BEACC356026}" destId="{ECD152D7-887A-46FE-B022-DFCD329C8F4F}" srcOrd="0" destOrd="0" presId="urn:microsoft.com/office/officeart/2005/8/layout/list1"/>
    <dgm:cxn modelId="{AFA57352-891E-4502-9D8E-CC6531BE3317}" srcId="{F62C5B83-8744-448E-870F-1BEACC356026}" destId="{DDC08B9B-A226-466C-B3D5-F83EDB3B8D0D}" srcOrd="7" destOrd="0" parTransId="{D92E4BDC-EAAA-4679-B03E-85BBCB9ACE00}" sibTransId="{235BBF72-05A4-4109-8D06-6BF263499158}"/>
    <dgm:cxn modelId="{23333F53-EC84-4C4E-AAA1-41F4F5369A5C}" srcId="{F62C5B83-8744-448E-870F-1BEACC356026}" destId="{B139511B-1795-4EED-A620-84970C3DFBE4}" srcOrd="4" destOrd="0" parTransId="{2973ABB7-7AEF-48E8-8E84-5AE7C580B4AC}" sibTransId="{520F3483-0401-428F-84B0-9F5E40141153}"/>
    <dgm:cxn modelId="{ADCD9374-55B2-49D8-AEB0-C2B15F1FA6ED}" type="presOf" srcId="{3E9A84A9-1CBC-4562-8932-8C655F0CEFED}" destId="{ADFD197E-A1D8-45AC-924D-D8D5B3B644A1}" srcOrd="0" destOrd="0" presId="urn:microsoft.com/office/officeart/2005/8/layout/list1"/>
    <dgm:cxn modelId="{57258979-91C9-42AA-9ED0-393269CE0EF6}" type="presOf" srcId="{C0DF5EA1-9C95-4948-8257-635541060A77}" destId="{01BC8C3D-0076-4497-93ED-213D72BECA65}" srcOrd="0" destOrd="0" presId="urn:microsoft.com/office/officeart/2005/8/layout/list1"/>
    <dgm:cxn modelId="{67DFE259-46D6-4F66-9E43-2048EA475582}" type="presOf" srcId="{72137ACB-4F34-4B44-9158-315A8456E3AE}" destId="{F9660ED3-7E34-4DC3-9E46-435268952735}" srcOrd="0" destOrd="1" presId="urn:microsoft.com/office/officeart/2005/8/layout/list1"/>
    <dgm:cxn modelId="{4694655A-C26F-4D12-A736-C1A15E723D2D}" srcId="{3E9A84A9-1CBC-4562-8932-8C655F0CEFED}" destId="{D7900FB2-0646-4930-9A55-37F0F45BAAB3}" srcOrd="2" destOrd="0" parTransId="{92461E5B-C3C8-4ACA-89E3-474B096580CA}" sibTransId="{26F64ADE-993E-4F88-9716-D53FD0A1DC5A}"/>
    <dgm:cxn modelId="{0D046282-AC2F-4A56-9317-0BA5B13DB60C}" srcId="{F62C5B83-8744-448E-870F-1BEACC356026}" destId="{72137ACB-4F34-4B44-9158-315A8456E3AE}" srcOrd="1" destOrd="0" parTransId="{571E78C6-4349-41D6-A4CA-E7780E1ED6BC}" sibTransId="{A222F679-FE92-475A-B04E-B447D00DB125}"/>
    <dgm:cxn modelId="{66D28683-8AFB-4C6E-8964-4E2FF65E5AE4}" srcId="{3E9A84A9-1CBC-4562-8932-8C655F0CEFED}" destId="{A151283C-11D4-40E1-9943-F008BD9CCFED}" srcOrd="1" destOrd="0" parTransId="{A15DB541-C8A1-4B7D-9EE7-369C1C050020}" sibTransId="{170BB129-4DC3-42AC-848C-BE867DE2EE20}"/>
    <dgm:cxn modelId="{056E5E87-0E9C-4CF0-BE2B-523D732B1C6D}" type="presOf" srcId="{B456B74B-7003-41F7-9087-22A9D2905CE5}" destId="{F9660ED3-7E34-4DC3-9E46-435268952735}" srcOrd="0" destOrd="6" presId="urn:microsoft.com/office/officeart/2005/8/layout/list1"/>
    <dgm:cxn modelId="{8459CC8B-66E7-4A62-A1AC-26537063FF0A}" type="presOf" srcId="{1F5953A4-8D20-4CBF-A628-02A119B12C67}" destId="{F9660ED3-7E34-4DC3-9E46-435268952735}" srcOrd="0" destOrd="3" presId="urn:microsoft.com/office/officeart/2005/8/layout/list1"/>
    <dgm:cxn modelId="{6F03148D-F627-4E32-B570-9BA1DB7702FB}" type="presOf" srcId="{1FB1A2B8-C22D-4AEE-B591-1AE9274D9069}" destId="{F9660ED3-7E34-4DC3-9E46-435268952735}" srcOrd="0" destOrd="8" presId="urn:microsoft.com/office/officeart/2005/8/layout/list1"/>
    <dgm:cxn modelId="{9D561F9B-D40F-4B87-809C-E189016E725E}" srcId="{C0DF5EA1-9C95-4948-8257-635541060A77}" destId="{3E9A84A9-1CBC-4562-8932-8C655F0CEFED}" srcOrd="0" destOrd="0" parTransId="{0FDB69EE-E01A-4CEC-9E4A-53D0037E25AF}" sibTransId="{E3F3D327-810F-421E-B66D-AEE975450AC7}"/>
    <dgm:cxn modelId="{9FA140A2-A3E4-4F22-BB66-1709C2E86782}" type="presOf" srcId="{B139511B-1795-4EED-A620-84970C3DFBE4}" destId="{F9660ED3-7E34-4DC3-9E46-435268952735}" srcOrd="0" destOrd="4" presId="urn:microsoft.com/office/officeart/2005/8/layout/list1"/>
    <dgm:cxn modelId="{232C81AC-9256-4159-9C5E-AE83E168F2FD}" srcId="{F62C5B83-8744-448E-870F-1BEACC356026}" destId="{1F5953A4-8D20-4CBF-A628-02A119B12C67}" srcOrd="3" destOrd="0" parTransId="{A2D56977-5861-40AA-94EE-831B917E790E}" sibTransId="{C8B20BD9-09C9-49A3-8959-846EF3FEF4A8}"/>
    <dgm:cxn modelId="{2D3A7AB2-965E-4CE1-88C9-756EEA557729}" type="presOf" srcId="{D7900FB2-0646-4930-9A55-37F0F45BAAB3}" destId="{56F85C35-F699-4640-B952-1E19D48E42FC}" srcOrd="0" destOrd="2" presId="urn:microsoft.com/office/officeart/2005/8/layout/list1"/>
    <dgm:cxn modelId="{D53F11B8-B880-4539-8042-C96EAE09265C}" type="presOf" srcId="{F0206589-8334-4A7A-9654-7DB8721BDFE3}" destId="{F9660ED3-7E34-4DC3-9E46-435268952735}" srcOrd="0" destOrd="2" presId="urn:microsoft.com/office/officeart/2005/8/layout/list1"/>
    <dgm:cxn modelId="{585DDBCC-D567-44F0-9BE9-393155287E92}" type="presOf" srcId="{5AC010DA-E63C-4F94-BF57-5EFA05D75A1E}" destId="{56F85C35-F699-4640-B952-1E19D48E42FC}" srcOrd="0" destOrd="3" presId="urn:microsoft.com/office/officeart/2005/8/layout/list1"/>
    <dgm:cxn modelId="{D7E890D1-C2AD-41E3-93D9-BC6E1527B5CE}" type="presOf" srcId="{D424CF1B-7C78-4945-BDD7-E067B7FF6E74}" destId="{56F85C35-F699-4640-B952-1E19D48E42FC}" srcOrd="0" destOrd="4" presId="urn:microsoft.com/office/officeart/2005/8/layout/list1"/>
    <dgm:cxn modelId="{0344BDD4-7E93-493A-9567-170E488D542C}" type="presOf" srcId="{0AFE6E16-C7FF-4092-A00C-A625B08B4320}" destId="{F9660ED3-7E34-4DC3-9E46-435268952735}" srcOrd="0" destOrd="0" presId="urn:microsoft.com/office/officeart/2005/8/layout/list1"/>
    <dgm:cxn modelId="{ADB5A0EA-D9F6-4904-BF9F-02FA1358702B}" srcId="{F62C5B83-8744-448E-870F-1BEACC356026}" destId="{0AFE6E16-C7FF-4092-A00C-A625B08B4320}" srcOrd="0" destOrd="0" parTransId="{9262EC9E-A759-4E5C-B11D-0D39E34F0300}" sibTransId="{BF0CDB86-DF00-42EA-95B5-6AD3ED665C59}"/>
    <dgm:cxn modelId="{2BC373EB-A2CA-4945-BA4E-CB89B72EB625}" srcId="{3E9A84A9-1CBC-4562-8932-8C655F0CEFED}" destId="{D424CF1B-7C78-4945-BDD7-E067B7FF6E74}" srcOrd="4" destOrd="0" parTransId="{99249FC0-3B5A-433D-8552-5DF742146454}" sibTransId="{AAD72B86-17C1-4578-A8C0-93BABA7340CB}"/>
    <dgm:cxn modelId="{33E20AED-8307-4D4E-A2C1-296900BF3EE8}" srcId="{F62C5B83-8744-448E-870F-1BEACC356026}" destId="{F0206589-8334-4A7A-9654-7DB8721BDFE3}" srcOrd="2" destOrd="0" parTransId="{5EF5F00F-3D0C-4E11-A30A-CF4B42B3EAC6}" sibTransId="{3A02485C-6B0D-4904-813D-B44E8EFA6EA1}"/>
    <dgm:cxn modelId="{AEED8EEE-9811-403D-8140-B9070650D0EA}" srcId="{F62C5B83-8744-448E-870F-1BEACC356026}" destId="{B456B74B-7003-41F7-9087-22A9D2905CE5}" srcOrd="6" destOrd="0" parTransId="{105CD4AA-F912-4099-A451-58B09324BBF1}" sibTransId="{778F7B3F-8883-4AEF-80EB-37DA37958800}"/>
    <dgm:cxn modelId="{621E24F2-EACD-4BA6-BBD7-734F12D4AC6F}" type="presOf" srcId="{A62B43BA-9B61-48F8-931B-B9B7BF422C71}" destId="{F9660ED3-7E34-4DC3-9E46-435268952735}" srcOrd="0" destOrd="5" presId="urn:microsoft.com/office/officeart/2005/8/layout/list1"/>
    <dgm:cxn modelId="{DC99D9F6-B50A-455D-BD7A-440FF6A265BB}" srcId="{F62C5B83-8744-448E-870F-1BEACC356026}" destId="{1FB1A2B8-C22D-4AEE-B591-1AE9274D9069}" srcOrd="8" destOrd="0" parTransId="{40BACDC4-DE5A-4264-9DF7-E1A4FF1345E6}" sibTransId="{EB6F3C79-8233-4DF9-92DE-0C2C6463527F}"/>
    <dgm:cxn modelId="{4E6C3C37-4F78-4559-9A88-3EB39DB0E761}" type="presParOf" srcId="{01BC8C3D-0076-4497-93ED-213D72BECA65}" destId="{3914EF41-F7E6-45B1-B7F6-37C5E3A508AC}" srcOrd="0" destOrd="0" presId="urn:microsoft.com/office/officeart/2005/8/layout/list1"/>
    <dgm:cxn modelId="{A734F6D0-112D-4202-8074-4CC5EBB452D6}" type="presParOf" srcId="{3914EF41-F7E6-45B1-B7F6-37C5E3A508AC}" destId="{ADFD197E-A1D8-45AC-924D-D8D5B3B644A1}" srcOrd="0" destOrd="0" presId="urn:microsoft.com/office/officeart/2005/8/layout/list1"/>
    <dgm:cxn modelId="{E63E397D-4EC1-4021-AA91-281C85F2C0CE}" type="presParOf" srcId="{3914EF41-F7E6-45B1-B7F6-37C5E3A508AC}" destId="{2A2B5F5A-0955-4A24-AE6C-AAF8FDC2D0E9}" srcOrd="1" destOrd="0" presId="urn:microsoft.com/office/officeart/2005/8/layout/list1"/>
    <dgm:cxn modelId="{B16BB994-B4B6-4713-8D91-C3805C5263E0}" type="presParOf" srcId="{01BC8C3D-0076-4497-93ED-213D72BECA65}" destId="{03B7DF4F-CB2B-4D7B-9DD7-8545D526EF18}" srcOrd="1" destOrd="0" presId="urn:microsoft.com/office/officeart/2005/8/layout/list1"/>
    <dgm:cxn modelId="{2DF5909C-3A7E-4C86-BDAF-9CA06B659A82}" type="presParOf" srcId="{01BC8C3D-0076-4497-93ED-213D72BECA65}" destId="{56F85C35-F699-4640-B952-1E19D48E42FC}" srcOrd="2" destOrd="0" presId="urn:microsoft.com/office/officeart/2005/8/layout/list1"/>
    <dgm:cxn modelId="{1CA297D2-FCF0-4BF9-B367-FD211FAB5159}" type="presParOf" srcId="{01BC8C3D-0076-4497-93ED-213D72BECA65}" destId="{E68DED93-93BB-419F-9F11-32FC9FC6D2D1}" srcOrd="3" destOrd="0" presId="urn:microsoft.com/office/officeart/2005/8/layout/list1"/>
    <dgm:cxn modelId="{9FA895E6-FCD9-46BF-9234-70712181CB69}" type="presParOf" srcId="{01BC8C3D-0076-4497-93ED-213D72BECA65}" destId="{08C5B6C3-9CB8-48FB-B35C-096031EEA500}" srcOrd="4" destOrd="0" presId="urn:microsoft.com/office/officeart/2005/8/layout/list1"/>
    <dgm:cxn modelId="{986B1745-D275-4F61-8B07-517F910AE649}" type="presParOf" srcId="{08C5B6C3-9CB8-48FB-B35C-096031EEA500}" destId="{ECD152D7-887A-46FE-B022-DFCD329C8F4F}" srcOrd="0" destOrd="0" presId="urn:microsoft.com/office/officeart/2005/8/layout/list1"/>
    <dgm:cxn modelId="{DCB9D30C-C125-4678-B3AB-253389EC98D4}" type="presParOf" srcId="{08C5B6C3-9CB8-48FB-B35C-096031EEA500}" destId="{6657E7CD-1802-4279-A7A5-C928EBC98B73}" srcOrd="1" destOrd="0" presId="urn:microsoft.com/office/officeart/2005/8/layout/list1"/>
    <dgm:cxn modelId="{898B59D0-14F7-4CF8-987A-70AADE689E55}" type="presParOf" srcId="{01BC8C3D-0076-4497-93ED-213D72BECA65}" destId="{A59A1D68-2A70-4AAD-8112-CA18C48E1F3C}" srcOrd="5" destOrd="0" presId="urn:microsoft.com/office/officeart/2005/8/layout/list1"/>
    <dgm:cxn modelId="{A1E2A2BE-4C48-4B46-B6A4-9D3651125038}" type="presParOf" srcId="{01BC8C3D-0076-4497-93ED-213D72BECA65}" destId="{F9660ED3-7E34-4DC3-9E46-435268952735}" srcOrd="6" destOrd="0" presId="urn:microsoft.com/office/officeart/2005/8/layout/list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40117063-61AF-476E-ABAA-EECF7F106B05}" type="doc">
      <dgm:prSet loTypeId="urn:microsoft.com/office/officeart/2005/8/layout/list1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SG"/>
        </a:p>
      </dgm:t>
    </dgm:pt>
    <dgm:pt modelId="{9A3F94BA-D4CD-443B-9CCD-1D3415125A95}">
      <dgm:prSet custT="1"/>
      <dgm:spPr/>
      <dgm:t>
        <a:bodyPr/>
        <a:lstStyle/>
        <a:p>
          <a:pPr>
            <a:buFont typeface="Wingdings" panose="05000000000000000000" pitchFamily="2" charset="2"/>
            <a:buChar char="Ø"/>
          </a:pPr>
          <a:r>
            <a:rPr lang="en-SG" sz="2000" b="1" dirty="0"/>
            <a:t>Problem Framing</a:t>
          </a:r>
          <a:endParaRPr lang="en-SG" sz="2000" b="1" u="none" dirty="0"/>
        </a:p>
      </dgm:t>
    </dgm:pt>
    <dgm:pt modelId="{65A2730D-C3F4-4A41-8D62-F622B9AAF131}" type="parTrans" cxnId="{D53A62A3-A929-4C66-9FBD-AE6D0FB14B44}">
      <dgm:prSet/>
      <dgm:spPr/>
      <dgm:t>
        <a:bodyPr/>
        <a:lstStyle/>
        <a:p>
          <a:endParaRPr lang="en-SG"/>
        </a:p>
      </dgm:t>
    </dgm:pt>
    <dgm:pt modelId="{44B9775F-5AA1-4CD9-9570-8F37F7500415}" type="sibTrans" cxnId="{D53A62A3-A929-4C66-9FBD-AE6D0FB14B44}">
      <dgm:prSet/>
      <dgm:spPr/>
      <dgm:t>
        <a:bodyPr/>
        <a:lstStyle/>
        <a:p>
          <a:endParaRPr lang="en-SG"/>
        </a:p>
      </dgm:t>
    </dgm:pt>
    <dgm:pt modelId="{7C5F3DE9-CCD1-4BF5-88D3-4F5FF04A88C1}">
      <dgm:prSet custT="1"/>
      <dgm:spPr/>
      <dgm:t>
        <a:bodyPr/>
        <a:lstStyle/>
        <a:p>
          <a:pPr marL="0" indent="0">
            <a:buFont typeface="Wingdings" panose="05000000000000000000" pitchFamily="2" charset="2"/>
            <a:buNone/>
          </a:pPr>
          <a:r>
            <a:rPr lang="en-SG" sz="1400" b="1" i="0" dirty="0"/>
            <a:t>Attribution vs Incrementality</a:t>
          </a:r>
        </a:p>
      </dgm:t>
    </dgm:pt>
    <dgm:pt modelId="{DC3BCCE6-0B9C-430A-989E-80C7154361B1}" type="parTrans" cxnId="{B55FE00B-3A59-429B-9679-3A9FE9C30441}">
      <dgm:prSet/>
      <dgm:spPr/>
      <dgm:t>
        <a:bodyPr/>
        <a:lstStyle/>
        <a:p>
          <a:endParaRPr lang="en-SG"/>
        </a:p>
      </dgm:t>
    </dgm:pt>
    <dgm:pt modelId="{8B4DCFF2-6219-4D95-B6FA-07CEC3874D68}" type="sibTrans" cxnId="{B55FE00B-3A59-429B-9679-3A9FE9C30441}">
      <dgm:prSet/>
      <dgm:spPr/>
      <dgm:t>
        <a:bodyPr/>
        <a:lstStyle/>
        <a:p>
          <a:endParaRPr lang="en-SG"/>
        </a:p>
      </dgm:t>
    </dgm:pt>
    <dgm:pt modelId="{487D82C3-170A-4E75-80AA-A01F04D66985}">
      <dgm:prSet custT="1"/>
      <dgm:spPr/>
      <dgm:t>
        <a:bodyPr/>
        <a:lstStyle/>
        <a:p>
          <a:r>
            <a:rPr lang="en-SG" sz="2000" b="1" u="none" dirty="0"/>
            <a:t>Decision Framing</a:t>
          </a:r>
        </a:p>
      </dgm:t>
    </dgm:pt>
    <dgm:pt modelId="{B56BA67D-EAEB-4284-8105-BF124216BDE2}" type="parTrans" cxnId="{E24E9419-CC38-4CDB-AD19-B9481B45DE47}">
      <dgm:prSet/>
      <dgm:spPr/>
      <dgm:t>
        <a:bodyPr/>
        <a:lstStyle/>
        <a:p>
          <a:endParaRPr lang="en-SG"/>
        </a:p>
      </dgm:t>
    </dgm:pt>
    <dgm:pt modelId="{BC1CC8D1-FF04-48EF-93D6-FA8747044256}" type="sibTrans" cxnId="{E24E9419-CC38-4CDB-AD19-B9481B45DE47}">
      <dgm:prSet/>
      <dgm:spPr/>
      <dgm:t>
        <a:bodyPr/>
        <a:lstStyle/>
        <a:p>
          <a:endParaRPr lang="en-SG"/>
        </a:p>
      </dgm:t>
    </dgm:pt>
    <dgm:pt modelId="{DCB33226-3F64-4BCF-84A9-53DF73F458C8}">
      <dgm:prSet custT="1"/>
      <dgm:spPr/>
      <dgm:t>
        <a:bodyPr/>
        <a:lstStyle/>
        <a:p>
          <a:pPr marL="0" indent="0" algn="just">
            <a:buFont typeface="Arial" panose="020B0604020202020204" pitchFamily="34" charset="0"/>
            <a:buNone/>
          </a:pPr>
          <a:r>
            <a:rPr lang="en-SG" sz="1400" b="1" dirty="0"/>
            <a:t>Business objective: </a:t>
          </a:r>
          <a:r>
            <a:rPr lang="en-SG" sz="1400" b="0" i="0" dirty="0"/>
            <a:t>Prioritize </a:t>
          </a:r>
          <a:r>
            <a:rPr lang="en-SG" sz="1400" b="1" i="0" dirty="0"/>
            <a:t>highest-value users for marketing investment</a:t>
          </a:r>
          <a:endParaRPr lang="en-SG" sz="1400" b="1" dirty="0"/>
        </a:p>
      </dgm:t>
    </dgm:pt>
    <dgm:pt modelId="{6D310D87-EF8F-4AEB-9029-0C0AE9E7F732}" type="parTrans" cxnId="{25DA7EA6-F286-427F-B0AF-50FC1498166E}">
      <dgm:prSet/>
      <dgm:spPr/>
      <dgm:t>
        <a:bodyPr/>
        <a:lstStyle/>
        <a:p>
          <a:endParaRPr lang="en-SG"/>
        </a:p>
      </dgm:t>
    </dgm:pt>
    <dgm:pt modelId="{A5CB7B81-3203-4F9B-81BF-BDCCE405E48B}" type="sibTrans" cxnId="{25DA7EA6-F286-427F-B0AF-50FC1498166E}">
      <dgm:prSet/>
      <dgm:spPr/>
      <dgm:t>
        <a:bodyPr/>
        <a:lstStyle/>
        <a:p>
          <a:endParaRPr lang="en-SG"/>
        </a:p>
      </dgm:t>
    </dgm:pt>
    <dgm:pt modelId="{A7534131-2B3C-48BD-B8C3-0CE62023BD9E}">
      <dgm:prSet custT="1"/>
      <dgm:spPr/>
      <dgm:t>
        <a:bodyPr/>
        <a:lstStyle/>
        <a:p>
          <a:pPr marL="0" indent="0" algn="just">
            <a:buFont typeface="Wingdings" panose="05000000000000000000" pitchFamily="2" charset="2"/>
            <a:buNone/>
          </a:pPr>
          <a:endParaRPr lang="en-SG" sz="1400" b="1" i="1" dirty="0"/>
        </a:p>
      </dgm:t>
    </dgm:pt>
    <dgm:pt modelId="{67BEAF3F-BB7C-45B7-8671-0C2EC70BB8D4}" type="parTrans" cxnId="{CC882D61-8059-4B8C-BD66-E03D4E1D500A}">
      <dgm:prSet/>
      <dgm:spPr/>
      <dgm:t>
        <a:bodyPr/>
        <a:lstStyle/>
        <a:p>
          <a:endParaRPr lang="en-SG"/>
        </a:p>
      </dgm:t>
    </dgm:pt>
    <dgm:pt modelId="{B49416C0-0B70-437C-A4C5-F1B90FF0B530}" type="sibTrans" cxnId="{CC882D61-8059-4B8C-BD66-E03D4E1D500A}">
      <dgm:prSet/>
      <dgm:spPr/>
      <dgm:t>
        <a:bodyPr/>
        <a:lstStyle/>
        <a:p>
          <a:endParaRPr lang="en-SG"/>
        </a:p>
      </dgm:t>
    </dgm:pt>
    <dgm:pt modelId="{7D201D48-7BB9-426C-A36B-FED1FF7EBEC6}">
      <dgm:prSet custT="1"/>
      <dgm:spPr/>
      <dgm:t>
        <a:bodyPr/>
        <a:lstStyle/>
        <a:p>
          <a:pPr marL="0" indent="0">
            <a:buFont typeface="Wingdings" panose="05000000000000000000" pitchFamily="2" charset="2"/>
            <a:buNone/>
          </a:pPr>
          <a:r>
            <a:rPr lang="en-SG" sz="1400" b="0" i="1" dirty="0"/>
            <a:t>“Attribution can overstate impact because some users would convert anyway.</a:t>
          </a:r>
        </a:p>
      </dgm:t>
    </dgm:pt>
    <dgm:pt modelId="{DE00F66F-3D1C-4A6B-B831-67AFE361AFA3}" type="parTrans" cxnId="{CBAF829B-8143-4582-A653-E55292C7093D}">
      <dgm:prSet/>
      <dgm:spPr/>
      <dgm:t>
        <a:bodyPr/>
        <a:lstStyle/>
        <a:p>
          <a:endParaRPr lang="en-SG"/>
        </a:p>
      </dgm:t>
    </dgm:pt>
    <dgm:pt modelId="{C70BFD56-B603-4E59-9E82-5243BE06D232}" type="sibTrans" cxnId="{CBAF829B-8143-4582-A653-E55292C7093D}">
      <dgm:prSet/>
      <dgm:spPr/>
      <dgm:t>
        <a:bodyPr/>
        <a:lstStyle/>
        <a:p>
          <a:endParaRPr lang="en-SG"/>
        </a:p>
      </dgm:t>
    </dgm:pt>
    <dgm:pt modelId="{BD3B4D4E-809E-492B-BDC9-EE066E74C658}">
      <dgm:prSet custT="1"/>
      <dgm:spPr/>
      <dgm:t>
        <a:bodyPr/>
        <a:lstStyle/>
        <a:p>
          <a:pPr marL="0" indent="0" algn="just">
            <a:buFont typeface="Wingdings" panose="05000000000000000000" pitchFamily="2" charset="2"/>
            <a:buChar char="Ø"/>
          </a:pPr>
          <a:r>
            <a:rPr lang="en-SG" sz="1400" b="0" dirty="0"/>
            <a:t> </a:t>
          </a:r>
          <a:r>
            <a:rPr lang="en-SG" sz="1400" b="1" dirty="0"/>
            <a:t>Roll out </a:t>
          </a:r>
          <a:r>
            <a:rPr lang="en-SG" sz="1400" b="0" dirty="0"/>
            <a:t>– Lift must be </a:t>
          </a:r>
          <a:r>
            <a:rPr lang="en-SG" sz="1400" b="1" dirty="0"/>
            <a:t>positive and meaningful</a:t>
          </a:r>
          <a:endParaRPr lang="en-SG" sz="1400" b="1" i="1" dirty="0"/>
        </a:p>
      </dgm:t>
    </dgm:pt>
    <dgm:pt modelId="{A1E555A3-1F6C-4B2E-A364-C2D9BEA8041C}" type="parTrans" cxnId="{C03709DD-C3AB-45BA-9762-E8D9E140D88C}">
      <dgm:prSet/>
      <dgm:spPr/>
      <dgm:t>
        <a:bodyPr/>
        <a:lstStyle/>
        <a:p>
          <a:endParaRPr lang="en-SG"/>
        </a:p>
      </dgm:t>
    </dgm:pt>
    <dgm:pt modelId="{D1314B1B-4E8A-4CD1-A5E2-0CC3946976E3}" type="sibTrans" cxnId="{C03709DD-C3AB-45BA-9762-E8D9E140D88C}">
      <dgm:prSet/>
      <dgm:spPr/>
      <dgm:t>
        <a:bodyPr/>
        <a:lstStyle/>
        <a:p>
          <a:endParaRPr lang="en-SG"/>
        </a:p>
      </dgm:t>
    </dgm:pt>
    <dgm:pt modelId="{EA67AD80-FF7C-4618-BEEE-5F2409667AAC}">
      <dgm:prSet custT="1"/>
      <dgm:spPr/>
      <dgm:t>
        <a:bodyPr/>
        <a:lstStyle/>
        <a:p>
          <a:pPr marL="0" indent="0" algn="just">
            <a:buFont typeface="Wingdings" panose="05000000000000000000" pitchFamily="2" charset="2"/>
            <a:buNone/>
          </a:pPr>
          <a:r>
            <a:rPr lang="en-SG" sz="1400" b="1" dirty="0"/>
            <a:t>Budget decision framing</a:t>
          </a:r>
          <a:endParaRPr lang="en-SG" sz="1400" b="1" i="1" dirty="0"/>
        </a:p>
      </dgm:t>
    </dgm:pt>
    <dgm:pt modelId="{0DF9A74A-D8A8-4BDA-A7CD-F23AF7859215}" type="parTrans" cxnId="{BA6B15C8-CFD8-4097-BEC7-45A8B578F214}">
      <dgm:prSet/>
      <dgm:spPr/>
      <dgm:t>
        <a:bodyPr/>
        <a:lstStyle/>
        <a:p>
          <a:endParaRPr lang="en-SG"/>
        </a:p>
      </dgm:t>
    </dgm:pt>
    <dgm:pt modelId="{244D721D-77DD-43F3-B2CB-6CF7F5BF424D}" type="sibTrans" cxnId="{BA6B15C8-CFD8-4097-BEC7-45A8B578F214}">
      <dgm:prSet/>
      <dgm:spPr/>
      <dgm:t>
        <a:bodyPr/>
        <a:lstStyle/>
        <a:p>
          <a:endParaRPr lang="en-SG"/>
        </a:p>
      </dgm:t>
    </dgm:pt>
    <dgm:pt modelId="{8DA6ED35-926A-4261-B3E7-20AE8D6C2C83}">
      <dgm:prSet custT="1"/>
      <dgm:spPr/>
      <dgm:t>
        <a:bodyPr/>
        <a:lstStyle/>
        <a:p>
          <a:pPr marL="0" indent="0" algn="just">
            <a:buFont typeface="Wingdings" panose="05000000000000000000" pitchFamily="2" charset="2"/>
            <a:buChar char="Ø"/>
          </a:pPr>
          <a:r>
            <a:rPr lang="en-SG" sz="1400" b="0" dirty="0"/>
            <a:t> </a:t>
          </a:r>
          <a:r>
            <a:rPr lang="en-SG" sz="1400" b="1" dirty="0"/>
            <a:t>Scale budget </a:t>
          </a:r>
          <a:r>
            <a:rPr lang="en-SG" sz="1400" b="0" dirty="0"/>
            <a:t>– Only if </a:t>
          </a:r>
          <a:r>
            <a:rPr lang="en-SG" sz="1400" b="1" i="0" dirty="0"/>
            <a:t>incremental revenue per user &gt; cost per treated user</a:t>
          </a:r>
          <a:endParaRPr lang="en-SG" sz="1400" b="1" i="1" dirty="0"/>
        </a:p>
      </dgm:t>
    </dgm:pt>
    <dgm:pt modelId="{8A23FD04-0E72-4F80-A974-AA14DA5C73C4}" type="parTrans" cxnId="{E04419D5-5BD2-47FE-AF60-D5A28E8E875E}">
      <dgm:prSet/>
      <dgm:spPr/>
      <dgm:t>
        <a:bodyPr/>
        <a:lstStyle/>
        <a:p>
          <a:endParaRPr lang="en-SG"/>
        </a:p>
      </dgm:t>
    </dgm:pt>
    <dgm:pt modelId="{67801565-DC1F-46E8-97F2-E1E837F6A953}" type="sibTrans" cxnId="{E04419D5-5BD2-47FE-AF60-D5A28E8E875E}">
      <dgm:prSet/>
      <dgm:spPr/>
      <dgm:t>
        <a:bodyPr/>
        <a:lstStyle/>
        <a:p>
          <a:endParaRPr lang="en-SG"/>
        </a:p>
      </dgm:t>
    </dgm:pt>
    <dgm:pt modelId="{624827D6-D244-4936-8E5D-E1F2133C0534}">
      <dgm:prSet custT="1"/>
      <dgm:spPr/>
      <dgm:t>
        <a:bodyPr/>
        <a:lstStyle/>
        <a:p>
          <a:pPr marL="0" indent="0" algn="just">
            <a:buFont typeface="Wingdings" panose="05000000000000000000" pitchFamily="2" charset="2"/>
            <a:buChar char="Ø"/>
          </a:pPr>
          <a:r>
            <a:rPr lang="en-SG" sz="1400" b="0" dirty="0"/>
            <a:t> </a:t>
          </a:r>
          <a:r>
            <a:rPr lang="en-SG" sz="1400" b="1" dirty="0"/>
            <a:t>Budget ceiling </a:t>
          </a:r>
          <a:r>
            <a:rPr lang="en-SG" sz="1400" b="0" dirty="0"/>
            <a:t>– Cap to </a:t>
          </a:r>
          <a:r>
            <a:rPr lang="en-SG" sz="1400" b="1" dirty="0"/>
            <a:t>break-even cost per treated user</a:t>
          </a:r>
          <a:endParaRPr lang="en-SG" sz="1400" b="1" i="1" dirty="0"/>
        </a:p>
      </dgm:t>
    </dgm:pt>
    <dgm:pt modelId="{BB3B3619-A465-4946-957B-97A0B09E4FFF}" type="parTrans" cxnId="{0E9CB3F9-CB32-4437-8A4F-BE23C4BA9DAE}">
      <dgm:prSet/>
      <dgm:spPr/>
      <dgm:t>
        <a:bodyPr/>
        <a:lstStyle/>
        <a:p>
          <a:endParaRPr lang="en-SG"/>
        </a:p>
      </dgm:t>
    </dgm:pt>
    <dgm:pt modelId="{4EBDDC78-DC12-4F50-8676-ED1F44D85DAA}" type="sibTrans" cxnId="{0E9CB3F9-CB32-4437-8A4F-BE23C4BA9DAE}">
      <dgm:prSet/>
      <dgm:spPr/>
      <dgm:t>
        <a:bodyPr/>
        <a:lstStyle/>
        <a:p>
          <a:endParaRPr lang="en-SG"/>
        </a:p>
      </dgm:t>
    </dgm:pt>
    <dgm:pt modelId="{415BE77C-BCB5-4550-9D90-9DD469F04D52}">
      <dgm:prSet custT="1"/>
      <dgm:spPr/>
      <dgm:t>
        <a:bodyPr/>
        <a:lstStyle/>
        <a:p>
          <a:pPr marL="0" indent="0" algn="just">
            <a:buFont typeface="Wingdings" panose="05000000000000000000" pitchFamily="2" charset="2"/>
            <a:buChar char="Ø"/>
          </a:pPr>
          <a:r>
            <a:rPr lang="en-SG" sz="1400" b="1" i="1" dirty="0"/>
            <a:t> </a:t>
          </a:r>
          <a:r>
            <a:rPr lang="en-SG" sz="1400" b="1" i="0" dirty="0"/>
            <a:t>Targeting </a:t>
          </a:r>
          <a:r>
            <a:rPr lang="en-SG" sz="1400" b="0" dirty="0"/>
            <a:t>– </a:t>
          </a:r>
          <a:r>
            <a:rPr lang="en-SG" sz="1400" b="0" i="0" dirty="0"/>
            <a:t>Prioritize </a:t>
          </a:r>
          <a:r>
            <a:rPr lang="en-SG" sz="1400" b="1" i="0" dirty="0"/>
            <a:t>highest incremental value segments</a:t>
          </a:r>
          <a:endParaRPr lang="en-SG" sz="1400" b="1" i="1" dirty="0"/>
        </a:p>
      </dgm:t>
    </dgm:pt>
    <dgm:pt modelId="{3AC0EFC3-868D-40A0-B915-821EE5C75297}" type="parTrans" cxnId="{BFAA2A8A-75D2-4165-9344-E3AC0E40002F}">
      <dgm:prSet/>
      <dgm:spPr/>
      <dgm:t>
        <a:bodyPr/>
        <a:lstStyle/>
        <a:p>
          <a:endParaRPr lang="en-SG"/>
        </a:p>
      </dgm:t>
    </dgm:pt>
    <dgm:pt modelId="{040ACEAA-3FEC-4BBE-9DFF-822C704EFC9E}" type="sibTrans" cxnId="{BFAA2A8A-75D2-4165-9344-E3AC0E40002F}">
      <dgm:prSet/>
      <dgm:spPr/>
      <dgm:t>
        <a:bodyPr/>
        <a:lstStyle/>
        <a:p>
          <a:endParaRPr lang="en-SG"/>
        </a:p>
      </dgm:t>
    </dgm:pt>
    <dgm:pt modelId="{6823259F-55AE-4AFD-93AD-C0B926936A24}">
      <dgm:prSet custT="1"/>
      <dgm:spPr/>
      <dgm:t>
        <a:bodyPr/>
        <a:lstStyle/>
        <a:p>
          <a:pPr marL="0" indent="0">
            <a:buFont typeface="Wingdings" panose="05000000000000000000" pitchFamily="2" charset="2"/>
            <a:buNone/>
          </a:pPr>
          <a:r>
            <a:rPr lang="en-SG" sz="1400" b="0" i="1" dirty="0"/>
            <a:t>We therefore measure incrementality (causal lift): the true effect caused by the campaign.”</a:t>
          </a:r>
        </a:p>
      </dgm:t>
    </dgm:pt>
    <dgm:pt modelId="{A31D79AD-ADF9-4C9B-826E-D998B6EB6D44}" type="parTrans" cxnId="{536E0D13-70FB-4E21-84DD-6421C44718E4}">
      <dgm:prSet/>
      <dgm:spPr/>
      <dgm:t>
        <a:bodyPr/>
        <a:lstStyle/>
        <a:p>
          <a:endParaRPr lang="en-SG"/>
        </a:p>
      </dgm:t>
    </dgm:pt>
    <dgm:pt modelId="{1C8023B0-28CB-4CF8-9469-4A812EEF719F}" type="sibTrans" cxnId="{536E0D13-70FB-4E21-84DD-6421C44718E4}">
      <dgm:prSet/>
      <dgm:spPr/>
      <dgm:t>
        <a:bodyPr/>
        <a:lstStyle/>
        <a:p>
          <a:endParaRPr lang="en-SG"/>
        </a:p>
      </dgm:t>
    </dgm:pt>
    <dgm:pt modelId="{CA395645-460A-4F9B-BE51-406AA816D3A7}" type="pres">
      <dgm:prSet presAssocID="{40117063-61AF-476E-ABAA-EECF7F106B05}" presName="linear" presStyleCnt="0">
        <dgm:presLayoutVars>
          <dgm:dir/>
          <dgm:animLvl val="lvl"/>
          <dgm:resizeHandles val="exact"/>
        </dgm:presLayoutVars>
      </dgm:prSet>
      <dgm:spPr/>
    </dgm:pt>
    <dgm:pt modelId="{94584124-29D6-4F1C-B5E8-F01027A658C0}" type="pres">
      <dgm:prSet presAssocID="{9A3F94BA-D4CD-443B-9CCD-1D3415125A95}" presName="parentLin" presStyleCnt="0"/>
      <dgm:spPr/>
    </dgm:pt>
    <dgm:pt modelId="{7529894F-703E-4536-948D-48115D7FE654}" type="pres">
      <dgm:prSet presAssocID="{9A3F94BA-D4CD-443B-9CCD-1D3415125A95}" presName="parentLeftMargin" presStyleLbl="node1" presStyleIdx="0" presStyleCnt="2"/>
      <dgm:spPr/>
    </dgm:pt>
    <dgm:pt modelId="{EE2B6593-F95C-4533-9EEC-E3F4862A0944}" type="pres">
      <dgm:prSet presAssocID="{9A3F94BA-D4CD-443B-9CCD-1D3415125A95}" presName="parentText" presStyleLbl="node1" presStyleIdx="0" presStyleCnt="2">
        <dgm:presLayoutVars>
          <dgm:chMax val="0"/>
          <dgm:bulletEnabled val="1"/>
        </dgm:presLayoutVars>
      </dgm:prSet>
      <dgm:spPr/>
    </dgm:pt>
    <dgm:pt modelId="{5E2A9C1F-3679-4138-A43B-37B5BD31EC1A}" type="pres">
      <dgm:prSet presAssocID="{9A3F94BA-D4CD-443B-9CCD-1D3415125A95}" presName="negativeSpace" presStyleCnt="0"/>
      <dgm:spPr/>
    </dgm:pt>
    <dgm:pt modelId="{17F024A1-96FB-4F3B-913E-2E39FA1EC4BB}" type="pres">
      <dgm:prSet presAssocID="{9A3F94BA-D4CD-443B-9CCD-1D3415125A95}" presName="childText" presStyleLbl="conFgAcc1" presStyleIdx="0" presStyleCnt="2">
        <dgm:presLayoutVars>
          <dgm:bulletEnabled val="1"/>
        </dgm:presLayoutVars>
      </dgm:prSet>
      <dgm:spPr/>
    </dgm:pt>
    <dgm:pt modelId="{7FBDF750-CD12-4DD6-AAC3-BD76F946133D}" type="pres">
      <dgm:prSet presAssocID="{44B9775F-5AA1-4CD9-9570-8F37F7500415}" presName="spaceBetweenRectangles" presStyleCnt="0"/>
      <dgm:spPr/>
    </dgm:pt>
    <dgm:pt modelId="{CECEE90B-601A-4016-A00D-4AB482108199}" type="pres">
      <dgm:prSet presAssocID="{487D82C3-170A-4E75-80AA-A01F04D66985}" presName="parentLin" presStyleCnt="0"/>
      <dgm:spPr/>
    </dgm:pt>
    <dgm:pt modelId="{E8B85F60-4967-42B5-A57F-831935A0E54B}" type="pres">
      <dgm:prSet presAssocID="{487D82C3-170A-4E75-80AA-A01F04D66985}" presName="parentLeftMargin" presStyleLbl="node1" presStyleIdx="0" presStyleCnt="2"/>
      <dgm:spPr/>
    </dgm:pt>
    <dgm:pt modelId="{696B1520-5391-45CE-8D80-CDC7E53A8339}" type="pres">
      <dgm:prSet presAssocID="{487D82C3-170A-4E75-80AA-A01F04D66985}" presName="parentText" presStyleLbl="node1" presStyleIdx="1" presStyleCnt="2">
        <dgm:presLayoutVars>
          <dgm:chMax val="0"/>
          <dgm:bulletEnabled val="1"/>
        </dgm:presLayoutVars>
      </dgm:prSet>
      <dgm:spPr/>
    </dgm:pt>
    <dgm:pt modelId="{3A572ED0-86BB-4B9E-B34E-016C71F1D26F}" type="pres">
      <dgm:prSet presAssocID="{487D82C3-170A-4E75-80AA-A01F04D66985}" presName="negativeSpace" presStyleCnt="0"/>
      <dgm:spPr/>
    </dgm:pt>
    <dgm:pt modelId="{478EAEA9-2F49-4F4A-8C8C-401919DFA9DC}" type="pres">
      <dgm:prSet presAssocID="{487D82C3-170A-4E75-80AA-A01F04D66985}" presName="childText" presStyleLbl="conFgAcc1" presStyleIdx="1" presStyleCnt="2">
        <dgm:presLayoutVars>
          <dgm:bulletEnabled val="1"/>
        </dgm:presLayoutVars>
      </dgm:prSet>
      <dgm:spPr/>
    </dgm:pt>
  </dgm:ptLst>
  <dgm:cxnLst>
    <dgm:cxn modelId="{B55FE00B-3A59-429B-9679-3A9FE9C30441}" srcId="{9A3F94BA-D4CD-443B-9CCD-1D3415125A95}" destId="{7C5F3DE9-CCD1-4BF5-88D3-4F5FF04A88C1}" srcOrd="0" destOrd="0" parTransId="{DC3BCCE6-0B9C-430A-989E-80C7154361B1}" sibTransId="{8B4DCFF2-6219-4D95-B6FA-07CEC3874D68}"/>
    <dgm:cxn modelId="{536E0D13-70FB-4E21-84DD-6421C44718E4}" srcId="{9A3F94BA-D4CD-443B-9CCD-1D3415125A95}" destId="{6823259F-55AE-4AFD-93AD-C0B926936A24}" srcOrd="2" destOrd="0" parTransId="{A31D79AD-ADF9-4C9B-826E-D998B6EB6D44}" sibTransId="{1C8023B0-28CB-4CF8-9469-4A812EEF719F}"/>
    <dgm:cxn modelId="{E24E9419-CC38-4CDB-AD19-B9481B45DE47}" srcId="{40117063-61AF-476E-ABAA-EECF7F106B05}" destId="{487D82C3-170A-4E75-80AA-A01F04D66985}" srcOrd="1" destOrd="0" parTransId="{B56BA67D-EAEB-4284-8105-BF124216BDE2}" sibTransId="{BC1CC8D1-FF04-48EF-93D6-FA8747044256}"/>
    <dgm:cxn modelId="{1D8D921A-6364-4E28-A3A3-CAB48D77430C}" type="presOf" srcId="{BD3B4D4E-809E-492B-BDC9-EE066E74C658}" destId="{478EAEA9-2F49-4F4A-8C8C-401919DFA9DC}" srcOrd="0" destOrd="3" presId="urn:microsoft.com/office/officeart/2005/8/layout/list1"/>
    <dgm:cxn modelId="{788D952B-6D2B-45D0-8DCE-28FBD5A8BFE7}" type="presOf" srcId="{624827D6-D244-4936-8E5D-E1F2133C0534}" destId="{478EAEA9-2F49-4F4A-8C8C-401919DFA9DC}" srcOrd="0" destOrd="5" presId="urn:microsoft.com/office/officeart/2005/8/layout/list1"/>
    <dgm:cxn modelId="{71CAAF3C-3722-4477-933C-A49253155070}" type="presOf" srcId="{8DA6ED35-926A-4261-B3E7-20AE8D6C2C83}" destId="{478EAEA9-2F49-4F4A-8C8C-401919DFA9DC}" srcOrd="0" destOrd="4" presId="urn:microsoft.com/office/officeart/2005/8/layout/list1"/>
    <dgm:cxn modelId="{CC882D61-8059-4B8C-BD66-E03D4E1D500A}" srcId="{487D82C3-170A-4E75-80AA-A01F04D66985}" destId="{A7534131-2B3C-48BD-B8C3-0CE62023BD9E}" srcOrd="1" destOrd="0" parTransId="{67BEAF3F-BB7C-45B7-8671-0C2EC70BB8D4}" sibTransId="{B49416C0-0B70-437C-A4C5-F1B90FF0B530}"/>
    <dgm:cxn modelId="{6654C080-D419-4777-AE45-A67AE9A6CB1F}" type="presOf" srcId="{A7534131-2B3C-48BD-B8C3-0CE62023BD9E}" destId="{478EAEA9-2F49-4F4A-8C8C-401919DFA9DC}" srcOrd="0" destOrd="1" presId="urn:microsoft.com/office/officeart/2005/8/layout/list1"/>
    <dgm:cxn modelId="{BFAA2A8A-75D2-4165-9344-E3AC0E40002F}" srcId="{EA67AD80-FF7C-4618-BEEE-5F2409667AAC}" destId="{415BE77C-BCB5-4550-9D90-9DD469F04D52}" srcOrd="3" destOrd="0" parTransId="{3AC0EFC3-868D-40A0-B915-821EE5C75297}" sibTransId="{040ACEAA-3FEC-4BBE-9DFF-822C704EFC9E}"/>
    <dgm:cxn modelId="{B180A68F-0CD5-4FE8-8231-FB52CD6BEE54}" type="presOf" srcId="{6823259F-55AE-4AFD-93AD-C0B926936A24}" destId="{17F024A1-96FB-4F3B-913E-2E39FA1EC4BB}" srcOrd="0" destOrd="2" presId="urn:microsoft.com/office/officeart/2005/8/layout/list1"/>
    <dgm:cxn modelId="{88AB1C97-2064-4396-95DA-7B594E9B6FB5}" type="presOf" srcId="{415BE77C-BCB5-4550-9D90-9DD469F04D52}" destId="{478EAEA9-2F49-4F4A-8C8C-401919DFA9DC}" srcOrd="0" destOrd="6" presId="urn:microsoft.com/office/officeart/2005/8/layout/list1"/>
    <dgm:cxn modelId="{07E8539A-A6B2-4FA0-85DB-750322771C32}" type="presOf" srcId="{487D82C3-170A-4E75-80AA-A01F04D66985}" destId="{E8B85F60-4967-42B5-A57F-831935A0E54B}" srcOrd="0" destOrd="0" presId="urn:microsoft.com/office/officeart/2005/8/layout/list1"/>
    <dgm:cxn modelId="{CBAF829B-8143-4582-A653-E55292C7093D}" srcId="{9A3F94BA-D4CD-443B-9CCD-1D3415125A95}" destId="{7D201D48-7BB9-426C-A36B-FED1FF7EBEC6}" srcOrd="1" destOrd="0" parTransId="{DE00F66F-3D1C-4A6B-B831-67AFE361AFA3}" sibTransId="{C70BFD56-B603-4E59-9E82-5243BE06D232}"/>
    <dgm:cxn modelId="{D53A62A3-A929-4C66-9FBD-AE6D0FB14B44}" srcId="{40117063-61AF-476E-ABAA-EECF7F106B05}" destId="{9A3F94BA-D4CD-443B-9CCD-1D3415125A95}" srcOrd="0" destOrd="0" parTransId="{65A2730D-C3F4-4A41-8D62-F622B9AAF131}" sibTransId="{44B9775F-5AA1-4CD9-9570-8F37F7500415}"/>
    <dgm:cxn modelId="{25DA7EA6-F286-427F-B0AF-50FC1498166E}" srcId="{487D82C3-170A-4E75-80AA-A01F04D66985}" destId="{DCB33226-3F64-4BCF-84A9-53DF73F458C8}" srcOrd="0" destOrd="0" parTransId="{6D310D87-EF8F-4AEB-9029-0C0AE9E7F732}" sibTransId="{A5CB7B81-3203-4F9B-81BF-BDCCE405E48B}"/>
    <dgm:cxn modelId="{42B23CB0-948C-4C02-8F7A-1597DD85BEDB}" type="presOf" srcId="{9A3F94BA-D4CD-443B-9CCD-1D3415125A95}" destId="{7529894F-703E-4536-948D-48115D7FE654}" srcOrd="0" destOrd="0" presId="urn:microsoft.com/office/officeart/2005/8/layout/list1"/>
    <dgm:cxn modelId="{B6FE27C5-37E4-444B-A386-179DE98BE90B}" type="presOf" srcId="{7C5F3DE9-CCD1-4BF5-88D3-4F5FF04A88C1}" destId="{17F024A1-96FB-4F3B-913E-2E39FA1EC4BB}" srcOrd="0" destOrd="0" presId="urn:microsoft.com/office/officeart/2005/8/layout/list1"/>
    <dgm:cxn modelId="{BA6B15C8-CFD8-4097-BEC7-45A8B578F214}" srcId="{487D82C3-170A-4E75-80AA-A01F04D66985}" destId="{EA67AD80-FF7C-4618-BEEE-5F2409667AAC}" srcOrd="2" destOrd="0" parTransId="{0DF9A74A-D8A8-4BDA-A7CD-F23AF7859215}" sibTransId="{244D721D-77DD-43F3-B2CB-6CF7F5BF424D}"/>
    <dgm:cxn modelId="{570649C8-22D2-4936-BD55-C87A2741CA8A}" type="presOf" srcId="{EA67AD80-FF7C-4618-BEEE-5F2409667AAC}" destId="{478EAEA9-2F49-4F4A-8C8C-401919DFA9DC}" srcOrd="0" destOrd="2" presId="urn:microsoft.com/office/officeart/2005/8/layout/list1"/>
    <dgm:cxn modelId="{E04419D5-5BD2-47FE-AF60-D5A28E8E875E}" srcId="{EA67AD80-FF7C-4618-BEEE-5F2409667AAC}" destId="{8DA6ED35-926A-4261-B3E7-20AE8D6C2C83}" srcOrd="1" destOrd="0" parTransId="{8A23FD04-0E72-4F80-A974-AA14DA5C73C4}" sibTransId="{67801565-DC1F-46E8-97F2-E1E837F6A953}"/>
    <dgm:cxn modelId="{43D537D7-A209-4DE5-8C51-4BCE3CE41613}" type="presOf" srcId="{9A3F94BA-D4CD-443B-9CCD-1D3415125A95}" destId="{EE2B6593-F95C-4533-9EEC-E3F4862A0944}" srcOrd="1" destOrd="0" presId="urn:microsoft.com/office/officeart/2005/8/layout/list1"/>
    <dgm:cxn modelId="{C03709DD-C3AB-45BA-9762-E8D9E140D88C}" srcId="{EA67AD80-FF7C-4618-BEEE-5F2409667AAC}" destId="{BD3B4D4E-809E-492B-BDC9-EE066E74C658}" srcOrd="0" destOrd="0" parTransId="{A1E555A3-1F6C-4B2E-A364-C2D9BEA8041C}" sibTransId="{D1314B1B-4E8A-4CD1-A5E2-0CC3946976E3}"/>
    <dgm:cxn modelId="{B6BAEBDD-DF2F-4BCD-8B4B-029067C61255}" type="presOf" srcId="{487D82C3-170A-4E75-80AA-A01F04D66985}" destId="{696B1520-5391-45CE-8D80-CDC7E53A8339}" srcOrd="1" destOrd="0" presId="urn:microsoft.com/office/officeart/2005/8/layout/list1"/>
    <dgm:cxn modelId="{9650A6E3-F176-4294-B026-AA2E92FE9E71}" type="presOf" srcId="{40117063-61AF-476E-ABAA-EECF7F106B05}" destId="{CA395645-460A-4F9B-BE51-406AA816D3A7}" srcOrd="0" destOrd="0" presId="urn:microsoft.com/office/officeart/2005/8/layout/list1"/>
    <dgm:cxn modelId="{FBE48BE7-EEDE-434A-B5BA-4A58B85BF85F}" type="presOf" srcId="{DCB33226-3F64-4BCF-84A9-53DF73F458C8}" destId="{478EAEA9-2F49-4F4A-8C8C-401919DFA9DC}" srcOrd="0" destOrd="0" presId="urn:microsoft.com/office/officeart/2005/8/layout/list1"/>
    <dgm:cxn modelId="{0E9CB3F9-CB32-4437-8A4F-BE23C4BA9DAE}" srcId="{EA67AD80-FF7C-4618-BEEE-5F2409667AAC}" destId="{624827D6-D244-4936-8E5D-E1F2133C0534}" srcOrd="2" destOrd="0" parTransId="{BB3B3619-A465-4946-957B-97A0B09E4FFF}" sibTransId="{4EBDDC78-DC12-4F50-8676-ED1F44D85DAA}"/>
    <dgm:cxn modelId="{0FD62BFA-3A88-4490-A977-C7FFFC02D708}" type="presOf" srcId="{7D201D48-7BB9-426C-A36B-FED1FF7EBEC6}" destId="{17F024A1-96FB-4F3B-913E-2E39FA1EC4BB}" srcOrd="0" destOrd="1" presId="urn:microsoft.com/office/officeart/2005/8/layout/list1"/>
    <dgm:cxn modelId="{97651EA0-C9AE-434D-9C57-3399E21BD751}" type="presParOf" srcId="{CA395645-460A-4F9B-BE51-406AA816D3A7}" destId="{94584124-29D6-4F1C-B5E8-F01027A658C0}" srcOrd="0" destOrd="0" presId="urn:microsoft.com/office/officeart/2005/8/layout/list1"/>
    <dgm:cxn modelId="{A4DC9ED2-65E7-421D-BDDD-2459717DD78C}" type="presParOf" srcId="{94584124-29D6-4F1C-B5E8-F01027A658C0}" destId="{7529894F-703E-4536-948D-48115D7FE654}" srcOrd="0" destOrd="0" presId="urn:microsoft.com/office/officeart/2005/8/layout/list1"/>
    <dgm:cxn modelId="{7F33D431-7817-465B-9D17-44E6C4033861}" type="presParOf" srcId="{94584124-29D6-4F1C-B5E8-F01027A658C0}" destId="{EE2B6593-F95C-4533-9EEC-E3F4862A0944}" srcOrd="1" destOrd="0" presId="urn:microsoft.com/office/officeart/2005/8/layout/list1"/>
    <dgm:cxn modelId="{C3A89B57-9FA7-410E-A0EC-F44B23EF0F9B}" type="presParOf" srcId="{CA395645-460A-4F9B-BE51-406AA816D3A7}" destId="{5E2A9C1F-3679-4138-A43B-37B5BD31EC1A}" srcOrd="1" destOrd="0" presId="urn:microsoft.com/office/officeart/2005/8/layout/list1"/>
    <dgm:cxn modelId="{90762890-F2A2-4E85-B597-886DCB04DE11}" type="presParOf" srcId="{CA395645-460A-4F9B-BE51-406AA816D3A7}" destId="{17F024A1-96FB-4F3B-913E-2E39FA1EC4BB}" srcOrd="2" destOrd="0" presId="urn:microsoft.com/office/officeart/2005/8/layout/list1"/>
    <dgm:cxn modelId="{ACCC0030-F37F-4A1B-B665-2B04AF52286D}" type="presParOf" srcId="{CA395645-460A-4F9B-BE51-406AA816D3A7}" destId="{7FBDF750-CD12-4DD6-AAC3-BD76F946133D}" srcOrd="3" destOrd="0" presId="urn:microsoft.com/office/officeart/2005/8/layout/list1"/>
    <dgm:cxn modelId="{0681BF82-C7D3-4064-A16D-0F19E7D7500B}" type="presParOf" srcId="{CA395645-460A-4F9B-BE51-406AA816D3A7}" destId="{CECEE90B-601A-4016-A00D-4AB482108199}" srcOrd="4" destOrd="0" presId="urn:microsoft.com/office/officeart/2005/8/layout/list1"/>
    <dgm:cxn modelId="{CD5EA0DE-D13B-4D70-BD4A-05C34C82DD10}" type="presParOf" srcId="{CECEE90B-601A-4016-A00D-4AB482108199}" destId="{E8B85F60-4967-42B5-A57F-831935A0E54B}" srcOrd="0" destOrd="0" presId="urn:microsoft.com/office/officeart/2005/8/layout/list1"/>
    <dgm:cxn modelId="{54BA8A24-6797-4132-90C7-66FA666EDCF2}" type="presParOf" srcId="{CECEE90B-601A-4016-A00D-4AB482108199}" destId="{696B1520-5391-45CE-8D80-CDC7E53A8339}" srcOrd="1" destOrd="0" presId="urn:microsoft.com/office/officeart/2005/8/layout/list1"/>
    <dgm:cxn modelId="{D29D4808-30AB-4158-9A6E-D233598C4555}" type="presParOf" srcId="{CA395645-460A-4F9B-BE51-406AA816D3A7}" destId="{3A572ED0-86BB-4B9E-B34E-016C71F1D26F}" srcOrd="5" destOrd="0" presId="urn:microsoft.com/office/officeart/2005/8/layout/list1"/>
    <dgm:cxn modelId="{4A927275-3843-4204-8DFD-967087BAA380}" type="presParOf" srcId="{CA395645-460A-4F9B-BE51-406AA816D3A7}" destId="{478EAEA9-2F49-4F4A-8C8C-401919DFA9DC}" srcOrd="6" destOrd="0" presId="urn:microsoft.com/office/officeart/2005/8/layout/list1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F0BBA99E-262E-4B87-BFF0-5EE3BD3A8439}" type="doc">
      <dgm:prSet loTypeId="urn:microsoft.com/office/officeart/2005/8/layout/list1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SG"/>
        </a:p>
      </dgm:t>
    </dgm:pt>
    <dgm:pt modelId="{A4BE8C65-9CA8-434F-9CE2-9C6128E5E6FE}">
      <dgm:prSet custT="1"/>
      <dgm:spPr/>
      <dgm:t>
        <a:bodyPr/>
        <a:lstStyle/>
        <a:p>
          <a:pPr marL="0" algn="l"/>
          <a:r>
            <a:rPr lang="en-SG" sz="1400" b="1" dirty="0"/>
            <a:t>Experiment Design (A/B Testing)</a:t>
          </a:r>
          <a:endParaRPr lang="en-SG" sz="1400" dirty="0"/>
        </a:p>
      </dgm:t>
    </dgm:pt>
    <dgm:pt modelId="{43654CD3-B29E-47CD-BD21-EF9A2CF70175}" type="parTrans" cxnId="{2A8ED861-4855-4CA5-A1CB-E20D629F75EA}">
      <dgm:prSet/>
      <dgm:spPr/>
      <dgm:t>
        <a:bodyPr/>
        <a:lstStyle/>
        <a:p>
          <a:endParaRPr lang="en-SG"/>
        </a:p>
      </dgm:t>
    </dgm:pt>
    <dgm:pt modelId="{C6B6C62D-AF44-4FF7-8C30-51320AD1CAA9}" type="sibTrans" cxnId="{2A8ED861-4855-4CA5-A1CB-E20D629F75EA}">
      <dgm:prSet/>
      <dgm:spPr/>
      <dgm:t>
        <a:bodyPr/>
        <a:lstStyle/>
        <a:p>
          <a:endParaRPr lang="en-SG"/>
        </a:p>
      </dgm:t>
    </dgm:pt>
    <dgm:pt modelId="{A285F837-A9EB-4AF5-92F2-78AB5F9D1E79}">
      <dgm:prSet custT="1"/>
      <dgm:spPr/>
      <dgm:t>
        <a:bodyPr/>
        <a:lstStyle/>
        <a:p>
          <a:r>
            <a:rPr lang="en-SG" sz="1400" b="1" dirty="0"/>
            <a:t>A/B Testing Analysis</a:t>
          </a:r>
          <a:endParaRPr lang="en-SG" sz="1400" dirty="0"/>
        </a:p>
      </dgm:t>
    </dgm:pt>
    <dgm:pt modelId="{7C89892D-9E5A-4010-93C7-DE61A1D8849D}" type="parTrans" cxnId="{FC3BC0E9-4590-49B9-AD7A-B21EEE1EC765}">
      <dgm:prSet/>
      <dgm:spPr/>
      <dgm:t>
        <a:bodyPr/>
        <a:lstStyle/>
        <a:p>
          <a:endParaRPr lang="en-SG"/>
        </a:p>
      </dgm:t>
    </dgm:pt>
    <dgm:pt modelId="{0DC4A81C-E995-40F2-86DA-10E325F07AC2}" type="sibTrans" cxnId="{FC3BC0E9-4590-49B9-AD7A-B21EEE1EC765}">
      <dgm:prSet/>
      <dgm:spPr/>
      <dgm:t>
        <a:bodyPr/>
        <a:lstStyle/>
        <a:p>
          <a:endParaRPr lang="en-SG"/>
        </a:p>
      </dgm:t>
    </dgm:pt>
    <dgm:pt modelId="{EE8644FA-9679-49CB-AC86-EAB6DEA95994}">
      <dgm:prSet custT="1"/>
      <dgm:spPr/>
      <dgm:t>
        <a:bodyPr/>
        <a:lstStyle/>
        <a:p>
          <a:r>
            <a:rPr lang="en-SG" sz="1400" b="1" dirty="0"/>
            <a:t>Attribution vs Incrementality</a:t>
          </a:r>
          <a:endParaRPr lang="en-SG" sz="1400" dirty="0"/>
        </a:p>
      </dgm:t>
    </dgm:pt>
    <dgm:pt modelId="{3F89D2C2-B44C-45B3-BC48-EB0F2B2A8E77}" type="parTrans" cxnId="{421C5006-6ED4-4D5F-9E26-B11C52AE9B54}">
      <dgm:prSet/>
      <dgm:spPr/>
      <dgm:t>
        <a:bodyPr/>
        <a:lstStyle/>
        <a:p>
          <a:endParaRPr lang="en-SG"/>
        </a:p>
      </dgm:t>
    </dgm:pt>
    <dgm:pt modelId="{4D1F425F-60A2-4FC7-8459-2973CF0E943B}" type="sibTrans" cxnId="{421C5006-6ED4-4D5F-9E26-B11C52AE9B54}">
      <dgm:prSet/>
      <dgm:spPr/>
      <dgm:t>
        <a:bodyPr/>
        <a:lstStyle/>
        <a:p>
          <a:endParaRPr lang="en-SG"/>
        </a:p>
      </dgm:t>
    </dgm:pt>
    <dgm:pt modelId="{FEBAD130-8E34-408A-9AAD-41B9D3E9599D}">
      <dgm:prSet custT="1"/>
      <dgm:spPr/>
      <dgm:t>
        <a:bodyPr/>
        <a:lstStyle/>
        <a:p>
          <a:r>
            <a:rPr lang="en-SG" sz="1400" b="1" dirty="0"/>
            <a:t>Unit Economics (ROI) and Budget Decision</a:t>
          </a:r>
          <a:endParaRPr lang="en-SG" sz="1400" dirty="0"/>
        </a:p>
      </dgm:t>
    </dgm:pt>
    <dgm:pt modelId="{2341A78A-B5AA-45D2-AAA0-4D1050E32AA3}" type="parTrans" cxnId="{7EE06707-9505-47B2-BB7B-DA2E10A943B6}">
      <dgm:prSet/>
      <dgm:spPr/>
      <dgm:t>
        <a:bodyPr/>
        <a:lstStyle/>
        <a:p>
          <a:endParaRPr lang="en-SG"/>
        </a:p>
      </dgm:t>
    </dgm:pt>
    <dgm:pt modelId="{6FA30B2F-F78B-42DD-A949-9D2CF05F80AC}" type="sibTrans" cxnId="{7EE06707-9505-47B2-BB7B-DA2E10A943B6}">
      <dgm:prSet/>
      <dgm:spPr/>
      <dgm:t>
        <a:bodyPr/>
        <a:lstStyle/>
        <a:p>
          <a:endParaRPr lang="en-SG"/>
        </a:p>
      </dgm:t>
    </dgm:pt>
    <dgm:pt modelId="{E040C8B7-CA81-4FA2-AC8C-9900EF256F06}">
      <dgm:prSet custT="1"/>
      <dgm:spPr/>
      <dgm:t>
        <a:bodyPr/>
        <a:lstStyle/>
        <a:p>
          <a:r>
            <a:rPr lang="en-SG" sz="1400" b="1" dirty="0"/>
            <a:t>Segment Insights: Who Should We Target First?</a:t>
          </a:r>
        </a:p>
      </dgm:t>
    </dgm:pt>
    <dgm:pt modelId="{B2B3BA69-5914-4A6A-A5C9-11B4E4673DAA}" type="parTrans" cxnId="{A9817F08-B1D0-4916-9716-380E3C13B375}">
      <dgm:prSet/>
      <dgm:spPr/>
      <dgm:t>
        <a:bodyPr/>
        <a:lstStyle/>
        <a:p>
          <a:endParaRPr lang="en-SG"/>
        </a:p>
      </dgm:t>
    </dgm:pt>
    <dgm:pt modelId="{8AEE597C-9724-4E54-86BC-A448A0361432}" type="sibTrans" cxnId="{A9817F08-B1D0-4916-9716-380E3C13B375}">
      <dgm:prSet/>
      <dgm:spPr/>
      <dgm:t>
        <a:bodyPr/>
        <a:lstStyle/>
        <a:p>
          <a:endParaRPr lang="en-SG"/>
        </a:p>
      </dgm:t>
    </dgm:pt>
    <dgm:pt modelId="{FB84BA6A-9853-42E3-B219-6022258D6DA6}">
      <dgm:prSet custT="1"/>
      <dgm:spPr/>
      <dgm:t>
        <a:bodyPr/>
        <a:lstStyle/>
        <a:p>
          <a:r>
            <a:rPr lang="en-SG" sz="1400" b="1" dirty="0"/>
            <a:t>Key Recommendations</a:t>
          </a:r>
        </a:p>
      </dgm:t>
    </dgm:pt>
    <dgm:pt modelId="{4F887E94-9007-4EF0-89C8-674050DD60CB}" type="parTrans" cxnId="{CAC1B5CE-99BD-4E70-8B9B-2C41152BE5DE}">
      <dgm:prSet/>
      <dgm:spPr/>
      <dgm:t>
        <a:bodyPr/>
        <a:lstStyle/>
        <a:p>
          <a:endParaRPr lang="en-SG"/>
        </a:p>
      </dgm:t>
    </dgm:pt>
    <dgm:pt modelId="{AEE345D0-F89E-44FD-83FC-A7292420E81B}" type="sibTrans" cxnId="{CAC1B5CE-99BD-4E70-8B9B-2C41152BE5DE}">
      <dgm:prSet/>
      <dgm:spPr/>
      <dgm:t>
        <a:bodyPr/>
        <a:lstStyle/>
        <a:p>
          <a:endParaRPr lang="en-SG"/>
        </a:p>
      </dgm:t>
    </dgm:pt>
    <dgm:pt modelId="{634F0BA8-AB35-4B7D-99DA-A317E5D02F71}">
      <dgm:prSet custT="1"/>
      <dgm:spPr/>
      <dgm:t>
        <a:bodyPr/>
        <a:lstStyle/>
        <a:p>
          <a:pPr marL="0" algn="l">
            <a:buFont typeface="Wingdings" panose="05000000000000000000" pitchFamily="2" charset="2"/>
            <a:buChar char="Ø"/>
          </a:pPr>
          <a:r>
            <a:rPr lang="en-SG" sz="1400" dirty="0"/>
            <a:t> Randomized design</a:t>
          </a:r>
        </a:p>
      </dgm:t>
    </dgm:pt>
    <dgm:pt modelId="{583BB45A-D498-4FB0-9E95-D54CB12B7585}" type="parTrans" cxnId="{888C2188-DC66-4C24-9FCE-8D625D8D336C}">
      <dgm:prSet/>
      <dgm:spPr/>
      <dgm:t>
        <a:bodyPr/>
        <a:lstStyle/>
        <a:p>
          <a:endParaRPr lang="en-SG"/>
        </a:p>
      </dgm:t>
    </dgm:pt>
    <dgm:pt modelId="{6E7BE6D5-1C9D-4361-92FC-7466C13B012E}" type="sibTrans" cxnId="{888C2188-DC66-4C24-9FCE-8D625D8D336C}">
      <dgm:prSet/>
      <dgm:spPr/>
      <dgm:t>
        <a:bodyPr/>
        <a:lstStyle/>
        <a:p>
          <a:endParaRPr lang="en-SG"/>
        </a:p>
      </dgm:t>
    </dgm:pt>
    <dgm:pt modelId="{4AA84EC1-56DD-43A8-B44B-3BC93BAEC65B}">
      <dgm:prSet custT="1"/>
      <dgm:spPr/>
      <dgm:t>
        <a:bodyPr/>
        <a:lstStyle/>
        <a:p>
          <a:pPr>
            <a:buFont typeface="Wingdings" panose="05000000000000000000" pitchFamily="2" charset="2"/>
            <a:buChar char="Ø"/>
          </a:pPr>
          <a:r>
            <a:rPr lang="en-SG" sz="1400" dirty="0"/>
            <a:t> Measures Lift</a:t>
          </a:r>
        </a:p>
      </dgm:t>
    </dgm:pt>
    <dgm:pt modelId="{BCDC8D2B-C423-4AF2-BB55-211D05967D05}" type="parTrans" cxnId="{2C06E563-57F1-4436-A26B-2EFEB0F61EF5}">
      <dgm:prSet/>
      <dgm:spPr/>
      <dgm:t>
        <a:bodyPr/>
        <a:lstStyle/>
        <a:p>
          <a:endParaRPr lang="en-SG"/>
        </a:p>
      </dgm:t>
    </dgm:pt>
    <dgm:pt modelId="{A06959F8-3FDA-4B41-9185-FA4AA1B6D1C3}" type="sibTrans" cxnId="{2C06E563-57F1-4436-A26B-2EFEB0F61EF5}">
      <dgm:prSet/>
      <dgm:spPr/>
      <dgm:t>
        <a:bodyPr/>
        <a:lstStyle/>
        <a:p>
          <a:endParaRPr lang="en-SG"/>
        </a:p>
      </dgm:t>
    </dgm:pt>
    <dgm:pt modelId="{0DA4256D-B774-404C-9357-5A5382009471}">
      <dgm:prSet custT="1"/>
      <dgm:spPr/>
      <dgm:t>
        <a:bodyPr/>
        <a:lstStyle/>
        <a:p>
          <a:pPr>
            <a:buFont typeface="Wingdings" panose="05000000000000000000" pitchFamily="2" charset="2"/>
            <a:buChar char="Ø"/>
          </a:pPr>
          <a:r>
            <a:rPr lang="en-SG" sz="1400" dirty="0"/>
            <a:t> True campaign impact</a:t>
          </a:r>
        </a:p>
      </dgm:t>
    </dgm:pt>
    <dgm:pt modelId="{74072D1A-F789-403C-814D-F12A2CBA3E6F}" type="parTrans" cxnId="{82754355-7380-4B40-943E-62C2BEF98B43}">
      <dgm:prSet/>
      <dgm:spPr/>
      <dgm:t>
        <a:bodyPr/>
        <a:lstStyle/>
        <a:p>
          <a:endParaRPr lang="en-SG"/>
        </a:p>
      </dgm:t>
    </dgm:pt>
    <dgm:pt modelId="{64E6DE71-ACC0-4818-975B-197B7311C714}" type="sibTrans" cxnId="{82754355-7380-4B40-943E-62C2BEF98B43}">
      <dgm:prSet/>
      <dgm:spPr/>
      <dgm:t>
        <a:bodyPr/>
        <a:lstStyle/>
        <a:p>
          <a:endParaRPr lang="en-SG"/>
        </a:p>
      </dgm:t>
    </dgm:pt>
    <dgm:pt modelId="{AE994D97-826F-47E4-9EB5-D85E01860CCC}">
      <dgm:prSet custT="1"/>
      <dgm:spPr/>
      <dgm:t>
        <a:bodyPr/>
        <a:lstStyle/>
        <a:p>
          <a:pPr>
            <a:buFont typeface="Wingdings" panose="05000000000000000000" pitchFamily="2" charset="2"/>
            <a:buChar char="Ø"/>
          </a:pPr>
          <a:r>
            <a:rPr lang="en-SG" sz="1400" dirty="0"/>
            <a:t> Value vs Cost</a:t>
          </a:r>
        </a:p>
      </dgm:t>
    </dgm:pt>
    <dgm:pt modelId="{70DA05DF-CCA5-4655-847E-2C268AAA0205}" type="parTrans" cxnId="{99BC945E-9650-42CA-9341-7FFEF42A63AC}">
      <dgm:prSet/>
      <dgm:spPr/>
      <dgm:t>
        <a:bodyPr/>
        <a:lstStyle/>
        <a:p>
          <a:endParaRPr lang="en-SG"/>
        </a:p>
      </dgm:t>
    </dgm:pt>
    <dgm:pt modelId="{68C8CB56-E16C-4998-B921-7EB4689CA8FD}" type="sibTrans" cxnId="{99BC945E-9650-42CA-9341-7FFEF42A63AC}">
      <dgm:prSet/>
      <dgm:spPr/>
      <dgm:t>
        <a:bodyPr/>
        <a:lstStyle/>
        <a:p>
          <a:endParaRPr lang="en-SG"/>
        </a:p>
      </dgm:t>
    </dgm:pt>
    <dgm:pt modelId="{D8C7BD97-3A9A-4D7F-8D32-0055C1CE9B14}">
      <dgm:prSet custT="1"/>
      <dgm:spPr/>
      <dgm:t>
        <a:bodyPr/>
        <a:lstStyle/>
        <a:p>
          <a:pPr>
            <a:buFont typeface="Wingdings" panose="05000000000000000000" pitchFamily="2" charset="2"/>
            <a:buChar char="Ø"/>
          </a:pPr>
          <a:r>
            <a:rPr lang="en-SG" sz="1400" b="0" dirty="0"/>
            <a:t> Who to prioritize</a:t>
          </a:r>
        </a:p>
      </dgm:t>
    </dgm:pt>
    <dgm:pt modelId="{2F9F70BA-4980-4183-AA18-A368522216F6}" type="parTrans" cxnId="{AC2AD788-340E-48F7-8E32-F67BC362DDC6}">
      <dgm:prSet/>
      <dgm:spPr/>
      <dgm:t>
        <a:bodyPr/>
        <a:lstStyle/>
        <a:p>
          <a:endParaRPr lang="en-SG"/>
        </a:p>
      </dgm:t>
    </dgm:pt>
    <dgm:pt modelId="{EE5F1C29-E351-4C9F-82C7-32D391D1F35C}" type="sibTrans" cxnId="{AC2AD788-340E-48F7-8E32-F67BC362DDC6}">
      <dgm:prSet/>
      <dgm:spPr/>
      <dgm:t>
        <a:bodyPr/>
        <a:lstStyle/>
        <a:p>
          <a:endParaRPr lang="en-SG"/>
        </a:p>
      </dgm:t>
    </dgm:pt>
    <dgm:pt modelId="{BC3F6D89-75E8-4F2A-ADA0-095AA979D2B6}">
      <dgm:prSet custT="1"/>
      <dgm:spPr/>
      <dgm:t>
        <a:bodyPr/>
        <a:lstStyle/>
        <a:p>
          <a:pPr>
            <a:buFont typeface="Wingdings" panose="05000000000000000000" pitchFamily="2" charset="2"/>
            <a:buChar char="Ø"/>
          </a:pPr>
          <a:r>
            <a:rPr lang="en-SG" sz="1400" b="0" dirty="0"/>
            <a:t> What to do</a:t>
          </a:r>
        </a:p>
      </dgm:t>
    </dgm:pt>
    <dgm:pt modelId="{9FB7303D-5F30-453B-A513-961EBA3DA4D5}" type="parTrans" cxnId="{8A7ABBFE-FE28-4297-A8DF-9AC28A97D4B9}">
      <dgm:prSet/>
      <dgm:spPr/>
      <dgm:t>
        <a:bodyPr/>
        <a:lstStyle/>
        <a:p>
          <a:endParaRPr lang="en-SG"/>
        </a:p>
      </dgm:t>
    </dgm:pt>
    <dgm:pt modelId="{BC180B7F-8067-44A9-83AF-21BC2774CD0E}" type="sibTrans" cxnId="{8A7ABBFE-FE28-4297-A8DF-9AC28A97D4B9}">
      <dgm:prSet/>
      <dgm:spPr/>
      <dgm:t>
        <a:bodyPr/>
        <a:lstStyle/>
        <a:p>
          <a:endParaRPr lang="en-SG"/>
        </a:p>
      </dgm:t>
    </dgm:pt>
    <dgm:pt modelId="{6F59AB14-636D-4442-ABF2-11A74EB27B54}" type="pres">
      <dgm:prSet presAssocID="{F0BBA99E-262E-4B87-BFF0-5EE3BD3A8439}" presName="linear" presStyleCnt="0">
        <dgm:presLayoutVars>
          <dgm:dir/>
          <dgm:animLvl val="lvl"/>
          <dgm:resizeHandles val="exact"/>
        </dgm:presLayoutVars>
      </dgm:prSet>
      <dgm:spPr/>
    </dgm:pt>
    <dgm:pt modelId="{0C78273E-5204-4341-8223-4CB4C95C8A21}" type="pres">
      <dgm:prSet presAssocID="{A4BE8C65-9CA8-434F-9CE2-9C6128E5E6FE}" presName="parentLin" presStyleCnt="0"/>
      <dgm:spPr/>
    </dgm:pt>
    <dgm:pt modelId="{C33D52B8-7C35-4AC8-87A0-957D11D3BF68}" type="pres">
      <dgm:prSet presAssocID="{A4BE8C65-9CA8-434F-9CE2-9C6128E5E6FE}" presName="parentLeftMargin" presStyleLbl="node1" presStyleIdx="0" presStyleCnt="6"/>
      <dgm:spPr/>
    </dgm:pt>
    <dgm:pt modelId="{36E764A6-17A1-4966-B4DA-101E4459E36D}" type="pres">
      <dgm:prSet presAssocID="{A4BE8C65-9CA8-434F-9CE2-9C6128E5E6FE}" presName="parentText" presStyleLbl="node1" presStyleIdx="0" presStyleCnt="6">
        <dgm:presLayoutVars>
          <dgm:chMax val="0"/>
          <dgm:bulletEnabled val="1"/>
        </dgm:presLayoutVars>
      </dgm:prSet>
      <dgm:spPr/>
    </dgm:pt>
    <dgm:pt modelId="{8F6E8530-7D72-4450-84C1-D7AF92E34B39}" type="pres">
      <dgm:prSet presAssocID="{A4BE8C65-9CA8-434F-9CE2-9C6128E5E6FE}" presName="negativeSpace" presStyleCnt="0"/>
      <dgm:spPr/>
    </dgm:pt>
    <dgm:pt modelId="{D403DCA9-27B9-4485-9EF2-7672F3A9D815}" type="pres">
      <dgm:prSet presAssocID="{A4BE8C65-9CA8-434F-9CE2-9C6128E5E6FE}" presName="childText" presStyleLbl="conFgAcc1" presStyleIdx="0" presStyleCnt="6">
        <dgm:presLayoutVars>
          <dgm:bulletEnabled val="1"/>
        </dgm:presLayoutVars>
      </dgm:prSet>
      <dgm:spPr/>
    </dgm:pt>
    <dgm:pt modelId="{0927ACBA-429A-4D36-B318-2F04E0D50DE0}" type="pres">
      <dgm:prSet presAssocID="{C6B6C62D-AF44-4FF7-8C30-51320AD1CAA9}" presName="spaceBetweenRectangles" presStyleCnt="0"/>
      <dgm:spPr/>
    </dgm:pt>
    <dgm:pt modelId="{6DD630DD-993A-4C18-A2DC-C3A13AE4BC78}" type="pres">
      <dgm:prSet presAssocID="{A285F837-A9EB-4AF5-92F2-78AB5F9D1E79}" presName="parentLin" presStyleCnt="0"/>
      <dgm:spPr/>
    </dgm:pt>
    <dgm:pt modelId="{9D2F753B-1C88-4ED5-86E0-A5ED90B7C3A9}" type="pres">
      <dgm:prSet presAssocID="{A285F837-A9EB-4AF5-92F2-78AB5F9D1E79}" presName="parentLeftMargin" presStyleLbl="node1" presStyleIdx="0" presStyleCnt="6"/>
      <dgm:spPr/>
    </dgm:pt>
    <dgm:pt modelId="{0F89FA63-9572-4E2E-A99D-6E4F146A4869}" type="pres">
      <dgm:prSet presAssocID="{A285F837-A9EB-4AF5-92F2-78AB5F9D1E79}" presName="parentText" presStyleLbl="node1" presStyleIdx="1" presStyleCnt="6">
        <dgm:presLayoutVars>
          <dgm:chMax val="0"/>
          <dgm:bulletEnabled val="1"/>
        </dgm:presLayoutVars>
      </dgm:prSet>
      <dgm:spPr/>
    </dgm:pt>
    <dgm:pt modelId="{7FD03C03-401F-418B-97EE-21BB60F82F14}" type="pres">
      <dgm:prSet presAssocID="{A285F837-A9EB-4AF5-92F2-78AB5F9D1E79}" presName="negativeSpace" presStyleCnt="0"/>
      <dgm:spPr/>
    </dgm:pt>
    <dgm:pt modelId="{E6739AA9-A3F5-4776-953F-276D1191D144}" type="pres">
      <dgm:prSet presAssocID="{A285F837-A9EB-4AF5-92F2-78AB5F9D1E79}" presName="childText" presStyleLbl="conFgAcc1" presStyleIdx="1" presStyleCnt="6">
        <dgm:presLayoutVars>
          <dgm:bulletEnabled val="1"/>
        </dgm:presLayoutVars>
      </dgm:prSet>
      <dgm:spPr/>
    </dgm:pt>
    <dgm:pt modelId="{CC53E5C4-5DD0-4238-B1E0-7877DA2E32B9}" type="pres">
      <dgm:prSet presAssocID="{0DC4A81C-E995-40F2-86DA-10E325F07AC2}" presName="spaceBetweenRectangles" presStyleCnt="0"/>
      <dgm:spPr/>
    </dgm:pt>
    <dgm:pt modelId="{55E8CD4F-BC0B-4D6C-8015-184622178EFE}" type="pres">
      <dgm:prSet presAssocID="{EE8644FA-9679-49CB-AC86-EAB6DEA95994}" presName="parentLin" presStyleCnt="0"/>
      <dgm:spPr/>
    </dgm:pt>
    <dgm:pt modelId="{55B21E20-0099-4B02-8ED4-E17FE943A112}" type="pres">
      <dgm:prSet presAssocID="{EE8644FA-9679-49CB-AC86-EAB6DEA95994}" presName="parentLeftMargin" presStyleLbl="node1" presStyleIdx="1" presStyleCnt="6"/>
      <dgm:spPr/>
    </dgm:pt>
    <dgm:pt modelId="{337C172A-0F11-46C7-9F36-39E1B31326BF}" type="pres">
      <dgm:prSet presAssocID="{EE8644FA-9679-49CB-AC86-EAB6DEA95994}" presName="parentText" presStyleLbl="node1" presStyleIdx="2" presStyleCnt="6">
        <dgm:presLayoutVars>
          <dgm:chMax val="0"/>
          <dgm:bulletEnabled val="1"/>
        </dgm:presLayoutVars>
      </dgm:prSet>
      <dgm:spPr/>
    </dgm:pt>
    <dgm:pt modelId="{2B8CF1A7-3DB4-4EE6-8145-F7EA55451A4D}" type="pres">
      <dgm:prSet presAssocID="{EE8644FA-9679-49CB-AC86-EAB6DEA95994}" presName="negativeSpace" presStyleCnt="0"/>
      <dgm:spPr/>
    </dgm:pt>
    <dgm:pt modelId="{E11EC25D-5807-4290-B496-C3ADAF1B2514}" type="pres">
      <dgm:prSet presAssocID="{EE8644FA-9679-49CB-AC86-EAB6DEA95994}" presName="childText" presStyleLbl="conFgAcc1" presStyleIdx="2" presStyleCnt="6">
        <dgm:presLayoutVars>
          <dgm:bulletEnabled val="1"/>
        </dgm:presLayoutVars>
      </dgm:prSet>
      <dgm:spPr/>
    </dgm:pt>
    <dgm:pt modelId="{228CC6C3-009F-4E51-8E9E-F63EE8E04827}" type="pres">
      <dgm:prSet presAssocID="{4D1F425F-60A2-4FC7-8459-2973CF0E943B}" presName="spaceBetweenRectangles" presStyleCnt="0"/>
      <dgm:spPr/>
    </dgm:pt>
    <dgm:pt modelId="{7E6FD910-3053-4BB8-9DF6-BA682A79A1D8}" type="pres">
      <dgm:prSet presAssocID="{FEBAD130-8E34-408A-9AAD-41B9D3E9599D}" presName="parentLin" presStyleCnt="0"/>
      <dgm:spPr/>
    </dgm:pt>
    <dgm:pt modelId="{309FA988-0C54-4BCC-8D44-0B59CF387622}" type="pres">
      <dgm:prSet presAssocID="{FEBAD130-8E34-408A-9AAD-41B9D3E9599D}" presName="parentLeftMargin" presStyleLbl="node1" presStyleIdx="2" presStyleCnt="6"/>
      <dgm:spPr/>
    </dgm:pt>
    <dgm:pt modelId="{3ED1DD18-467D-4FA5-887D-22B85F20B566}" type="pres">
      <dgm:prSet presAssocID="{FEBAD130-8E34-408A-9AAD-41B9D3E9599D}" presName="parentText" presStyleLbl="node1" presStyleIdx="3" presStyleCnt="6">
        <dgm:presLayoutVars>
          <dgm:chMax val="0"/>
          <dgm:bulletEnabled val="1"/>
        </dgm:presLayoutVars>
      </dgm:prSet>
      <dgm:spPr/>
    </dgm:pt>
    <dgm:pt modelId="{AA88AF13-FB53-4D69-9C44-1CBDE06D9EFF}" type="pres">
      <dgm:prSet presAssocID="{FEBAD130-8E34-408A-9AAD-41B9D3E9599D}" presName="negativeSpace" presStyleCnt="0"/>
      <dgm:spPr/>
    </dgm:pt>
    <dgm:pt modelId="{CD59ACE8-7D59-4F3D-BA52-17F554211FC1}" type="pres">
      <dgm:prSet presAssocID="{FEBAD130-8E34-408A-9AAD-41B9D3E9599D}" presName="childText" presStyleLbl="conFgAcc1" presStyleIdx="3" presStyleCnt="6">
        <dgm:presLayoutVars>
          <dgm:bulletEnabled val="1"/>
        </dgm:presLayoutVars>
      </dgm:prSet>
      <dgm:spPr/>
    </dgm:pt>
    <dgm:pt modelId="{94910F57-1029-4CB2-99AB-7741B873C071}" type="pres">
      <dgm:prSet presAssocID="{6FA30B2F-F78B-42DD-A949-9D2CF05F80AC}" presName="spaceBetweenRectangles" presStyleCnt="0"/>
      <dgm:spPr/>
    </dgm:pt>
    <dgm:pt modelId="{E97B66CF-E0A7-4523-A1F5-C237C06C0CEC}" type="pres">
      <dgm:prSet presAssocID="{E040C8B7-CA81-4FA2-AC8C-9900EF256F06}" presName="parentLin" presStyleCnt="0"/>
      <dgm:spPr/>
    </dgm:pt>
    <dgm:pt modelId="{922B565B-26CD-4E35-AB97-9EECC0D6AC6D}" type="pres">
      <dgm:prSet presAssocID="{E040C8B7-CA81-4FA2-AC8C-9900EF256F06}" presName="parentLeftMargin" presStyleLbl="node1" presStyleIdx="3" presStyleCnt="6"/>
      <dgm:spPr/>
    </dgm:pt>
    <dgm:pt modelId="{5A467C53-D8CA-4623-B69F-62B06F4C19F3}" type="pres">
      <dgm:prSet presAssocID="{E040C8B7-CA81-4FA2-AC8C-9900EF256F06}" presName="parentText" presStyleLbl="node1" presStyleIdx="4" presStyleCnt="6">
        <dgm:presLayoutVars>
          <dgm:chMax val="0"/>
          <dgm:bulletEnabled val="1"/>
        </dgm:presLayoutVars>
      </dgm:prSet>
      <dgm:spPr/>
    </dgm:pt>
    <dgm:pt modelId="{F29F1FE8-CDBE-45DB-A6B6-9E70A23CB357}" type="pres">
      <dgm:prSet presAssocID="{E040C8B7-CA81-4FA2-AC8C-9900EF256F06}" presName="negativeSpace" presStyleCnt="0"/>
      <dgm:spPr/>
    </dgm:pt>
    <dgm:pt modelId="{6E44D9C8-612D-48C4-A1F5-B35EB236BF5C}" type="pres">
      <dgm:prSet presAssocID="{E040C8B7-CA81-4FA2-AC8C-9900EF256F06}" presName="childText" presStyleLbl="conFgAcc1" presStyleIdx="4" presStyleCnt="6">
        <dgm:presLayoutVars>
          <dgm:bulletEnabled val="1"/>
        </dgm:presLayoutVars>
      </dgm:prSet>
      <dgm:spPr/>
    </dgm:pt>
    <dgm:pt modelId="{754318AA-1D0C-4447-ABCD-937CC2FFE22F}" type="pres">
      <dgm:prSet presAssocID="{8AEE597C-9724-4E54-86BC-A448A0361432}" presName="spaceBetweenRectangles" presStyleCnt="0"/>
      <dgm:spPr/>
    </dgm:pt>
    <dgm:pt modelId="{7CA52C77-5982-461C-8AC2-9E6C820471DF}" type="pres">
      <dgm:prSet presAssocID="{FB84BA6A-9853-42E3-B219-6022258D6DA6}" presName="parentLin" presStyleCnt="0"/>
      <dgm:spPr/>
    </dgm:pt>
    <dgm:pt modelId="{6B8DEA0A-943A-4F2E-BD2B-33F76A3C827D}" type="pres">
      <dgm:prSet presAssocID="{FB84BA6A-9853-42E3-B219-6022258D6DA6}" presName="parentLeftMargin" presStyleLbl="node1" presStyleIdx="4" presStyleCnt="6"/>
      <dgm:spPr/>
    </dgm:pt>
    <dgm:pt modelId="{9DC5AA42-6927-4832-9974-F6DC3FB81FC2}" type="pres">
      <dgm:prSet presAssocID="{FB84BA6A-9853-42E3-B219-6022258D6DA6}" presName="parentText" presStyleLbl="node1" presStyleIdx="5" presStyleCnt="6">
        <dgm:presLayoutVars>
          <dgm:chMax val="0"/>
          <dgm:bulletEnabled val="1"/>
        </dgm:presLayoutVars>
      </dgm:prSet>
      <dgm:spPr/>
    </dgm:pt>
    <dgm:pt modelId="{22BEDFD8-9B78-4CCE-A706-5B3354E84187}" type="pres">
      <dgm:prSet presAssocID="{FB84BA6A-9853-42E3-B219-6022258D6DA6}" presName="negativeSpace" presStyleCnt="0"/>
      <dgm:spPr/>
    </dgm:pt>
    <dgm:pt modelId="{82006A64-2BCC-4777-9043-F35E04E73746}" type="pres">
      <dgm:prSet presAssocID="{FB84BA6A-9853-42E3-B219-6022258D6DA6}" presName="childText" presStyleLbl="conFgAcc1" presStyleIdx="5" presStyleCnt="6">
        <dgm:presLayoutVars>
          <dgm:bulletEnabled val="1"/>
        </dgm:presLayoutVars>
      </dgm:prSet>
      <dgm:spPr/>
    </dgm:pt>
  </dgm:ptLst>
  <dgm:cxnLst>
    <dgm:cxn modelId="{421C5006-6ED4-4D5F-9E26-B11C52AE9B54}" srcId="{F0BBA99E-262E-4B87-BFF0-5EE3BD3A8439}" destId="{EE8644FA-9679-49CB-AC86-EAB6DEA95994}" srcOrd="2" destOrd="0" parTransId="{3F89D2C2-B44C-45B3-BC48-EB0F2B2A8E77}" sibTransId="{4D1F425F-60A2-4FC7-8459-2973CF0E943B}"/>
    <dgm:cxn modelId="{7EE06707-9505-47B2-BB7B-DA2E10A943B6}" srcId="{F0BBA99E-262E-4B87-BFF0-5EE3BD3A8439}" destId="{FEBAD130-8E34-408A-9AAD-41B9D3E9599D}" srcOrd="3" destOrd="0" parTransId="{2341A78A-B5AA-45D2-AAA0-4D1050E32AA3}" sibTransId="{6FA30B2F-F78B-42DD-A949-9D2CF05F80AC}"/>
    <dgm:cxn modelId="{A9817F08-B1D0-4916-9716-380E3C13B375}" srcId="{F0BBA99E-262E-4B87-BFF0-5EE3BD3A8439}" destId="{E040C8B7-CA81-4FA2-AC8C-9900EF256F06}" srcOrd="4" destOrd="0" parTransId="{B2B3BA69-5914-4A6A-A5C9-11B4E4673DAA}" sibTransId="{8AEE597C-9724-4E54-86BC-A448A0361432}"/>
    <dgm:cxn modelId="{BC932C28-06F4-4AB3-9E8E-7C253266E709}" type="presOf" srcId="{A4BE8C65-9CA8-434F-9CE2-9C6128E5E6FE}" destId="{36E764A6-17A1-4966-B4DA-101E4459E36D}" srcOrd="1" destOrd="0" presId="urn:microsoft.com/office/officeart/2005/8/layout/list1"/>
    <dgm:cxn modelId="{9802EA29-CD2C-4863-8A60-EDD64EE2754A}" type="presOf" srcId="{4AA84EC1-56DD-43A8-B44B-3BC93BAEC65B}" destId="{E6739AA9-A3F5-4776-953F-276D1191D144}" srcOrd="0" destOrd="0" presId="urn:microsoft.com/office/officeart/2005/8/layout/list1"/>
    <dgm:cxn modelId="{9530EB2D-E6E5-4DB5-B4F9-3BD282A970BF}" type="presOf" srcId="{EE8644FA-9679-49CB-AC86-EAB6DEA95994}" destId="{55B21E20-0099-4B02-8ED4-E17FE943A112}" srcOrd="0" destOrd="0" presId="urn:microsoft.com/office/officeart/2005/8/layout/list1"/>
    <dgm:cxn modelId="{E0F5613A-EBC0-4B2C-B817-E7883B00C9BC}" type="presOf" srcId="{FB84BA6A-9853-42E3-B219-6022258D6DA6}" destId="{6B8DEA0A-943A-4F2E-BD2B-33F76A3C827D}" srcOrd="0" destOrd="0" presId="urn:microsoft.com/office/officeart/2005/8/layout/list1"/>
    <dgm:cxn modelId="{99BC945E-9650-42CA-9341-7FFEF42A63AC}" srcId="{FEBAD130-8E34-408A-9AAD-41B9D3E9599D}" destId="{AE994D97-826F-47E4-9EB5-D85E01860CCC}" srcOrd="0" destOrd="0" parTransId="{70DA05DF-CCA5-4655-847E-2C268AAA0205}" sibTransId="{68C8CB56-E16C-4998-B921-7EB4689CA8FD}"/>
    <dgm:cxn modelId="{2A8ED861-4855-4CA5-A1CB-E20D629F75EA}" srcId="{F0BBA99E-262E-4B87-BFF0-5EE3BD3A8439}" destId="{A4BE8C65-9CA8-434F-9CE2-9C6128E5E6FE}" srcOrd="0" destOrd="0" parTransId="{43654CD3-B29E-47CD-BD21-EF9A2CF70175}" sibTransId="{C6B6C62D-AF44-4FF7-8C30-51320AD1CAA9}"/>
    <dgm:cxn modelId="{2C06E563-57F1-4436-A26B-2EFEB0F61EF5}" srcId="{A285F837-A9EB-4AF5-92F2-78AB5F9D1E79}" destId="{4AA84EC1-56DD-43A8-B44B-3BC93BAEC65B}" srcOrd="0" destOrd="0" parTransId="{BCDC8D2B-C423-4AF2-BB55-211D05967D05}" sibTransId="{A06959F8-3FDA-4B41-9185-FA4AA1B6D1C3}"/>
    <dgm:cxn modelId="{53D00168-21D0-464C-83B1-490B008FF2AC}" type="presOf" srcId="{FB84BA6A-9853-42E3-B219-6022258D6DA6}" destId="{9DC5AA42-6927-4832-9974-F6DC3FB81FC2}" srcOrd="1" destOrd="0" presId="urn:microsoft.com/office/officeart/2005/8/layout/list1"/>
    <dgm:cxn modelId="{06B2364D-8D9D-47A1-84DA-4F8DEEC43768}" type="presOf" srcId="{A4BE8C65-9CA8-434F-9CE2-9C6128E5E6FE}" destId="{C33D52B8-7C35-4AC8-87A0-957D11D3BF68}" srcOrd="0" destOrd="0" presId="urn:microsoft.com/office/officeart/2005/8/layout/list1"/>
    <dgm:cxn modelId="{FDB0586D-8BA6-46CB-9FC0-C85416B036D0}" type="presOf" srcId="{AE994D97-826F-47E4-9EB5-D85E01860CCC}" destId="{CD59ACE8-7D59-4F3D-BA52-17F554211FC1}" srcOrd="0" destOrd="0" presId="urn:microsoft.com/office/officeart/2005/8/layout/list1"/>
    <dgm:cxn modelId="{82754355-7380-4B40-943E-62C2BEF98B43}" srcId="{EE8644FA-9679-49CB-AC86-EAB6DEA95994}" destId="{0DA4256D-B774-404C-9357-5A5382009471}" srcOrd="0" destOrd="0" parTransId="{74072D1A-F789-403C-814D-F12A2CBA3E6F}" sibTransId="{64E6DE71-ACC0-4818-975B-197B7311C714}"/>
    <dgm:cxn modelId="{4271B779-5E7E-4E09-94ED-F3B3DE24A2D8}" type="presOf" srcId="{0DA4256D-B774-404C-9357-5A5382009471}" destId="{E11EC25D-5807-4290-B496-C3ADAF1B2514}" srcOrd="0" destOrd="0" presId="urn:microsoft.com/office/officeart/2005/8/layout/list1"/>
    <dgm:cxn modelId="{86C1E383-6F44-4B3C-8E39-6B5C8EE5E431}" type="presOf" srcId="{FEBAD130-8E34-408A-9AAD-41B9D3E9599D}" destId="{3ED1DD18-467D-4FA5-887D-22B85F20B566}" srcOrd="1" destOrd="0" presId="urn:microsoft.com/office/officeart/2005/8/layout/list1"/>
    <dgm:cxn modelId="{888C2188-DC66-4C24-9FCE-8D625D8D336C}" srcId="{A4BE8C65-9CA8-434F-9CE2-9C6128E5E6FE}" destId="{634F0BA8-AB35-4B7D-99DA-A317E5D02F71}" srcOrd="0" destOrd="0" parTransId="{583BB45A-D498-4FB0-9E95-D54CB12B7585}" sibTransId="{6E7BE6D5-1C9D-4361-92FC-7466C13B012E}"/>
    <dgm:cxn modelId="{AC2AD788-340E-48F7-8E32-F67BC362DDC6}" srcId="{E040C8B7-CA81-4FA2-AC8C-9900EF256F06}" destId="{D8C7BD97-3A9A-4D7F-8D32-0055C1CE9B14}" srcOrd="0" destOrd="0" parTransId="{2F9F70BA-4980-4183-AA18-A368522216F6}" sibTransId="{EE5F1C29-E351-4C9F-82C7-32D391D1F35C}"/>
    <dgm:cxn modelId="{8048BD93-5253-49D7-BD93-028557668721}" type="presOf" srcId="{E040C8B7-CA81-4FA2-AC8C-9900EF256F06}" destId="{922B565B-26CD-4E35-AB97-9EECC0D6AC6D}" srcOrd="0" destOrd="0" presId="urn:microsoft.com/office/officeart/2005/8/layout/list1"/>
    <dgm:cxn modelId="{4798F394-8078-4F8A-B773-087639F8F924}" type="presOf" srcId="{BC3F6D89-75E8-4F2A-ADA0-095AA979D2B6}" destId="{82006A64-2BCC-4777-9043-F35E04E73746}" srcOrd="0" destOrd="0" presId="urn:microsoft.com/office/officeart/2005/8/layout/list1"/>
    <dgm:cxn modelId="{034F249A-1059-4581-9BD7-0696BD79504E}" type="presOf" srcId="{F0BBA99E-262E-4B87-BFF0-5EE3BD3A8439}" destId="{6F59AB14-636D-4442-ABF2-11A74EB27B54}" srcOrd="0" destOrd="0" presId="urn:microsoft.com/office/officeart/2005/8/layout/list1"/>
    <dgm:cxn modelId="{DD3558B8-AE3A-40B0-9BD3-2D3040E6016D}" type="presOf" srcId="{A285F837-A9EB-4AF5-92F2-78AB5F9D1E79}" destId="{0F89FA63-9572-4E2E-A99D-6E4F146A4869}" srcOrd="1" destOrd="0" presId="urn:microsoft.com/office/officeart/2005/8/layout/list1"/>
    <dgm:cxn modelId="{35D7A1C2-093E-49A3-919D-AE7A652A977A}" type="presOf" srcId="{FEBAD130-8E34-408A-9AAD-41B9D3E9599D}" destId="{309FA988-0C54-4BCC-8D44-0B59CF387622}" srcOrd="0" destOrd="0" presId="urn:microsoft.com/office/officeart/2005/8/layout/list1"/>
    <dgm:cxn modelId="{CAC1B5CE-99BD-4E70-8B9B-2C41152BE5DE}" srcId="{F0BBA99E-262E-4B87-BFF0-5EE3BD3A8439}" destId="{FB84BA6A-9853-42E3-B219-6022258D6DA6}" srcOrd="5" destOrd="0" parTransId="{4F887E94-9007-4EF0-89C8-674050DD60CB}" sibTransId="{AEE345D0-F89E-44FD-83FC-A7292420E81B}"/>
    <dgm:cxn modelId="{916847D1-534E-48A3-B532-34484EF6FA1A}" type="presOf" srcId="{EE8644FA-9679-49CB-AC86-EAB6DEA95994}" destId="{337C172A-0F11-46C7-9F36-39E1B31326BF}" srcOrd="1" destOrd="0" presId="urn:microsoft.com/office/officeart/2005/8/layout/list1"/>
    <dgm:cxn modelId="{FC3BC0E9-4590-49B9-AD7A-B21EEE1EC765}" srcId="{F0BBA99E-262E-4B87-BFF0-5EE3BD3A8439}" destId="{A285F837-A9EB-4AF5-92F2-78AB5F9D1E79}" srcOrd="1" destOrd="0" parTransId="{7C89892D-9E5A-4010-93C7-DE61A1D8849D}" sibTransId="{0DC4A81C-E995-40F2-86DA-10E325F07AC2}"/>
    <dgm:cxn modelId="{4FF385F0-3A32-4E53-9D52-BDDBC7FF28E9}" type="presOf" srcId="{E040C8B7-CA81-4FA2-AC8C-9900EF256F06}" destId="{5A467C53-D8CA-4623-B69F-62B06F4C19F3}" srcOrd="1" destOrd="0" presId="urn:microsoft.com/office/officeart/2005/8/layout/list1"/>
    <dgm:cxn modelId="{F45C2BF2-2D02-43B8-93CE-227D0148503F}" type="presOf" srcId="{634F0BA8-AB35-4B7D-99DA-A317E5D02F71}" destId="{D403DCA9-27B9-4485-9EF2-7672F3A9D815}" srcOrd="0" destOrd="0" presId="urn:microsoft.com/office/officeart/2005/8/layout/list1"/>
    <dgm:cxn modelId="{BEB4D3F5-7378-4717-8FCC-4B6B11413731}" type="presOf" srcId="{A285F837-A9EB-4AF5-92F2-78AB5F9D1E79}" destId="{9D2F753B-1C88-4ED5-86E0-A5ED90B7C3A9}" srcOrd="0" destOrd="0" presId="urn:microsoft.com/office/officeart/2005/8/layout/list1"/>
    <dgm:cxn modelId="{335A38FC-9AD0-4010-A2D1-05AB13CAC3E4}" type="presOf" srcId="{D8C7BD97-3A9A-4D7F-8D32-0055C1CE9B14}" destId="{6E44D9C8-612D-48C4-A1F5-B35EB236BF5C}" srcOrd="0" destOrd="0" presId="urn:microsoft.com/office/officeart/2005/8/layout/list1"/>
    <dgm:cxn modelId="{8A7ABBFE-FE28-4297-A8DF-9AC28A97D4B9}" srcId="{FB84BA6A-9853-42E3-B219-6022258D6DA6}" destId="{BC3F6D89-75E8-4F2A-ADA0-095AA979D2B6}" srcOrd="0" destOrd="0" parTransId="{9FB7303D-5F30-453B-A513-961EBA3DA4D5}" sibTransId="{BC180B7F-8067-44A9-83AF-21BC2774CD0E}"/>
    <dgm:cxn modelId="{302F054B-7C49-4145-8B59-15B55DECEC56}" type="presParOf" srcId="{6F59AB14-636D-4442-ABF2-11A74EB27B54}" destId="{0C78273E-5204-4341-8223-4CB4C95C8A21}" srcOrd="0" destOrd="0" presId="urn:microsoft.com/office/officeart/2005/8/layout/list1"/>
    <dgm:cxn modelId="{488ECF46-BE94-40DB-975A-F8197DA7A061}" type="presParOf" srcId="{0C78273E-5204-4341-8223-4CB4C95C8A21}" destId="{C33D52B8-7C35-4AC8-87A0-957D11D3BF68}" srcOrd="0" destOrd="0" presId="urn:microsoft.com/office/officeart/2005/8/layout/list1"/>
    <dgm:cxn modelId="{4996FCC0-EE40-4B4F-8695-D1B981882E55}" type="presParOf" srcId="{0C78273E-5204-4341-8223-4CB4C95C8A21}" destId="{36E764A6-17A1-4966-B4DA-101E4459E36D}" srcOrd="1" destOrd="0" presId="urn:microsoft.com/office/officeart/2005/8/layout/list1"/>
    <dgm:cxn modelId="{12B414BF-75B5-427A-B436-9FA949AE3576}" type="presParOf" srcId="{6F59AB14-636D-4442-ABF2-11A74EB27B54}" destId="{8F6E8530-7D72-4450-84C1-D7AF92E34B39}" srcOrd="1" destOrd="0" presId="urn:microsoft.com/office/officeart/2005/8/layout/list1"/>
    <dgm:cxn modelId="{6A1C8961-4311-4549-890E-AC95603714CF}" type="presParOf" srcId="{6F59AB14-636D-4442-ABF2-11A74EB27B54}" destId="{D403DCA9-27B9-4485-9EF2-7672F3A9D815}" srcOrd="2" destOrd="0" presId="urn:microsoft.com/office/officeart/2005/8/layout/list1"/>
    <dgm:cxn modelId="{31619434-3B2C-48B6-AE15-E8F8E8933F92}" type="presParOf" srcId="{6F59AB14-636D-4442-ABF2-11A74EB27B54}" destId="{0927ACBA-429A-4D36-B318-2F04E0D50DE0}" srcOrd="3" destOrd="0" presId="urn:microsoft.com/office/officeart/2005/8/layout/list1"/>
    <dgm:cxn modelId="{D8C82996-F533-48E8-9CB3-B8800FC29191}" type="presParOf" srcId="{6F59AB14-636D-4442-ABF2-11A74EB27B54}" destId="{6DD630DD-993A-4C18-A2DC-C3A13AE4BC78}" srcOrd="4" destOrd="0" presId="urn:microsoft.com/office/officeart/2005/8/layout/list1"/>
    <dgm:cxn modelId="{9F914273-2B6B-44E6-9478-7835F1098444}" type="presParOf" srcId="{6DD630DD-993A-4C18-A2DC-C3A13AE4BC78}" destId="{9D2F753B-1C88-4ED5-86E0-A5ED90B7C3A9}" srcOrd="0" destOrd="0" presId="urn:microsoft.com/office/officeart/2005/8/layout/list1"/>
    <dgm:cxn modelId="{3F65BBF7-D4BA-45A8-9438-52C420E72707}" type="presParOf" srcId="{6DD630DD-993A-4C18-A2DC-C3A13AE4BC78}" destId="{0F89FA63-9572-4E2E-A99D-6E4F146A4869}" srcOrd="1" destOrd="0" presId="urn:microsoft.com/office/officeart/2005/8/layout/list1"/>
    <dgm:cxn modelId="{37B3D246-8CB9-41FF-8ABC-885B798C6344}" type="presParOf" srcId="{6F59AB14-636D-4442-ABF2-11A74EB27B54}" destId="{7FD03C03-401F-418B-97EE-21BB60F82F14}" srcOrd="5" destOrd="0" presId="urn:microsoft.com/office/officeart/2005/8/layout/list1"/>
    <dgm:cxn modelId="{A3098822-F028-4616-BE03-0286FD539248}" type="presParOf" srcId="{6F59AB14-636D-4442-ABF2-11A74EB27B54}" destId="{E6739AA9-A3F5-4776-953F-276D1191D144}" srcOrd="6" destOrd="0" presId="urn:microsoft.com/office/officeart/2005/8/layout/list1"/>
    <dgm:cxn modelId="{1271B812-CD40-4C78-B402-F9454EDCB8C7}" type="presParOf" srcId="{6F59AB14-636D-4442-ABF2-11A74EB27B54}" destId="{CC53E5C4-5DD0-4238-B1E0-7877DA2E32B9}" srcOrd="7" destOrd="0" presId="urn:microsoft.com/office/officeart/2005/8/layout/list1"/>
    <dgm:cxn modelId="{1966F655-BF64-461F-827E-54FC31486F6C}" type="presParOf" srcId="{6F59AB14-636D-4442-ABF2-11A74EB27B54}" destId="{55E8CD4F-BC0B-4D6C-8015-184622178EFE}" srcOrd="8" destOrd="0" presId="urn:microsoft.com/office/officeart/2005/8/layout/list1"/>
    <dgm:cxn modelId="{0DDC93E5-F6C6-4143-AAE7-13CB98D85B2D}" type="presParOf" srcId="{55E8CD4F-BC0B-4D6C-8015-184622178EFE}" destId="{55B21E20-0099-4B02-8ED4-E17FE943A112}" srcOrd="0" destOrd="0" presId="urn:microsoft.com/office/officeart/2005/8/layout/list1"/>
    <dgm:cxn modelId="{72E729A1-E387-496A-A271-61214C2D16B5}" type="presParOf" srcId="{55E8CD4F-BC0B-4D6C-8015-184622178EFE}" destId="{337C172A-0F11-46C7-9F36-39E1B31326BF}" srcOrd="1" destOrd="0" presId="urn:microsoft.com/office/officeart/2005/8/layout/list1"/>
    <dgm:cxn modelId="{71B2137B-89D0-47FE-B513-B5B738864BE3}" type="presParOf" srcId="{6F59AB14-636D-4442-ABF2-11A74EB27B54}" destId="{2B8CF1A7-3DB4-4EE6-8145-F7EA55451A4D}" srcOrd="9" destOrd="0" presId="urn:microsoft.com/office/officeart/2005/8/layout/list1"/>
    <dgm:cxn modelId="{D65C3215-4A08-4B90-81AD-373981B5E7DB}" type="presParOf" srcId="{6F59AB14-636D-4442-ABF2-11A74EB27B54}" destId="{E11EC25D-5807-4290-B496-C3ADAF1B2514}" srcOrd="10" destOrd="0" presId="urn:microsoft.com/office/officeart/2005/8/layout/list1"/>
    <dgm:cxn modelId="{FE59031B-4BDF-44CF-92AB-FBFF4222BDA4}" type="presParOf" srcId="{6F59AB14-636D-4442-ABF2-11A74EB27B54}" destId="{228CC6C3-009F-4E51-8E9E-F63EE8E04827}" srcOrd="11" destOrd="0" presId="urn:microsoft.com/office/officeart/2005/8/layout/list1"/>
    <dgm:cxn modelId="{8BA3C7CA-CEE9-4486-925D-CCD8DFB4AE93}" type="presParOf" srcId="{6F59AB14-636D-4442-ABF2-11A74EB27B54}" destId="{7E6FD910-3053-4BB8-9DF6-BA682A79A1D8}" srcOrd="12" destOrd="0" presId="urn:microsoft.com/office/officeart/2005/8/layout/list1"/>
    <dgm:cxn modelId="{31747F83-51CF-4026-B5F4-A65507743EEA}" type="presParOf" srcId="{7E6FD910-3053-4BB8-9DF6-BA682A79A1D8}" destId="{309FA988-0C54-4BCC-8D44-0B59CF387622}" srcOrd="0" destOrd="0" presId="urn:microsoft.com/office/officeart/2005/8/layout/list1"/>
    <dgm:cxn modelId="{462ABF04-DE8A-4381-957F-65580C06CC1C}" type="presParOf" srcId="{7E6FD910-3053-4BB8-9DF6-BA682A79A1D8}" destId="{3ED1DD18-467D-4FA5-887D-22B85F20B566}" srcOrd="1" destOrd="0" presId="urn:microsoft.com/office/officeart/2005/8/layout/list1"/>
    <dgm:cxn modelId="{9A438267-B20C-43E3-8566-3B6BE08317B1}" type="presParOf" srcId="{6F59AB14-636D-4442-ABF2-11A74EB27B54}" destId="{AA88AF13-FB53-4D69-9C44-1CBDE06D9EFF}" srcOrd="13" destOrd="0" presId="urn:microsoft.com/office/officeart/2005/8/layout/list1"/>
    <dgm:cxn modelId="{D2071421-7D49-477C-A481-32F7B681F41A}" type="presParOf" srcId="{6F59AB14-636D-4442-ABF2-11A74EB27B54}" destId="{CD59ACE8-7D59-4F3D-BA52-17F554211FC1}" srcOrd="14" destOrd="0" presId="urn:microsoft.com/office/officeart/2005/8/layout/list1"/>
    <dgm:cxn modelId="{238446DF-595B-46EA-8394-47FF80B3ABAB}" type="presParOf" srcId="{6F59AB14-636D-4442-ABF2-11A74EB27B54}" destId="{94910F57-1029-4CB2-99AB-7741B873C071}" srcOrd="15" destOrd="0" presId="urn:microsoft.com/office/officeart/2005/8/layout/list1"/>
    <dgm:cxn modelId="{AD855089-A3B9-439C-9816-E4556B8B1D74}" type="presParOf" srcId="{6F59AB14-636D-4442-ABF2-11A74EB27B54}" destId="{E97B66CF-E0A7-4523-A1F5-C237C06C0CEC}" srcOrd="16" destOrd="0" presId="urn:microsoft.com/office/officeart/2005/8/layout/list1"/>
    <dgm:cxn modelId="{C56D432C-4FD4-46C3-A94F-0E101ED23195}" type="presParOf" srcId="{E97B66CF-E0A7-4523-A1F5-C237C06C0CEC}" destId="{922B565B-26CD-4E35-AB97-9EECC0D6AC6D}" srcOrd="0" destOrd="0" presId="urn:microsoft.com/office/officeart/2005/8/layout/list1"/>
    <dgm:cxn modelId="{55BB0FBF-1F87-4912-AB6B-E384B24F94A7}" type="presParOf" srcId="{E97B66CF-E0A7-4523-A1F5-C237C06C0CEC}" destId="{5A467C53-D8CA-4623-B69F-62B06F4C19F3}" srcOrd="1" destOrd="0" presId="urn:microsoft.com/office/officeart/2005/8/layout/list1"/>
    <dgm:cxn modelId="{C6FC68E7-7B5D-49B4-8FB4-375756553A30}" type="presParOf" srcId="{6F59AB14-636D-4442-ABF2-11A74EB27B54}" destId="{F29F1FE8-CDBE-45DB-A6B6-9E70A23CB357}" srcOrd="17" destOrd="0" presId="urn:microsoft.com/office/officeart/2005/8/layout/list1"/>
    <dgm:cxn modelId="{6473EFC0-6320-4468-B701-5683AAB72AD8}" type="presParOf" srcId="{6F59AB14-636D-4442-ABF2-11A74EB27B54}" destId="{6E44D9C8-612D-48C4-A1F5-B35EB236BF5C}" srcOrd="18" destOrd="0" presId="urn:microsoft.com/office/officeart/2005/8/layout/list1"/>
    <dgm:cxn modelId="{E88ACD05-8C62-491D-81BF-67DEE85C3B2F}" type="presParOf" srcId="{6F59AB14-636D-4442-ABF2-11A74EB27B54}" destId="{754318AA-1D0C-4447-ABCD-937CC2FFE22F}" srcOrd="19" destOrd="0" presId="urn:microsoft.com/office/officeart/2005/8/layout/list1"/>
    <dgm:cxn modelId="{58FF86E3-AA62-4F97-BED3-F07131DB77DC}" type="presParOf" srcId="{6F59AB14-636D-4442-ABF2-11A74EB27B54}" destId="{7CA52C77-5982-461C-8AC2-9E6C820471DF}" srcOrd="20" destOrd="0" presId="urn:microsoft.com/office/officeart/2005/8/layout/list1"/>
    <dgm:cxn modelId="{FFA894C3-61A4-4EBC-A6B4-CE9E55BAE99F}" type="presParOf" srcId="{7CA52C77-5982-461C-8AC2-9E6C820471DF}" destId="{6B8DEA0A-943A-4F2E-BD2B-33F76A3C827D}" srcOrd="0" destOrd="0" presId="urn:microsoft.com/office/officeart/2005/8/layout/list1"/>
    <dgm:cxn modelId="{13CAE4B4-F755-4E0E-82A1-51573C518202}" type="presParOf" srcId="{7CA52C77-5982-461C-8AC2-9E6C820471DF}" destId="{9DC5AA42-6927-4832-9974-F6DC3FB81FC2}" srcOrd="1" destOrd="0" presId="urn:microsoft.com/office/officeart/2005/8/layout/list1"/>
    <dgm:cxn modelId="{D8A2B8CA-F757-493F-BC28-49CF7E323A85}" type="presParOf" srcId="{6F59AB14-636D-4442-ABF2-11A74EB27B54}" destId="{22BEDFD8-9B78-4CCE-A706-5B3354E84187}" srcOrd="21" destOrd="0" presId="urn:microsoft.com/office/officeart/2005/8/layout/list1"/>
    <dgm:cxn modelId="{90CE8502-1B49-4311-A37C-6D2CB4E6F035}" type="presParOf" srcId="{6F59AB14-636D-4442-ABF2-11A74EB27B54}" destId="{82006A64-2BCC-4777-9043-F35E04E73746}" srcOrd="22" destOrd="0" presId="urn:microsoft.com/office/officeart/2005/8/layout/list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349DE399-23D9-49D2-9DC7-5A910169EAD0}" type="doc">
      <dgm:prSet loTypeId="urn:microsoft.com/office/officeart/2005/8/layout/list1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SG"/>
        </a:p>
      </dgm:t>
    </dgm:pt>
    <dgm:pt modelId="{E15FECA5-30D6-4625-B47A-8153420E66D8}">
      <dgm:prSet custT="1"/>
      <dgm:spPr/>
      <dgm:t>
        <a:bodyPr/>
        <a:lstStyle/>
        <a:p>
          <a:pPr>
            <a:buFont typeface="Wingdings" panose="05000000000000000000" pitchFamily="2" charset="2"/>
            <a:buNone/>
          </a:pPr>
          <a:r>
            <a:rPr lang="en-SG" sz="1400" b="1" dirty="0"/>
            <a:t>Rollout: Scale with holdout monitoring</a:t>
          </a:r>
        </a:p>
      </dgm:t>
    </dgm:pt>
    <dgm:pt modelId="{F14BE1AB-D653-4B64-980B-86D582E904C4}" type="parTrans" cxnId="{BF6FE7C6-F8A7-45E9-9F59-BB1DA09EE8A7}">
      <dgm:prSet/>
      <dgm:spPr/>
      <dgm:t>
        <a:bodyPr/>
        <a:lstStyle/>
        <a:p>
          <a:endParaRPr lang="en-SG"/>
        </a:p>
      </dgm:t>
    </dgm:pt>
    <dgm:pt modelId="{305EF0D4-61EE-4A6D-98E3-85819940A7C6}" type="sibTrans" cxnId="{BF6FE7C6-F8A7-45E9-9F59-BB1DA09EE8A7}">
      <dgm:prSet/>
      <dgm:spPr/>
      <dgm:t>
        <a:bodyPr/>
        <a:lstStyle/>
        <a:p>
          <a:endParaRPr lang="en-SG"/>
        </a:p>
      </dgm:t>
    </dgm:pt>
    <dgm:pt modelId="{8EB33104-D9F3-4D53-A914-670AA1E45747}">
      <dgm:prSet custT="1"/>
      <dgm:spPr/>
      <dgm:t>
        <a:bodyPr/>
        <a:lstStyle/>
        <a:p>
          <a:pPr>
            <a:buFont typeface="Wingdings" panose="05000000000000000000" pitchFamily="2" charset="2"/>
            <a:buChar char="Ø"/>
          </a:pPr>
          <a:r>
            <a:rPr lang="en-SG" sz="1400" b="1" dirty="0"/>
            <a:t> </a:t>
          </a:r>
          <a:r>
            <a:rPr lang="en-SG" sz="1400" b="0" dirty="0"/>
            <a:t>Incremental revenue per user (~$0.60) exceeds assumed cost per send ($0.05), implying strong margin. Break-even cost cap at ~$0.60.</a:t>
          </a:r>
        </a:p>
      </dgm:t>
    </dgm:pt>
    <dgm:pt modelId="{15B5FE86-97E0-4CF2-91F4-EB4EA846C22C}" type="parTrans" cxnId="{B68F4A73-4717-4C1B-A04F-2E9816FF2A5B}">
      <dgm:prSet/>
      <dgm:spPr/>
      <dgm:t>
        <a:bodyPr/>
        <a:lstStyle/>
        <a:p>
          <a:endParaRPr lang="en-SG"/>
        </a:p>
      </dgm:t>
    </dgm:pt>
    <dgm:pt modelId="{57154F96-E9CC-4E39-ABCD-A60F9594EC48}" type="sibTrans" cxnId="{B68F4A73-4717-4C1B-A04F-2E9816FF2A5B}">
      <dgm:prSet/>
      <dgm:spPr/>
      <dgm:t>
        <a:bodyPr/>
        <a:lstStyle/>
        <a:p>
          <a:endParaRPr lang="en-SG"/>
        </a:p>
      </dgm:t>
    </dgm:pt>
    <dgm:pt modelId="{DC5BB092-71E0-400B-BCB2-C56569729D80}">
      <dgm:prSet custT="1"/>
      <dgm:spPr/>
      <dgm:t>
        <a:bodyPr/>
        <a:lstStyle/>
        <a:p>
          <a:pPr>
            <a:buFont typeface="Wingdings" panose="05000000000000000000" pitchFamily="2" charset="2"/>
            <a:buNone/>
          </a:pPr>
          <a:r>
            <a:rPr lang="en-SG" sz="1400" b="1" dirty="0"/>
            <a:t>Measurement Rule: Use incrementality as the decision metric</a:t>
          </a:r>
        </a:p>
      </dgm:t>
    </dgm:pt>
    <dgm:pt modelId="{CB92CA03-3561-429F-A4D3-673A2173CEAE}" type="parTrans" cxnId="{EF8AD419-15B8-416C-924A-99250328F840}">
      <dgm:prSet/>
      <dgm:spPr/>
      <dgm:t>
        <a:bodyPr/>
        <a:lstStyle/>
        <a:p>
          <a:endParaRPr lang="en-SG"/>
        </a:p>
      </dgm:t>
    </dgm:pt>
    <dgm:pt modelId="{7B8A2AFC-89BF-4E18-A406-C0317E42B27B}" type="sibTrans" cxnId="{EF8AD419-15B8-416C-924A-99250328F840}">
      <dgm:prSet/>
      <dgm:spPr/>
      <dgm:t>
        <a:bodyPr/>
        <a:lstStyle/>
        <a:p>
          <a:endParaRPr lang="en-SG"/>
        </a:p>
      </dgm:t>
    </dgm:pt>
    <dgm:pt modelId="{DD31C33E-98CA-4AD6-BBA0-5ADDD2F67EC0}">
      <dgm:prSet custT="1"/>
      <dgm:spPr/>
      <dgm:t>
        <a:bodyPr/>
        <a:lstStyle/>
        <a:p>
          <a:pPr>
            <a:buFont typeface="Wingdings" panose="05000000000000000000" pitchFamily="2" charset="2"/>
            <a:buChar char="Ø"/>
          </a:pPr>
          <a:r>
            <a:rPr lang="en-SG" sz="1400" b="0" dirty="0"/>
            <a:t> Naive attribution overstates impact (~2×); only ~46% of conversions and ~48% of revenue are incremental.</a:t>
          </a:r>
        </a:p>
      </dgm:t>
    </dgm:pt>
    <dgm:pt modelId="{72256291-80F3-4E49-8A15-E6BF18D8A6AB}" type="parTrans" cxnId="{AB5B1EC1-3632-45DD-BEE2-D8DCCDCA2FDD}">
      <dgm:prSet/>
      <dgm:spPr/>
      <dgm:t>
        <a:bodyPr/>
        <a:lstStyle/>
        <a:p>
          <a:endParaRPr lang="en-SG"/>
        </a:p>
      </dgm:t>
    </dgm:pt>
    <dgm:pt modelId="{F8AB250B-A5D6-46E4-B19D-3ADD9E47F995}" type="sibTrans" cxnId="{AB5B1EC1-3632-45DD-BEE2-D8DCCDCA2FDD}">
      <dgm:prSet/>
      <dgm:spPr/>
      <dgm:t>
        <a:bodyPr/>
        <a:lstStyle/>
        <a:p>
          <a:endParaRPr lang="en-SG"/>
        </a:p>
      </dgm:t>
    </dgm:pt>
    <dgm:pt modelId="{DB96552C-2D53-49D2-8D90-E76A85981323}">
      <dgm:prSet custT="1"/>
      <dgm:spPr/>
      <dgm:t>
        <a:bodyPr/>
        <a:lstStyle/>
        <a:p>
          <a:pPr>
            <a:buNone/>
          </a:pPr>
          <a:r>
            <a:rPr lang="en-SG" sz="1400" b="1" dirty="0"/>
            <a:t>Targeting Priority: Prioritize highest-value segments first</a:t>
          </a:r>
        </a:p>
      </dgm:t>
    </dgm:pt>
    <dgm:pt modelId="{EFCCCCD6-962C-427A-B872-2550F0522C47}" type="parTrans" cxnId="{7E832322-EC53-49BA-8CF9-B4704E959E59}">
      <dgm:prSet/>
      <dgm:spPr/>
      <dgm:t>
        <a:bodyPr/>
        <a:lstStyle/>
        <a:p>
          <a:endParaRPr lang="en-SG"/>
        </a:p>
      </dgm:t>
    </dgm:pt>
    <dgm:pt modelId="{DD4D4728-97A6-4C2F-86EF-C012E2D24019}" type="sibTrans" cxnId="{7E832322-EC53-49BA-8CF9-B4704E959E59}">
      <dgm:prSet/>
      <dgm:spPr/>
      <dgm:t>
        <a:bodyPr/>
        <a:lstStyle/>
        <a:p>
          <a:endParaRPr lang="en-SG"/>
        </a:p>
      </dgm:t>
    </dgm:pt>
    <dgm:pt modelId="{82F82B97-9A2B-482D-9198-E5AF696C82EB}">
      <dgm:prSet custT="1"/>
      <dgm:spPr/>
      <dgm:t>
        <a:bodyPr/>
        <a:lstStyle/>
        <a:p>
          <a:pPr>
            <a:buFont typeface="Wingdings" panose="05000000000000000000" pitchFamily="2" charset="2"/>
            <a:buChar char="Ø"/>
          </a:pPr>
          <a:r>
            <a:rPr lang="en-SG" sz="1400" b="0" dirty="0"/>
            <a:t> Start with high historical-spend segments (~$0.94 net value per user), then expand based on marginal returns.</a:t>
          </a:r>
          <a:endParaRPr lang="en-SG" sz="1400" b="1" dirty="0"/>
        </a:p>
      </dgm:t>
    </dgm:pt>
    <dgm:pt modelId="{A2C6E84F-BCF5-4293-8E31-4F49F972F957}" type="parTrans" cxnId="{C0127078-1F33-48E6-9E81-894B99886FF0}">
      <dgm:prSet/>
      <dgm:spPr/>
      <dgm:t>
        <a:bodyPr/>
        <a:lstStyle/>
        <a:p>
          <a:endParaRPr lang="en-SG"/>
        </a:p>
      </dgm:t>
    </dgm:pt>
    <dgm:pt modelId="{BCE20A6F-0D33-47D0-9EC2-A7E958324E80}" type="sibTrans" cxnId="{C0127078-1F33-48E6-9E81-894B99886FF0}">
      <dgm:prSet/>
      <dgm:spPr/>
      <dgm:t>
        <a:bodyPr/>
        <a:lstStyle/>
        <a:p>
          <a:endParaRPr lang="en-SG"/>
        </a:p>
      </dgm:t>
    </dgm:pt>
    <dgm:pt modelId="{1C8723D1-5DB9-4581-BC75-9982AB696638}">
      <dgm:prSet custT="1"/>
      <dgm:spPr/>
      <dgm:t>
        <a:bodyPr/>
        <a:lstStyle/>
        <a:p>
          <a:pPr>
            <a:buNone/>
          </a:pPr>
          <a:r>
            <a:rPr lang="en-SG" sz="1400" b="1" dirty="0"/>
            <a:t>Operating Risk: Monitor and re-test </a:t>
          </a:r>
          <a:r>
            <a:rPr lang="en-SG" sz="1400" b="1"/>
            <a:t>at scale</a:t>
          </a:r>
          <a:endParaRPr lang="en-SG" sz="1400" b="1" dirty="0"/>
        </a:p>
      </dgm:t>
    </dgm:pt>
    <dgm:pt modelId="{2C07BA3E-F8EC-4D3D-AC37-73D93CC1C605}" type="parTrans" cxnId="{65952DDB-46C8-4DE6-9CF2-AAD681FDE744}">
      <dgm:prSet/>
      <dgm:spPr/>
      <dgm:t>
        <a:bodyPr/>
        <a:lstStyle/>
        <a:p>
          <a:endParaRPr lang="en-SG"/>
        </a:p>
      </dgm:t>
    </dgm:pt>
    <dgm:pt modelId="{7574D0EC-2572-47B2-8CBF-C5B46788A613}" type="sibTrans" cxnId="{65952DDB-46C8-4DE6-9CF2-AAD681FDE744}">
      <dgm:prSet/>
      <dgm:spPr/>
      <dgm:t>
        <a:bodyPr/>
        <a:lstStyle/>
        <a:p>
          <a:endParaRPr lang="en-SG"/>
        </a:p>
      </dgm:t>
    </dgm:pt>
    <dgm:pt modelId="{6937D720-2DCE-44A8-ACE1-57064280186A}">
      <dgm:prSet custT="1"/>
      <dgm:spPr/>
      <dgm:t>
        <a:bodyPr/>
        <a:lstStyle/>
        <a:p>
          <a:pPr>
            <a:buFont typeface="Wingdings" panose="05000000000000000000" pitchFamily="2" charset="2"/>
            <a:buNone/>
          </a:pPr>
          <a:r>
            <a:rPr lang="en-SG" sz="1400" b="1" dirty="0"/>
            <a:t>Budget Rule: Scale while incremental revenue &gt; cost</a:t>
          </a:r>
        </a:p>
      </dgm:t>
    </dgm:pt>
    <dgm:pt modelId="{5E6B6DC4-1FB1-49A4-880B-287545157D07}" type="parTrans" cxnId="{AF3F18EA-F912-4416-BDCD-3971C5023534}">
      <dgm:prSet/>
      <dgm:spPr/>
      <dgm:t>
        <a:bodyPr/>
        <a:lstStyle/>
        <a:p>
          <a:endParaRPr lang="en-SG"/>
        </a:p>
      </dgm:t>
    </dgm:pt>
    <dgm:pt modelId="{B6823A25-2202-44D5-B956-E330B2C309D1}" type="sibTrans" cxnId="{AF3F18EA-F912-4416-BDCD-3971C5023534}">
      <dgm:prSet/>
      <dgm:spPr/>
      <dgm:t>
        <a:bodyPr/>
        <a:lstStyle/>
        <a:p>
          <a:endParaRPr lang="en-SG"/>
        </a:p>
      </dgm:t>
    </dgm:pt>
    <dgm:pt modelId="{6D66A3A7-0B33-485E-A5F8-C84599619975}">
      <dgm:prSet custT="1"/>
      <dgm:spPr/>
      <dgm:t>
        <a:bodyPr/>
        <a:lstStyle/>
        <a:p>
          <a:pPr>
            <a:buFont typeface="Wingdings" panose="05000000000000000000" pitchFamily="2" charset="2"/>
            <a:buChar char="Ø"/>
          </a:pPr>
          <a:r>
            <a:rPr lang="en-SG" sz="1400" b="0" dirty="0"/>
            <a:t> Statistically significant lift supports rollout (CVR: 1.07% vs 0.57%).</a:t>
          </a:r>
        </a:p>
      </dgm:t>
    </dgm:pt>
    <dgm:pt modelId="{79D53AFA-F5B3-4421-822C-6560FA3543B2}" type="parTrans" cxnId="{81D29D7B-E23B-4111-A790-0918DB523363}">
      <dgm:prSet/>
      <dgm:spPr/>
      <dgm:t>
        <a:bodyPr/>
        <a:lstStyle/>
        <a:p>
          <a:endParaRPr lang="en-SG"/>
        </a:p>
      </dgm:t>
    </dgm:pt>
    <dgm:pt modelId="{69FA4947-1770-46EA-9922-19A1234AF826}" type="sibTrans" cxnId="{81D29D7B-E23B-4111-A790-0918DB523363}">
      <dgm:prSet/>
      <dgm:spPr/>
      <dgm:t>
        <a:bodyPr/>
        <a:lstStyle/>
        <a:p>
          <a:endParaRPr lang="en-SG"/>
        </a:p>
      </dgm:t>
    </dgm:pt>
    <dgm:pt modelId="{694F7525-15D6-4FFF-9C59-EAA620CDD10E}">
      <dgm:prSet custT="1"/>
      <dgm:spPr/>
      <dgm:t>
        <a:bodyPr/>
        <a:lstStyle/>
        <a:p>
          <a:pPr>
            <a:buFont typeface="Wingdings" panose="05000000000000000000" pitchFamily="2" charset="2"/>
            <a:buChar char="Ø"/>
          </a:pPr>
          <a:r>
            <a:rPr lang="en-SG" sz="1400" dirty="0"/>
            <a:t> Unit economics depend on cost assumptions and experiment representativeness, which may degrade as targeting expands to less responsive users.</a:t>
          </a:r>
        </a:p>
      </dgm:t>
    </dgm:pt>
    <dgm:pt modelId="{22537C55-3818-4B1D-8098-133CB6DA6000}" type="parTrans" cxnId="{884089E6-1CCF-47D0-84AC-DC77302714C1}">
      <dgm:prSet/>
      <dgm:spPr/>
      <dgm:t>
        <a:bodyPr/>
        <a:lstStyle/>
        <a:p>
          <a:endParaRPr lang="en-SG"/>
        </a:p>
      </dgm:t>
    </dgm:pt>
    <dgm:pt modelId="{CA03BB6C-281E-418C-AEB1-5076680279B8}" type="sibTrans" cxnId="{884089E6-1CCF-47D0-84AC-DC77302714C1}">
      <dgm:prSet/>
      <dgm:spPr/>
      <dgm:t>
        <a:bodyPr/>
        <a:lstStyle/>
        <a:p>
          <a:endParaRPr lang="en-SG"/>
        </a:p>
      </dgm:t>
    </dgm:pt>
    <dgm:pt modelId="{E042474C-A0A5-40D5-9B17-01117CC802AB}" type="pres">
      <dgm:prSet presAssocID="{349DE399-23D9-49D2-9DC7-5A910169EAD0}" presName="linear" presStyleCnt="0">
        <dgm:presLayoutVars>
          <dgm:dir/>
          <dgm:animLvl val="lvl"/>
          <dgm:resizeHandles val="exact"/>
        </dgm:presLayoutVars>
      </dgm:prSet>
      <dgm:spPr/>
    </dgm:pt>
    <dgm:pt modelId="{C01E9492-803A-4D1D-B092-0F5490EFE438}" type="pres">
      <dgm:prSet presAssocID="{E15FECA5-30D6-4625-B47A-8153420E66D8}" presName="parentLin" presStyleCnt="0"/>
      <dgm:spPr/>
    </dgm:pt>
    <dgm:pt modelId="{67677099-A951-42DB-A865-C04E4099B0BB}" type="pres">
      <dgm:prSet presAssocID="{E15FECA5-30D6-4625-B47A-8153420E66D8}" presName="parentLeftMargin" presStyleLbl="node1" presStyleIdx="0" presStyleCnt="5"/>
      <dgm:spPr/>
    </dgm:pt>
    <dgm:pt modelId="{73D61383-A059-4CF8-9A37-12E533FCFC22}" type="pres">
      <dgm:prSet presAssocID="{E15FECA5-30D6-4625-B47A-8153420E66D8}" presName="parentText" presStyleLbl="node1" presStyleIdx="0" presStyleCnt="5">
        <dgm:presLayoutVars>
          <dgm:chMax val="0"/>
          <dgm:bulletEnabled val="1"/>
        </dgm:presLayoutVars>
      </dgm:prSet>
      <dgm:spPr/>
    </dgm:pt>
    <dgm:pt modelId="{2832EB8D-607B-4AC1-9DD6-D1A5BC95D550}" type="pres">
      <dgm:prSet presAssocID="{E15FECA5-30D6-4625-B47A-8153420E66D8}" presName="negativeSpace" presStyleCnt="0"/>
      <dgm:spPr/>
    </dgm:pt>
    <dgm:pt modelId="{81AB0DB0-4359-4ABA-B7E8-9D326E119CD8}" type="pres">
      <dgm:prSet presAssocID="{E15FECA5-30D6-4625-B47A-8153420E66D8}" presName="childText" presStyleLbl="conFgAcc1" presStyleIdx="0" presStyleCnt="5">
        <dgm:presLayoutVars>
          <dgm:bulletEnabled val="1"/>
        </dgm:presLayoutVars>
      </dgm:prSet>
      <dgm:spPr/>
    </dgm:pt>
    <dgm:pt modelId="{D90DA67C-BC96-4078-BBEB-E767EEDF2657}" type="pres">
      <dgm:prSet presAssocID="{305EF0D4-61EE-4A6D-98E3-85819940A7C6}" presName="spaceBetweenRectangles" presStyleCnt="0"/>
      <dgm:spPr/>
    </dgm:pt>
    <dgm:pt modelId="{585D6820-41E2-44D8-B3CE-0C89AA767FC6}" type="pres">
      <dgm:prSet presAssocID="{6937D720-2DCE-44A8-ACE1-57064280186A}" presName="parentLin" presStyleCnt="0"/>
      <dgm:spPr/>
    </dgm:pt>
    <dgm:pt modelId="{2D521557-F57A-46EB-AFFE-DC5DC6543760}" type="pres">
      <dgm:prSet presAssocID="{6937D720-2DCE-44A8-ACE1-57064280186A}" presName="parentLeftMargin" presStyleLbl="node1" presStyleIdx="0" presStyleCnt="5"/>
      <dgm:spPr/>
    </dgm:pt>
    <dgm:pt modelId="{6E6F8F08-80B1-4ED5-9535-177F20B67890}" type="pres">
      <dgm:prSet presAssocID="{6937D720-2DCE-44A8-ACE1-57064280186A}" presName="parentText" presStyleLbl="node1" presStyleIdx="1" presStyleCnt="5">
        <dgm:presLayoutVars>
          <dgm:chMax val="0"/>
          <dgm:bulletEnabled val="1"/>
        </dgm:presLayoutVars>
      </dgm:prSet>
      <dgm:spPr/>
    </dgm:pt>
    <dgm:pt modelId="{473AA82E-17AB-4859-89A4-06768D586EA0}" type="pres">
      <dgm:prSet presAssocID="{6937D720-2DCE-44A8-ACE1-57064280186A}" presName="negativeSpace" presStyleCnt="0"/>
      <dgm:spPr/>
    </dgm:pt>
    <dgm:pt modelId="{323AA25F-4521-439B-ABE8-76D0915CA15E}" type="pres">
      <dgm:prSet presAssocID="{6937D720-2DCE-44A8-ACE1-57064280186A}" presName="childText" presStyleLbl="conFgAcc1" presStyleIdx="1" presStyleCnt="5">
        <dgm:presLayoutVars>
          <dgm:bulletEnabled val="1"/>
        </dgm:presLayoutVars>
      </dgm:prSet>
      <dgm:spPr/>
    </dgm:pt>
    <dgm:pt modelId="{D7E96991-323A-4655-858F-70653A5C157B}" type="pres">
      <dgm:prSet presAssocID="{B6823A25-2202-44D5-B956-E330B2C309D1}" presName="spaceBetweenRectangles" presStyleCnt="0"/>
      <dgm:spPr/>
    </dgm:pt>
    <dgm:pt modelId="{3DBAE7C1-7E57-4E04-AE43-135D2BB6378C}" type="pres">
      <dgm:prSet presAssocID="{DC5BB092-71E0-400B-BCB2-C56569729D80}" presName="parentLin" presStyleCnt="0"/>
      <dgm:spPr/>
    </dgm:pt>
    <dgm:pt modelId="{435FD845-E0DA-45C2-99AB-681F807FC961}" type="pres">
      <dgm:prSet presAssocID="{DC5BB092-71E0-400B-BCB2-C56569729D80}" presName="parentLeftMargin" presStyleLbl="node1" presStyleIdx="1" presStyleCnt="5"/>
      <dgm:spPr/>
    </dgm:pt>
    <dgm:pt modelId="{7BA4BE36-552F-4B25-BF78-14B70D0E15A7}" type="pres">
      <dgm:prSet presAssocID="{DC5BB092-71E0-400B-BCB2-C56569729D80}" presName="parentText" presStyleLbl="node1" presStyleIdx="2" presStyleCnt="5">
        <dgm:presLayoutVars>
          <dgm:chMax val="0"/>
          <dgm:bulletEnabled val="1"/>
        </dgm:presLayoutVars>
      </dgm:prSet>
      <dgm:spPr/>
    </dgm:pt>
    <dgm:pt modelId="{44517AE8-CCB2-4E31-865B-B9A80A7AA389}" type="pres">
      <dgm:prSet presAssocID="{DC5BB092-71E0-400B-BCB2-C56569729D80}" presName="negativeSpace" presStyleCnt="0"/>
      <dgm:spPr/>
    </dgm:pt>
    <dgm:pt modelId="{7917C87B-6C84-46AC-A0CC-40146E8D0C31}" type="pres">
      <dgm:prSet presAssocID="{DC5BB092-71E0-400B-BCB2-C56569729D80}" presName="childText" presStyleLbl="conFgAcc1" presStyleIdx="2" presStyleCnt="5">
        <dgm:presLayoutVars>
          <dgm:bulletEnabled val="1"/>
        </dgm:presLayoutVars>
      </dgm:prSet>
      <dgm:spPr/>
    </dgm:pt>
    <dgm:pt modelId="{1D1D55CD-2025-44E1-813B-C15C114DF9C1}" type="pres">
      <dgm:prSet presAssocID="{7B8A2AFC-89BF-4E18-A406-C0317E42B27B}" presName="spaceBetweenRectangles" presStyleCnt="0"/>
      <dgm:spPr/>
    </dgm:pt>
    <dgm:pt modelId="{8773EE68-12BC-4B69-8C93-659C790897F4}" type="pres">
      <dgm:prSet presAssocID="{DB96552C-2D53-49D2-8D90-E76A85981323}" presName="parentLin" presStyleCnt="0"/>
      <dgm:spPr/>
    </dgm:pt>
    <dgm:pt modelId="{98379ACE-A084-41B6-B3B2-4E7CEABCB17E}" type="pres">
      <dgm:prSet presAssocID="{DB96552C-2D53-49D2-8D90-E76A85981323}" presName="parentLeftMargin" presStyleLbl="node1" presStyleIdx="2" presStyleCnt="5"/>
      <dgm:spPr/>
    </dgm:pt>
    <dgm:pt modelId="{BB4727C1-D41B-423B-93AE-9DC77DA899D5}" type="pres">
      <dgm:prSet presAssocID="{DB96552C-2D53-49D2-8D90-E76A85981323}" presName="parentText" presStyleLbl="node1" presStyleIdx="3" presStyleCnt="5">
        <dgm:presLayoutVars>
          <dgm:chMax val="0"/>
          <dgm:bulletEnabled val="1"/>
        </dgm:presLayoutVars>
      </dgm:prSet>
      <dgm:spPr/>
    </dgm:pt>
    <dgm:pt modelId="{B86E05FE-7386-4795-8530-4F6A0FE04BC8}" type="pres">
      <dgm:prSet presAssocID="{DB96552C-2D53-49D2-8D90-E76A85981323}" presName="negativeSpace" presStyleCnt="0"/>
      <dgm:spPr/>
    </dgm:pt>
    <dgm:pt modelId="{1CAA899B-F6E6-4429-82FC-1AAFA4443513}" type="pres">
      <dgm:prSet presAssocID="{DB96552C-2D53-49D2-8D90-E76A85981323}" presName="childText" presStyleLbl="conFgAcc1" presStyleIdx="3" presStyleCnt="5">
        <dgm:presLayoutVars>
          <dgm:bulletEnabled val="1"/>
        </dgm:presLayoutVars>
      </dgm:prSet>
      <dgm:spPr/>
    </dgm:pt>
    <dgm:pt modelId="{4FD1A70F-23A9-41D7-A717-400E59C82B89}" type="pres">
      <dgm:prSet presAssocID="{DD4D4728-97A6-4C2F-86EF-C012E2D24019}" presName="spaceBetweenRectangles" presStyleCnt="0"/>
      <dgm:spPr/>
    </dgm:pt>
    <dgm:pt modelId="{7307C539-7BE1-4D3E-9F60-73B1657D2DE3}" type="pres">
      <dgm:prSet presAssocID="{1C8723D1-5DB9-4581-BC75-9982AB696638}" presName="parentLin" presStyleCnt="0"/>
      <dgm:spPr/>
    </dgm:pt>
    <dgm:pt modelId="{D57C1DB4-B9FC-4EED-841D-6C25049996BE}" type="pres">
      <dgm:prSet presAssocID="{1C8723D1-5DB9-4581-BC75-9982AB696638}" presName="parentLeftMargin" presStyleLbl="node1" presStyleIdx="3" presStyleCnt="5"/>
      <dgm:spPr/>
    </dgm:pt>
    <dgm:pt modelId="{BE6FFCE4-D821-4667-8F34-735CD66E39FD}" type="pres">
      <dgm:prSet presAssocID="{1C8723D1-5DB9-4581-BC75-9982AB696638}" presName="parentText" presStyleLbl="node1" presStyleIdx="4" presStyleCnt="5">
        <dgm:presLayoutVars>
          <dgm:chMax val="0"/>
          <dgm:bulletEnabled val="1"/>
        </dgm:presLayoutVars>
      </dgm:prSet>
      <dgm:spPr/>
    </dgm:pt>
    <dgm:pt modelId="{0B6FF0A6-589B-46F7-873F-D987E65B5239}" type="pres">
      <dgm:prSet presAssocID="{1C8723D1-5DB9-4581-BC75-9982AB696638}" presName="negativeSpace" presStyleCnt="0"/>
      <dgm:spPr/>
    </dgm:pt>
    <dgm:pt modelId="{7A89284A-AC1B-4D70-9B1C-ADAF07F66E34}" type="pres">
      <dgm:prSet presAssocID="{1C8723D1-5DB9-4581-BC75-9982AB696638}" presName="childText" presStyleLbl="conFgAcc1" presStyleIdx="4" presStyleCnt="5" custLinFactNeighborX="0" custLinFactNeighborY="-195">
        <dgm:presLayoutVars>
          <dgm:bulletEnabled val="1"/>
        </dgm:presLayoutVars>
      </dgm:prSet>
      <dgm:spPr/>
    </dgm:pt>
  </dgm:ptLst>
  <dgm:cxnLst>
    <dgm:cxn modelId="{C620CC01-BD3E-4B51-9A4B-BD6A4DCEE2D8}" type="presOf" srcId="{6937D720-2DCE-44A8-ACE1-57064280186A}" destId="{6E6F8F08-80B1-4ED5-9535-177F20B67890}" srcOrd="1" destOrd="0" presId="urn:microsoft.com/office/officeart/2005/8/layout/list1"/>
    <dgm:cxn modelId="{02331A06-F11E-44AC-94F3-9EA32EDCD721}" type="presOf" srcId="{DC5BB092-71E0-400B-BCB2-C56569729D80}" destId="{435FD845-E0DA-45C2-99AB-681F807FC961}" srcOrd="0" destOrd="0" presId="urn:microsoft.com/office/officeart/2005/8/layout/list1"/>
    <dgm:cxn modelId="{C4FF010B-FB96-4616-B57C-90429984BFC1}" type="presOf" srcId="{694F7525-15D6-4FFF-9C59-EAA620CDD10E}" destId="{7A89284A-AC1B-4D70-9B1C-ADAF07F66E34}" srcOrd="0" destOrd="0" presId="urn:microsoft.com/office/officeart/2005/8/layout/list1"/>
    <dgm:cxn modelId="{30C28E14-C94B-4026-9A49-6D50EA9850A8}" type="presOf" srcId="{8EB33104-D9F3-4D53-A914-670AA1E45747}" destId="{323AA25F-4521-439B-ABE8-76D0915CA15E}" srcOrd="0" destOrd="0" presId="urn:microsoft.com/office/officeart/2005/8/layout/list1"/>
    <dgm:cxn modelId="{EF8AD419-15B8-416C-924A-99250328F840}" srcId="{349DE399-23D9-49D2-9DC7-5A910169EAD0}" destId="{DC5BB092-71E0-400B-BCB2-C56569729D80}" srcOrd="2" destOrd="0" parTransId="{CB92CA03-3561-429F-A4D3-673A2173CEAE}" sibTransId="{7B8A2AFC-89BF-4E18-A406-C0317E42B27B}"/>
    <dgm:cxn modelId="{7E832322-EC53-49BA-8CF9-B4704E959E59}" srcId="{349DE399-23D9-49D2-9DC7-5A910169EAD0}" destId="{DB96552C-2D53-49D2-8D90-E76A85981323}" srcOrd="3" destOrd="0" parTransId="{EFCCCCD6-962C-427A-B872-2550F0522C47}" sibTransId="{DD4D4728-97A6-4C2F-86EF-C012E2D24019}"/>
    <dgm:cxn modelId="{3750C625-F63E-453D-8375-75F269C5A876}" type="presOf" srcId="{6937D720-2DCE-44A8-ACE1-57064280186A}" destId="{2D521557-F57A-46EB-AFFE-DC5DC6543760}" srcOrd="0" destOrd="0" presId="urn:microsoft.com/office/officeart/2005/8/layout/list1"/>
    <dgm:cxn modelId="{BDA94D27-6EC1-4B79-BD46-2201355EE47E}" type="presOf" srcId="{1C8723D1-5DB9-4581-BC75-9982AB696638}" destId="{BE6FFCE4-D821-4667-8F34-735CD66E39FD}" srcOrd="1" destOrd="0" presId="urn:microsoft.com/office/officeart/2005/8/layout/list1"/>
    <dgm:cxn modelId="{9B50A43F-8056-4C87-9BEE-AFDAB26421DA}" type="presOf" srcId="{82F82B97-9A2B-482D-9198-E5AF696C82EB}" destId="{1CAA899B-F6E6-4429-82FC-1AAFA4443513}" srcOrd="0" destOrd="0" presId="urn:microsoft.com/office/officeart/2005/8/layout/list1"/>
    <dgm:cxn modelId="{42168845-C7AC-4DD0-BA09-1FFE0D8D3B4E}" type="presOf" srcId="{6D66A3A7-0B33-485E-A5F8-C84599619975}" destId="{81AB0DB0-4359-4ABA-B7E8-9D326E119CD8}" srcOrd="0" destOrd="0" presId="urn:microsoft.com/office/officeart/2005/8/layout/list1"/>
    <dgm:cxn modelId="{B68F4A73-4717-4C1B-A04F-2E9816FF2A5B}" srcId="{6937D720-2DCE-44A8-ACE1-57064280186A}" destId="{8EB33104-D9F3-4D53-A914-670AA1E45747}" srcOrd="0" destOrd="0" parTransId="{15B5FE86-97E0-4CF2-91F4-EB4EA846C22C}" sibTransId="{57154F96-E9CC-4E39-ABCD-A60F9594EC48}"/>
    <dgm:cxn modelId="{C0127078-1F33-48E6-9E81-894B99886FF0}" srcId="{DB96552C-2D53-49D2-8D90-E76A85981323}" destId="{82F82B97-9A2B-482D-9198-E5AF696C82EB}" srcOrd="0" destOrd="0" parTransId="{A2C6E84F-BCF5-4293-8E31-4F49F972F957}" sibTransId="{BCE20A6F-0D33-47D0-9EC2-A7E958324E80}"/>
    <dgm:cxn modelId="{81D29D7B-E23B-4111-A790-0918DB523363}" srcId="{E15FECA5-30D6-4625-B47A-8153420E66D8}" destId="{6D66A3A7-0B33-485E-A5F8-C84599619975}" srcOrd="0" destOrd="0" parTransId="{79D53AFA-F5B3-4421-822C-6560FA3543B2}" sibTransId="{69FA4947-1770-46EA-9922-19A1234AF826}"/>
    <dgm:cxn modelId="{08161D9E-AD99-47CC-B917-C09EBAA43B2D}" type="presOf" srcId="{E15FECA5-30D6-4625-B47A-8153420E66D8}" destId="{67677099-A951-42DB-A865-C04E4099B0BB}" srcOrd="0" destOrd="0" presId="urn:microsoft.com/office/officeart/2005/8/layout/list1"/>
    <dgm:cxn modelId="{07B664A7-6E4A-4DA7-943B-6B50D1B49949}" type="presOf" srcId="{DC5BB092-71E0-400B-BCB2-C56569729D80}" destId="{7BA4BE36-552F-4B25-BF78-14B70D0E15A7}" srcOrd="1" destOrd="0" presId="urn:microsoft.com/office/officeart/2005/8/layout/list1"/>
    <dgm:cxn modelId="{35F053B1-EEEB-45B5-A1A3-C74A31B9CE8C}" type="presOf" srcId="{E15FECA5-30D6-4625-B47A-8153420E66D8}" destId="{73D61383-A059-4CF8-9A37-12E533FCFC22}" srcOrd="1" destOrd="0" presId="urn:microsoft.com/office/officeart/2005/8/layout/list1"/>
    <dgm:cxn modelId="{0865F8B7-DDB5-4350-B1A3-A47CAFE13B2B}" type="presOf" srcId="{DD31C33E-98CA-4AD6-BBA0-5ADDD2F67EC0}" destId="{7917C87B-6C84-46AC-A0CC-40146E8D0C31}" srcOrd="0" destOrd="0" presId="urn:microsoft.com/office/officeart/2005/8/layout/list1"/>
    <dgm:cxn modelId="{AB5B1EC1-3632-45DD-BEE2-D8DCCDCA2FDD}" srcId="{DC5BB092-71E0-400B-BCB2-C56569729D80}" destId="{DD31C33E-98CA-4AD6-BBA0-5ADDD2F67EC0}" srcOrd="0" destOrd="0" parTransId="{72256291-80F3-4E49-8A15-E6BF18D8A6AB}" sibTransId="{F8AB250B-A5D6-46E4-B19D-3ADD9E47F995}"/>
    <dgm:cxn modelId="{BF6FE7C6-F8A7-45E9-9F59-BB1DA09EE8A7}" srcId="{349DE399-23D9-49D2-9DC7-5A910169EAD0}" destId="{E15FECA5-30D6-4625-B47A-8153420E66D8}" srcOrd="0" destOrd="0" parTransId="{F14BE1AB-D653-4B64-980B-86D582E904C4}" sibTransId="{305EF0D4-61EE-4A6D-98E3-85819940A7C6}"/>
    <dgm:cxn modelId="{65FBEDD0-6495-4BC8-B36D-551BABC224E7}" type="presOf" srcId="{1C8723D1-5DB9-4581-BC75-9982AB696638}" destId="{D57C1DB4-B9FC-4EED-841D-6C25049996BE}" srcOrd="0" destOrd="0" presId="urn:microsoft.com/office/officeart/2005/8/layout/list1"/>
    <dgm:cxn modelId="{65952DDB-46C8-4DE6-9CF2-AAD681FDE744}" srcId="{349DE399-23D9-49D2-9DC7-5A910169EAD0}" destId="{1C8723D1-5DB9-4581-BC75-9982AB696638}" srcOrd="4" destOrd="0" parTransId="{2C07BA3E-F8EC-4D3D-AC37-73D93CC1C605}" sibTransId="{7574D0EC-2572-47B2-8CBF-C5B46788A613}"/>
    <dgm:cxn modelId="{E5D1ABE3-9B55-4606-9619-8CDEA2EFFCF6}" type="presOf" srcId="{349DE399-23D9-49D2-9DC7-5A910169EAD0}" destId="{E042474C-A0A5-40D5-9B17-01117CC802AB}" srcOrd="0" destOrd="0" presId="urn:microsoft.com/office/officeart/2005/8/layout/list1"/>
    <dgm:cxn modelId="{884089E6-1CCF-47D0-84AC-DC77302714C1}" srcId="{1C8723D1-5DB9-4581-BC75-9982AB696638}" destId="{694F7525-15D6-4FFF-9C59-EAA620CDD10E}" srcOrd="0" destOrd="0" parTransId="{22537C55-3818-4B1D-8098-133CB6DA6000}" sibTransId="{CA03BB6C-281E-418C-AEB1-5076680279B8}"/>
    <dgm:cxn modelId="{AF3F18EA-F912-4416-BDCD-3971C5023534}" srcId="{349DE399-23D9-49D2-9DC7-5A910169EAD0}" destId="{6937D720-2DCE-44A8-ACE1-57064280186A}" srcOrd="1" destOrd="0" parTransId="{5E6B6DC4-1FB1-49A4-880B-287545157D07}" sibTransId="{B6823A25-2202-44D5-B956-E330B2C309D1}"/>
    <dgm:cxn modelId="{1531DEEB-8BD6-4765-9A15-CFE59D2E7B97}" type="presOf" srcId="{DB96552C-2D53-49D2-8D90-E76A85981323}" destId="{BB4727C1-D41B-423B-93AE-9DC77DA899D5}" srcOrd="1" destOrd="0" presId="urn:microsoft.com/office/officeart/2005/8/layout/list1"/>
    <dgm:cxn modelId="{41798DFF-BF33-4BBB-93B1-1BF47855A1DC}" type="presOf" srcId="{DB96552C-2D53-49D2-8D90-E76A85981323}" destId="{98379ACE-A084-41B6-B3B2-4E7CEABCB17E}" srcOrd="0" destOrd="0" presId="urn:microsoft.com/office/officeart/2005/8/layout/list1"/>
    <dgm:cxn modelId="{1B708B7E-32DE-45F1-BAAC-1EB8CCD0B3CE}" type="presParOf" srcId="{E042474C-A0A5-40D5-9B17-01117CC802AB}" destId="{C01E9492-803A-4D1D-B092-0F5490EFE438}" srcOrd="0" destOrd="0" presId="urn:microsoft.com/office/officeart/2005/8/layout/list1"/>
    <dgm:cxn modelId="{1D2E7599-F6F3-4EA1-9B0B-618AE2FE5FF5}" type="presParOf" srcId="{C01E9492-803A-4D1D-B092-0F5490EFE438}" destId="{67677099-A951-42DB-A865-C04E4099B0BB}" srcOrd="0" destOrd="0" presId="urn:microsoft.com/office/officeart/2005/8/layout/list1"/>
    <dgm:cxn modelId="{7D59885E-AADC-4CBD-9869-1342FEBE544B}" type="presParOf" srcId="{C01E9492-803A-4D1D-B092-0F5490EFE438}" destId="{73D61383-A059-4CF8-9A37-12E533FCFC22}" srcOrd="1" destOrd="0" presId="urn:microsoft.com/office/officeart/2005/8/layout/list1"/>
    <dgm:cxn modelId="{DEB0927C-9D13-4C9E-A572-38D6B23C7184}" type="presParOf" srcId="{E042474C-A0A5-40D5-9B17-01117CC802AB}" destId="{2832EB8D-607B-4AC1-9DD6-D1A5BC95D550}" srcOrd="1" destOrd="0" presId="urn:microsoft.com/office/officeart/2005/8/layout/list1"/>
    <dgm:cxn modelId="{027AB2DC-0885-43BA-84C4-8195D8AC152B}" type="presParOf" srcId="{E042474C-A0A5-40D5-9B17-01117CC802AB}" destId="{81AB0DB0-4359-4ABA-B7E8-9D326E119CD8}" srcOrd="2" destOrd="0" presId="urn:microsoft.com/office/officeart/2005/8/layout/list1"/>
    <dgm:cxn modelId="{93B68DA2-F01D-4CAB-9D8A-235729B4D42C}" type="presParOf" srcId="{E042474C-A0A5-40D5-9B17-01117CC802AB}" destId="{D90DA67C-BC96-4078-BBEB-E767EEDF2657}" srcOrd="3" destOrd="0" presId="urn:microsoft.com/office/officeart/2005/8/layout/list1"/>
    <dgm:cxn modelId="{66CD246F-9EE3-4260-A7E0-A1AA2FEB7615}" type="presParOf" srcId="{E042474C-A0A5-40D5-9B17-01117CC802AB}" destId="{585D6820-41E2-44D8-B3CE-0C89AA767FC6}" srcOrd="4" destOrd="0" presId="urn:microsoft.com/office/officeart/2005/8/layout/list1"/>
    <dgm:cxn modelId="{B100997F-1939-4407-9B0D-D6596F86893D}" type="presParOf" srcId="{585D6820-41E2-44D8-B3CE-0C89AA767FC6}" destId="{2D521557-F57A-46EB-AFFE-DC5DC6543760}" srcOrd="0" destOrd="0" presId="urn:microsoft.com/office/officeart/2005/8/layout/list1"/>
    <dgm:cxn modelId="{A1FB34BE-BA93-4558-BA5E-11712FE02491}" type="presParOf" srcId="{585D6820-41E2-44D8-B3CE-0C89AA767FC6}" destId="{6E6F8F08-80B1-4ED5-9535-177F20B67890}" srcOrd="1" destOrd="0" presId="urn:microsoft.com/office/officeart/2005/8/layout/list1"/>
    <dgm:cxn modelId="{A0B449D0-B029-4221-A3A9-C7E68297A168}" type="presParOf" srcId="{E042474C-A0A5-40D5-9B17-01117CC802AB}" destId="{473AA82E-17AB-4859-89A4-06768D586EA0}" srcOrd="5" destOrd="0" presId="urn:microsoft.com/office/officeart/2005/8/layout/list1"/>
    <dgm:cxn modelId="{16991E45-F990-416C-B621-76645FE9944A}" type="presParOf" srcId="{E042474C-A0A5-40D5-9B17-01117CC802AB}" destId="{323AA25F-4521-439B-ABE8-76D0915CA15E}" srcOrd="6" destOrd="0" presId="urn:microsoft.com/office/officeart/2005/8/layout/list1"/>
    <dgm:cxn modelId="{44605466-0C3F-42AD-8B17-4627AC29D6DA}" type="presParOf" srcId="{E042474C-A0A5-40D5-9B17-01117CC802AB}" destId="{D7E96991-323A-4655-858F-70653A5C157B}" srcOrd="7" destOrd="0" presId="urn:microsoft.com/office/officeart/2005/8/layout/list1"/>
    <dgm:cxn modelId="{11722649-EC17-4FE4-A2B4-AAF0663A08B2}" type="presParOf" srcId="{E042474C-A0A5-40D5-9B17-01117CC802AB}" destId="{3DBAE7C1-7E57-4E04-AE43-135D2BB6378C}" srcOrd="8" destOrd="0" presId="urn:microsoft.com/office/officeart/2005/8/layout/list1"/>
    <dgm:cxn modelId="{DD01916F-A3A5-4C7F-B825-6E7285C0F8C9}" type="presParOf" srcId="{3DBAE7C1-7E57-4E04-AE43-135D2BB6378C}" destId="{435FD845-E0DA-45C2-99AB-681F807FC961}" srcOrd="0" destOrd="0" presId="urn:microsoft.com/office/officeart/2005/8/layout/list1"/>
    <dgm:cxn modelId="{7122FFBC-7799-4B9F-A940-06244DB6D332}" type="presParOf" srcId="{3DBAE7C1-7E57-4E04-AE43-135D2BB6378C}" destId="{7BA4BE36-552F-4B25-BF78-14B70D0E15A7}" srcOrd="1" destOrd="0" presId="urn:microsoft.com/office/officeart/2005/8/layout/list1"/>
    <dgm:cxn modelId="{5135312D-F513-4218-A55B-0CCCCCD35613}" type="presParOf" srcId="{E042474C-A0A5-40D5-9B17-01117CC802AB}" destId="{44517AE8-CCB2-4E31-865B-B9A80A7AA389}" srcOrd="9" destOrd="0" presId="urn:microsoft.com/office/officeart/2005/8/layout/list1"/>
    <dgm:cxn modelId="{986B30EA-4369-493F-93E7-92F9A1B6B4C0}" type="presParOf" srcId="{E042474C-A0A5-40D5-9B17-01117CC802AB}" destId="{7917C87B-6C84-46AC-A0CC-40146E8D0C31}" srcOrd="10" destOrd="0" presId="urn:microsoft.com/office/officeart/2005/8/layout/list1"/>
    <dgm:cxn modelId="{BF1E2FB9-7F54-4A6C-948F-C852F1EE35F3}" type="presParOf" srcId="{E042474C-A0A5-40D5-9B17-01117CC802AB}" destId="{1D1D55CD-2025-44E1-813B-C15C114DF9C1}" srcOrd="11" destOrd="0" presId="urn:microsoft.com/office/officeart/2005/8/layout/list1"/>
    <dgm:cxn modelId="{DCA3F68B-70EF-47FF-BB90-7EB3CF2F0BB7}" type="presParOf" srcId="{E042474C-A0A5-40D5-9B17-01117CC802AB}" destId="{8773EE68-12BC-4B69-8C93-659C790897F4}" srcOrd="12" destOrd="0" presId="urn:microsoft.com/office/officeart/2005/8/layout/list1"/>
    <dgm:cxn modelId="{F7D6AD42-FBC9-41BE-9BAA-03B699887D83}" type="presParOf" srcId="{8773EE68-12BC-4B69-8C93-659C790897F4}" destId="{98379ACE-A084-41B6-B3B2-4E7CEABCB17E}" srcOrd="0" destOrd="0" presId="urn:microsoft.com/office/officeart/2005/8/layout/list1"/>
    <dgm:cxn modelId="{E2E1EF24-102F-48A2-8458-6D06CC797A0D}" type="presParOf" srcId="{8773EE68-12BC-4B69-8C93-659C790897F4}" destId="{BB4727C1-D41B-423B-93AE-9DC77DA899D5}" srcOrd="1" destOrd="0" presId="urn:microsoft.com/office/officeart/2005/8/layout/list1"/>
    <dgm:cxn modelId="{9CB253A7-09BD-471E-8D81-2D9DA1108A64}" type="presParOf" srcId="{E042474C-A0A5-40D5-9B17-01117CC802AB}" destId="{B86E05FE-7386-4795-8530-4F6A0FE04BC8}" srcOrd="13" destOrd="0" presId="urn:microsoft.com/office/officeart/2005/8/layout/list1"/>
    <dgm:cxn modelId="{CE780D8A-EAA8-4961-9F4C-49B2513003C4}" type="presParOf" srcId="{E042474C-A0A5-40D5-9B17-01117CC802AB}" destId="{1CAA899B-F6E6-4429-82FC-1AAFA4443513}" srcOrd="14" destOrd="0" presId="urn:microsoft.com/office/officeart/2005/8/layout/list1"/>
    <dgm:cxn modelId="{747F5D5D-B860-45A6-AB7E-D55B0323B472}" type="presParOf" srcId="{E042474C-A0A5-40D5-9B17-01117CC802AB}" destId="{4FD1A70F-23A9-41D7-A717-400E59C82B89}" srcOrd="15" destOrd="0" presId="urn:microsoft.com/office/officeart/2005/8/layout/list1"/>
    <dgm:cxn modelId="{70FC70BD-F1DB-4B44-9441-9E470AD27A30}" type="presParOf" srcId="{E042474C-A0A5-40D5-9B17-01117CC802AB}" destId="{7307C539-7BE1-4D3E-9F60-73B1657D2DE3}" srcOrd="16" destOrd="0" presId="urn:microsoft.com/office/officeart/2005/8/layout/list1"/>
    <dgm:cxn modelId="{DB38EC95-9434-4799-B90A-58496AF817F0}" type="presParOf" srcId="{7307C539-7BE1-4D3E-9F60-73B1657D2DE3}" destId="{D57C1DB4-B9FC-4EED-841D-6C25049996BE}" srcOrd="0" destOrd="0" presId="urn:microsoft.com/office/officeart/2005/8/layout/list1"/>
    <dgm:cxn modelId="{AAD96CC0-44FA-4EF8-85F5-48C8E760E4CE}" type="presParOf" srcId="{7307C539-7BE1-4D3E-9F60-73B1657D2DE3}" destId="{BE6FFCE4-D821-4667-8F34-735CD66E39FD}" srcOrd="1" destOrd="0" presId="urn:microsoft.com/office/officeart/2005/8/layout/list1"/>
    <dgm:cxn modelId="{E242162F-EED3-45B7-9C1B-1BD3E296ADBF}" type="presParOf" srcId="{E042474C-A0A5-40D5-9B17-01117CC802AB}" destId="{0B6FF0A6-589B-46F7-873F-D987E65B5239}" srcOrd="17" destOrd="0" presId="urn:microsoft.com/office/officeart/2005/8/layout/list1"/>
    <dgm:cxn modelId="{E42F84A3-6FEB-4EDC-9CE3-BE4E15E70EFB}" type="presParOf" srcId="{E042474C-A0A5-40D5-9B17-01117CC802AB}" destId="{7A89284A-AC1B-4D70-9B1C-ADAF07F66E34}" srcOrd="18" destOrd="0" presId="urn:microsoft.com/office/officeart/2005/8/layout/list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4FD0A13F-4678-4B55-8095-54CD6AE4C914}" type="doc">
      <dgm:prSet loTypeId="urn:microsoft.com/office/officeart/2005/8/layout/list1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SG"/>
        </a:p>
      </dgm:t>
    </dgm:pt>
    <dgm:pt modelId="{89F0DA6A-CA5C-477D-A5FD-49AA811B1174}">
      <dgm:prSet custT="1"/>
      <dgm:spPr/>
      <dgm:t>
        <a:bodyPr/>
        <a:lstStyle/>
        <a:p>
          <a:r>
            <a:rPr lang="en-SG" sz="1400" b="1" dirty="0"/>
            <a:t>Limitations (Current Approach)</a:t>
          </a:r>
          <a:endParaRPr lang="en-SG" sz="1400" dirty="0"/>
        </a:p>
      </dgm:t>
    </dgm:pt>
    <dgm:pt modelId="{BCC44D17-1E0C-445A-8457-AD1C5429FE0F}" type="parTrans" cxnId="{F13A8BD6-2501-4658-BB3B-D4CD8F8AA6DD}">
      <dgm:prSet/>
      <dgm:spPr/>
      <dgm:t>
        <a:bodyPr/>
        <a:lstStyle/>
        <a:p>
          <a:endParaRPr lang="en-SG"/>
        </a:p>
      </dgm:t>
    </dgm:pt>
    <dgm:pt modelId="{6DC59D21-AA29-498E-B120-17015C88C2E5}" type="sibTrans" cxnId="{F13A8BD6-2501-4658-BB3B-D4CD8F8AA6DD}">
      <dgm:prSet/>
      <dgm:spPr/>
      <dgm:t>
        <a:bodyPr/>
        <a:lstStyle/>
        <a:p>
          <a:endParaRPr lang="en-SG"/>
        </a:p>
      </dgm:t>
    </dgm:pt>
    <dgm:pt modelId="{A32999AE-0D5E-4E82-A56E-C7156C491ECB}">
      <dgm:prSet custT="1"/>
      <dgm:spPr/>
      <dgm:t>
        <a:bodyPr/>
        <a:lstStyle/>
        <a:p>
          <a:pPr marL="0" indent="0" algn="just">
            <a:buFont typeface="Wingdings" panose="05000000000000000000" pitchFamily="2" charset="2"/>
            <a:buChar char="Ø"/>
          </a:pPr>
          <a:r>
            <a:rPr lang="en-SG" sz="1400" b="0" dirty="0"/>
            <a:t> </a:t>
          </a:r>
          <a:r>
            <a:rPr lang="en-SG" sz="1400" b="1" dirty="0"/>
            <a:t>Channel scope: </a:t>
          </a:r>
          <a:r>
            <a:rPr lang="en-SG" sz="1400" b="0" dirty="0"/>
            <a:t>Email experiment, not full marketing mix like mobile ads.</a:t>
          </a:r>
        </a:p>
      </dgm:t>
    </dgm:pt>
    <dgm:pt modelId="{AE5E4617-D919-4EAB-BB53-2A3E2CEF91FA}" type="parTrans" cxnId="{26D70802-E6E6-4354-A172-18E143CBBE94}">
      <dgm:prSet/>
      <dgm:spPr/>
      <dgm:t>
        <a:bodyPr/>
        <a:lstStyle/>
        <a:p>
          <a:endParaRPr lang="en-SG"/>
        </a:p>
      </dgm:t>
    </dgm:pt>
    <dgm:pt modelId="{94A3D824-95E6-445D-9BA1-EE1FE801CCD3}" type="sibTrans" cxnId="{26D70802-E6E6-4354-A172-18E143CBBE94}">
      <dgm:prSet/>
      <dgm:spPr/>
      <dgm:t>
        <a:bodyPr/>
        <a:lstStyle/>
        <a:p>
          <a:endParaRPr lang="en-SG"/>
        </a:p>
      </dgm:t>
    </dgm:pt>
    <dgm:pt modelId="{A39C808D-FFAC-4863-9D00-88E35DBA0C88}">
      <dgm:prSet custT="1"/>
      <dgm:spPr/>
      <dgm:t>
        <a:bodyPr/>
        <a:lstStyle/>
        <a:p>
          <a:pPr marL="0" indent="0" algn="just">
            <a:buFont typeface="Wingdings" panose="05000000000000000000" pitchFamily="2" charset="2"/>
            <a:buChar char="Ø"/>
          </a:pPr>
          <a:r>
            <a:rPr lang="en-SG" sz="1400" b="1" dirty="0"/>
            <a:t> Outcome definition as evaluation:</a:t>
          </a:r>
          <a:r>
            <a:rPr lang="en-SG" sz="1400" b="0" dirty="0"/>
            <a:t> Only revenue is reliable (not profit/margin).</a:t>
          </a:r>
        </a:p>
      </dgm:t>
    </dgm:pt>
    <dgm:pt modelId="{850DBC36-9AC1-4000-95C4-F4FAE02C6F01}" type="parTrans" cxnId="{F4A5380A-FABF-4660-BD5B-4AC8DE85ABBD}">
      <dgm:prSet/>
      <dgm:spPr/>
      <dgm:t>
        <a:bodyPr/>
        <a:lstStyle/>
        <a:p>
          <a:endParaRPr lang="en-SG"/>
        </a:p>
      </dgm:t>
    </dgm:pt>
    <dgm:pt modelId="{E8724C0E-B653-42B8-9D4E-AB400D8D8D1E}" type="sibTrans" cxnId="{F4A5380A-FABF-4660-BD5B-4AC8DE85ABBD}">
      <dgm:prSet/>
      <dgm:spPr/>
      <dgm:t>
        <a:bodyPr/>
        <a:lstStyle/>
        <a:p>
          <a:endParaRPr lang="en-SG"/>
        </a:p>
      </dgm:t>
    </dgm:pt>
    <dgm:pt modelId="{D502DE6B-CA55-4C68-96C2-C45E43907BA3}">
      <dgm:prSet custT="1"/>
      <dgm:spPr/>
      <dgm:t>
        <a:bodyPr/>
        <a:lstStyle/>
        <a:p>
          <a:pPr marL="0" indent="0" algn="just">
            <a:buFont typeface="Wingdings" panose="05000000000000000000" pitchFamily="2" charset="2"/>
            <a:buChar char="Ø"/>
          </a:pPr>
          <a:r>
            <a:rPr lang="en-SG" sz="1400" b="0" dirty="0"/>
            <a:t> </a:t>
          </a:r>
          <a:r>
            <a:rPr lang="en-SG" sz="1400" b="1" dirty="0"/>
            <a:t>Linear scaling economics assumption: </a:t>
          </a:r>
          <a:r>
            <a:rPr lang="en-SG" sz="1400" b="0" dirty="0"/>
            <a:t>Current assumptions are simplified and would likely differ in production.</a:t>
          </a:r>
        </a:p>
      </dgm:t>
    </dgm:pt>
    <dgm:pt modelId="{9E94F6FB-B00E-4226-BE4F-B20BBA8BDE60}" type="parTrans" cxnId="{0C5D3111-5DF9-432B-B4E5-59B17B4C6472}">
      <dgm:prSet/>
      <dgm:spPr/>
      <dgm:t>
        <a:bodyPr/>
        <a:lstStyle/>
        <a:p>
          <a:endParaRPr lang="en-SG"/>
        </a:p>
      </dgm:t>
    </dgm:pt>
    <dgm:pt modelId="{311DB438-5036-41DD-845A-54F64D97CB1A}" type="sibTrans" cxnId="{0C5D3111-5DF9-432B-B4E5-59B17B4C6472}">
      <dgm:prSet/>
      <dgm:spPr/>
      <dgm:t>
        <a:bodyPr/>
        <a:lstStyle/>
        <a:p>
          <a:endParaRPr lang="en-SG"/>
        </a:p>
      </dgm:t>
    </dgm:pt>
    <dgm:pt modelId="{B50ACC21-01AE-436B-9273-2FF92755105D}">
      <dgm:prSet custT="1"/>
      <dgm:spPr/>
      <dgm:t>
        <a:bodyPr/>
        <a:lstStyle/>
        <a:p>
          <a:pPr marL="0" indent="0" algn="just">
            <a:buFont typeface="Wingdings" panose="05000000000000000000" pitchFamily="2" charset="2"/>
            <a:buChar char="Ø"/>
          </a:pPr>
          <a:r>
            <a:rPr lang="en-SG" sz="1400" b="1" dirty="0"/>
            <a:t> Segment-level estimates are directional: </a:t>
          </a:r>
          <a:r>
            <a:rPr lang="en-SG" sz="1400" b="0" dirty="0"/>
            <a:t>Less reliable than overall a/b testing.</a:t>
          </a:r>
        </a:p>
      </dgm:t>
    </dgm:pt>
    <dgm:pt modelId="{AFDE80F5-563C-4A93-ACBC-93CB3CBB8EC1}" type="parTrans" cxnId="{B7997CA5-75E3-47FF-8199-7A43B6D2C495}">
      <dgm:prSet/>
      <dgm:spPr/>
      <dgm:t>
        <a:bodyPr/>
        <a:lstStyle/>
        <a:p>
          <a:endParaRPr lang="en-SG"/>
        </a:p>
      </dgm:t>
    </dgm:pt>
    <dgm:pt modelId="{3B7F8EFF-4B4F-4F00-9670-E6F751D817F2}" type="sibTrans" cxnId="{B7997CA5-75E3-47FF-8199-7A43B6D2C495}">
      <dgm:prSet/>
      <dgm:spPr/>
      <dgm:t>
        <a:bodyPr/>
        <a:lstStyle/>
        <a:p>
          <a:endParaRPr lang="en-SG"/>
        </a:p>
      </dgm:t>
    </dgm:pt>
    <dgm:pt modelId="{3E922284-B197-4875-B6CE-691920FF84ED}">
      <dgm:prSet custT="1"/>
      <dgm:spPr/>
      <dgm:t>
        <a:bodyPr/>
        <a:lstStyle/>
        <a:p>
          <a:pPr marL="0" indent="0" algn="just">
            <a:buFont typeface="Wingdings" panose="05000000000000000000" pitchFamily="2" charset="2"/>
            <a:buChar char="Ø"/>
          </a:pPr>
          <a:r>
            <a:rPr lang="en-SG" sz="1400" b="1"/>
            <a:t>Production Considerations</a:t>
          </a:r>
          <a:endParaRPr lang="en-SG" sz="1400" b="0" dirty="0"/>
        </a:p>
      </dgm:t>
    </dgm:pt>
    <dgm:pt modelId="{B7BFD861-2CCC-481B-B6E6-644D4D2FA3AF}" type="parTrans" cxnId="{EF680152-D85F-4121-A5BE-C4FBDDCCDF93}">
      <dgm:prSet/>
      <dgm:spPr/>
      <dgm:t>
        <a:bodyPr/>
        <a:lstStyle/>
        <a:p>
          <a:endParaRPr lang="en-SG"/>
        </a:p>
      </dgm:t>
    </dgm:pt>
    <dgm:pt modelId="{2B23F3B7-9108-4437-B579-2F538F8832ED}" type="sibTrans" cxnId="{EF680152-D85F-4121-A5BE-C4FBDDCCDF93}">
      <dgm:prSet/>
      <dgm:spPr/>
      <dgm:t>
        <a:bodyPr/>
        <a:lstStyle/>
        <a:p>
          <a:endParaRPr lang="en-SG"/>
        </a:p>
      </dgm:t>
    </dgm:pt>
    <dgm:pt modelId="{6FCC32BD-EFE5-4AE6-B461-788759D90F78}">
      <dgm:prSet custT="1"/>
      <dgm:spPr/>
      <dgm:t>
        <a:bodyPr/>
        <a:lstStyle/>
        <a:p>
          <a:pPr>
            <a:buFont typeface="Wingdings" panose="05000000000000000000" pitchFamily="2" charset="2"/>
            <a:buChar char="Ø"/>
          </a:pPr>
          <a:r>
            <a:rPr lang="en-SG" sz="1400" b="1" dirty="0"/>
            <a:t> Periodic re-measurement:</a:t>
          </a:r>
          <a:r>
            <a:rPr lang="en-SG" sz="1400" b="0" dirty="0"/>
            <a:t> Maintain holdout / periodic re-test.</a:t>
          </a:r>
          <a:endParaRPr lang="en-SG" sz="1400" b="1" dirty="0"/>
        </a:p>
      </dgm:t>
    </dgm:pt>
    <dgm:pt modelId="{73A25D2B-3B8B-4344-A26F-0B7450BC5726}" type="parTrans" cxnId="{5937FC31-1540-446C-AAAD-B1C5987E41ED}">
      <dgm:prSet/>
      <dgm:spPr/>
      <dgm:t>
        <a:bodyPr/>
        <a:lstStyle/>
        <a:p>
          <a:endParaRPr lang="en-SG"/>
        </a:p>
      </dgm:t>
    </dgm:pt>
    <dgm:pt modelId="{E85041A3-5123-47D8-9F20-21091DF6BE70}" type="sibTrans" cxnId="{5937FC31-1540-446C-AAAD-B1C5987E41ED}">
      <dgm:prSet/>
      <dgm:spPr/>
      <dgm:t>
        <a:bodyPr/>
        <a:lstStyle/>
        <a:p>
          <a:endParaRPr lang="en-SG"/>
        </a:p>
      </dgm:t>
    </dgm:pt>
    <dgm:pt modelId="{45F9774F-AB33-4142-848D-F48B657D673D}">
      <dgm:prSet custT="1"/>
      <dgm:spPr/>
      <dgm:t>
        <a:bodyPr/>
        <a:lstStyle/>
        <a:p>
          <a:pPr>
            <a:buFont typeface="Wingdings" panose="05000000000000000000" pitchFamily="2" charset="2"/>
            <a:buChar char="Ø"/>
          </a:pPr>
          <a:r>
            <a:rPr lang="en-SG" sz="1400" b="0" dirty="0"/>
            <a:t> </a:t>
          </a:r>
          <a:r>
            <a:rPr lang="en-SG" sz="1400" b="1" dirty="0"/>
            <a:t>Economics validation:</a:t>
          </a:r>
          <a:r>
            <a:rPr lang="en-SG" sz="1400" b="0" dirty="0"/>
            <a:t> Due diligence on cost and margin assumptions before scaling.</a:t>
          </a:r>
        </a:p>
      </dgm:t>
    </dgm:pt>
    <dgm:pt modelId="{A1492382-281C-4420-B88B-582EFC839D9A}" type="parTrans" cxnId="{C4B8BC5A-CE19-4073-87F4-371BE096715E}">
      <dgm:prSet/>
      <dgm:spPr/>
      <dgm:t>
        <a:bodyPr/>
        <a:lstStyle/>
        <a:p>
          <a:endParaRPr lang="en-SG"/>
        </a:p>
      </dgm:t>
    </dgm:pt>
    <dgm:pt modelId="{6F98D564-BCA4-489B-9399-98D1B0997D5B}" type="sibTrans" cxnId="{C4B8BC5A-CE19-4073-87F4-371BE096715E}">
      <dgm:prSet/>
      <dgm:spPr/>
      <dgm:t>
        <a:bodyPr/>
        <a:lstStyle/>
        <a:p>
          <a:endParaRPr lang="en-SG"/>
        </a:p>
      </dgm:t>
    </dgm:pt>
    <dgm:pt modelId="{88A740FF-B2ED-41E5-B338-67128E45A5E8}">
      <dgm:prSet custT="1"/>
      <dgm:spPr/>
      <dgm:t>
        <a:bodyPr/>
        <a:lstStyle/>
        <a:p>
          <a:pPr>
            <a:buFont typeface="Wingdings" panose="05000000000000000000" pitchFamily="2" charset="2"/>
            <a:buChar char="Ø"/>
          </a:pPr>
          <a:r>
            <a:rPr lang="en-SG" sz="1400" b="0" dirty="0"/>
            <a:t> </a:t>
          </a:r>
          <a:r>
            <a:rPr lang="en-SG" sz="1400" b="1" dirty="0"/>
            <a:t>Monitoring:</a:t>
          </a:r>
          <a:r>
            <a:rPr lang="en-SG" sz="1400" b="0" dirty="0"/>
            <a:t> Track lift, value, and performance by segment</a:t>
          </a:r>
        </a:p>
      </dgm:t>
    </dgm:pt>
    <dgm:pt modelId="{EC56E4DE-85B1-433B-97E0-1662ED59CA7B}" type="parTrans" cxnId="{9FCB8C1F-375A-404D-80B0-40E3F88BEC73}">
      <dgm:prSet/>
      <dgm:spPr/>
      <dgm:t>
        <a:bodyPr/>
        <a:lstStyle/>
        <a:p>
          <a:endParaRPr lang="en-SG"/>
        </a:p>
      </dgm:t>
    </dgm:pt>
    <dgm:pt modelId="{D3F2288E-E102-42ED-A3F7-15EB19CD5DEF}" type="sibTrans" cxnId="{9FCB8C1F-375A-404D-80B0-40E3F88BEC73}">
      <dgm:prSet/>
      <dgm:spPr/>
      <dgm:t>
        <a:bodyPr/>
        <a:lstStyle/>
        <a:p>
          <a:endParaRPr lang="en-SG"/>
        </a:p>
      </dgm:t>
    </dgm:pt>
    <dgm:pt modelId="{A078788C-018A-4E19-B598-4651616241CB}">
      <dgm:prSet custT="1"/>
      <dgm:spPr/>
      <dgm:t>
        <a:bodyPr/>
        <a:lstStyle/>
        <a:p>
          <a:pPr>
            <a:buFont typeface="Wingdings" panose="05000000000000000000" pitchFamily="2" charset="2"/>
            <a:buChar char="Ø"/>
          </a:pPr>
          <a:r>
            <a:rPr lang="en-SG" sz="1400" b="0" dirty="0"/>
            <a:t> </a:t>
          </a:r>
          <a:r>
            <a:rPr lang="en-SG" sz="1400" b="1" dirty="0"/>
            <a:t>Operationalization:</a:t>
          </a:r>
          <a:r>
            <a:rPr lang="en-SG" sz="1400" b="0" dirty="0"/>
            <a:t> Translate into send policy (who, how much, when to pause)</a:t>
          </a:r>
        </a:p>
      </dgm:t>
    </dgm:pt>
    <dgm:pt modelId="{D05727F0-951F-4675-8C82-E0BDDEC626E1}" type="parTrans" cxnId="{F7611B21-6745-47C1-96A4-7669FFD6B387}">
      <dgm:prSet/>
      <dgm:spPr/>
      <dgm:t>
        <a:bodyPr/>
        <a:lstStyle/>
        <a:p>
          <a:endParaRPr lang="en-SG"/>
        </a:p>
      </dgm:t>
    </dgm:pt>
    <dgm:pt modelId="{B0066E29-6A9B-4BEE-A10C-E3575E5A5516}" type="sibTrans" cxnId="{F7611B21-6745-47C1-96A4-7669FFD6B387}">
      <dgm:prSet/>
      <dgm:spPr/>
      <dgm:t>
        <a:bodyPr/>
        <a:lstStyle/>
        <a:p>
          <a:endParaRPr lang="en-SG"/>
        </a:p>
      </dgm:t>
    </dgm:pt>
    <dgm:pt modelId="{05B2FEE8-3C2F-49FA-9FA4-788BB694D208}" type="pres">
      <dgm:prSet presAssocID="{4FD0A13F-4678-4B55-8095-54CD6AE4C914}" presName="linear" presStyleCnt="0">
        <dgm:presLayoutVars>
          <dgm:dir/>
          <dgm:animLvl val="lvl"/>
          <dgm:resizeHandles val="exact"/>
        </dgm:presLayoutVars>
      </dgm:prSet>
      <dgm:spPr/>
    </dgm:pt>
    <dgm:pt modelId="{B8747ECE-FC1F-47E2-94F0-976304165D4B}" type="pres">
      <dgm:prSet presAssocID="{89F0DA6A-CA5C-477D-A5FD-49AA811B1174}" presName="parentLin" presStyleCnt="0"/>
      <dgm:spPr/>
    </dgm:pt>
    <dgm:pt modelId="{1A62BE2D-96F2-4549-AD70-AA571D0FEAFA}" type="pres">
      <dgm:prSet presAssocID="{89F0DA6A-CA5C-477D-A5FD-49AA811B1174}" presName="parentLeftMargin" presStyleLbl="node1" presStyleIdx="0" presStyleCnt="2"/>
      <dgm:spPr/>
    </dgm:pt>
    <dgm:pt modelId="{8B8F4680-CA2C-4C4D-84F6-6BE1D156C9DB}" type="pres">
      <dgm:prSet presAssocID="{89F0DA6A-CA5C-477D-A5FD-49AA811B1174}" presName="parentText" presStyleLbl="node1" presStyleIdx="0" presStyleCnt="2">
        <dgm:presLayoutVars>
          <dgm:chMax val="0"/>
          <dgm:bulletEnabled val="1"/>
        </dgm:presLayoutVars>
      </dgm:prSet>
      <dgm:spPr/>
    </dgm:pt>
    <dgm:pt modelId="{37696480-15C1-49CA-B7F4-E7E7D006652A}" type="pres">
      <dgm:prSet presAssocID="{89F0DA6A-CA5C-477D-A5FD-49AA811B1174}" presName="negativeSpace" presStyleCnt="0"/>
      <dgm:spPr/>
    </dgm:pt>
    <dgm:pt modelId="{C2DD8FBB-21B5-4CDA-BEFE-64988D733F5C}" type="pres">
      <dgm:prSet presAssocID="{89F0DA6A-CA5C-477D-A5FD-49AA811B1174}" presName="childText" presStyleLbl="conFgAcc1" presStyleIdx="0" presStyleCnt="2">
        <dgm:presLayoutVars>
          <dgm:bulletEnabled val="1"/>
        </dgm:presLayoutVars>
      </dgm:prSet>
      <dgm:spPr/>
    </dgm:pt>
    <dgm:pt modelId="{AB79A08C-0990-4731-AFF5-DA8F56EBA095}" type="pres">
      <dgm:prSet presAssocID="{6DC59D21-AA29-498E-B120-17015C88C2E5}" presName="spaceBetweenRectangles" presStyleCnt="0"/>
      <dgm:spPr/>
    </dgm:pt>
    <dgm:pt modelId="{C15C78BA-CDC6-472F-8E67-9438BF85D8A4}" type="pres">
      <dgm:prSet presAssocID="{3E922284-B197-4875-B6CE-691920FF84ED}" presName="parentLin" presStyleCnt="0"/>
      <dgm:spPr/>
    </dgm:pt>
    <dgm:pt modelId="{BD7BDDF3-22A0-4FE8-8919-71A45C056CB5}" type="pres">
      <dgm:prSet presAssocID="{3E922284-B197-4875-B6CE-691920FF84ED}" presName="parentLeftMargin" presStyleLbl="node1" presStyleIdx="0" presStyleCnt="2"/>
      <dgm:spPr/>
    </dgm:pt>
    <dgm:pt modelId="{113A3A7E-E968-4A35-94A4-6DC1D0DC6DC7}" type="pres">
      <dgm:prSet presAssocID="{3E922284-B197-4875-B6CE-691920FF84ED}" presName="parentText" presStyleLbl="node1" presStyleIdx="1" presStyleCnt="2">
        <dgm:presLayoutVars>
          <dgm:chMax val="0"/>
          <dgm:bulletEnabled val="1"/>
        </dgm:presLayoutVars>
      </dgm:prSet>
      <dgm:spPr/>
    </dgm:pt>
    <dgm:pt modelId="{6CEBF089-7168-4057-9318-F914C080D426}" type="pres">
      <dgm:prSet presAssocID="{3E922284-B197-4875-B6CE-691920FF84ED}" presName="negativeSpace" presStyleCnt="0"/>
      <dgm:spPr/>
    </dgm:pt>
    <dgm:pt modelId="{AED6E2BF-0C45-42FC-BB24-B2046CA21CD9}" type="pres">
      <dgm:prSet presAssocID="{3E922284-B197-4875-B6CE-691920FF84ED}" presName="childText" presStyleLbl="conFgAcc1" presStyleIdx="1" presStyleCnt="2">
        <dgm:presLayoutVars>
          <dgm:bulletEnabled val="1"/>
        </dgm:presLayoutVars>
      </dgm:prSet>
      <dgm:spPr/>
    </dgm:pt>
  </dgm:ptLst>
  <dgm:cxnLst>
    <dgm:cxn modelId="{26D70802-E6E6-4354-A172-18E143CBBE94}" srcId="{89F0DA6A-CA5C-477D-A5FD-49AA811B1174}" destId="{A32999AE-0D5E-4E82-A56E-C7156C491ECB}" srcOrd="0" destOrd="0" parTransId="{AE5E4617-D919-4EAB-BB53-2A3E2CEF91FA}" sibTransId="{94A3D824-95E6-445D-9BA1-EE1FE801CCD3}"/>
    <dgm:cxn modelId="{F4A5380A-FABF-4660-BD5B-4AC8DE85ABBD}" srcId="{89F0DA6A-CA5C-477D-A5FD-49AA811B1174}" destId="{A39C808D-FFAC-4863-9D00-88E35DBA0C88}" srcOrd="1" destOrd="0" parTransId="{850DBC36-9AC1-4000-95C4-F4FAE02C6F01}" sibTransId="{E8724C0E-B653-42B8-9D4E-AB400D8D8D1E}"/>
    <dgm:cxn modelId="{90276C0B-C3E5-4F76-BAB0-F89553D2CE9C}" type="presOf" srcId="{88A740FF-B2ED-41E5-B338-67128E45A5E8}" destId="{AED6E2BF-0C45-42FC-BB24-B2046CA21CD9}" srcOrd="0" destOrd="2" presId="urn:microsoft.com/office/officeart/2005/8/layout/list1"/>
    <dgm:cxn modelId="{0C5D3111-5DF9-432B-B4E5-59B17B4C6472}" srcId="{89F0DA6A-CA5C-477D-A5FD-49AA811B1174}" destId="{D502DE6B-CA55-4C68-96C2-C45E43907BA3}" srcOrd="3" destOrd="0" parTransId="{9E94F6FB-B00E-4226-BE4F-B20BBA8BDE60}" sibTransId="{311DB438-5036-41DD-845A-54F64D97CB1A}"/>
    <dgm:cxn modelId="{82E3FB14-06AC-46CB-B85E-2774576C08AC}" type="presOf" srcId="{4FD0A13F-4678-4B55-8095-54CD6AE4C914}" destId="{05B2FEE8-3C2F-49FA-9FA4-788BB694D208}" srcOrd="0" destOrd="0" presId="urn:microsoft.com/office/officeart/2005/8/layout/list1"/>
    <dgm:cxn modelId="{AC75AB15-57DB-4324-A39A-B62AAF90BA1D}" type="presOf" srcId="{D502DE6B-CA55-4C68-96C2-C45E43907BA3}" destId="{C2DD8FBB-21B5-4CDA-BEFE-64988D733F5C}" srcOrd="0" destOrd="3" presId="urn:microsoft.com/office/officeart/2005/8/layout/list1"/>
    <dgm:cxn modelId="{9FCB8C1F-375A-404D-80B0-40E3F88BEC73}" srcId="{3E922284-B197-4875-B6CE-691920FF84ED}" destId="{88A740FF-B2ED-41E5-B338-67128E45A5E8}" srcOrd="2" destOrd="0" parTransId="{EC56E4DE-85B1-433B-97E0-1662ED59CA7B}" sibTransId="{D3F2288E-E102-42ED-A3F7-15EB19CD5DEF}"/>
    <dgm:cxn modelId="{F7611B21-6745-47C1-96A4-7669FFD6B387}" srcId="{3E922284-B197-4875-B6CE-691920FF84ED}" destId="{A078788C-018A-4E19-B598-4651616241CB}" srcOrd="3" destOrd="0" parTransId="{D05727F0-951F-4675-8C82-E0BDDEC626E1}" sibTransId="{B0066E29-6A9B-4BEE-A10C-E3575E5A5516}"/>
    <dgm:cxn modelId="{49AD992E-9199-43FA-B745-03C9FC0A2F91}" type="presOf" srcId="{A078788C-018A-4E19-B598-4651616241CB}" destId="{AED6E2BF-0C45-42FC-BB24-B2046CA21CD9}" srcOrd="0" destOrd="3" presId="urn:microsoft.com/office/officeart/2005/8/layout/list1"/>
    <dgm:cxn modelId="{5937FC31-1540-446C-AAAD-B1C5987E41ED}" srcId="{3E922284-B197-4875-B6CE-691920FF84ED}" destId="{6FCC32BD-EFE5-4AE6-B461-788759D90F78}" srcOrd="0" destOrd="0" parTransId="{73A25D2B-3B8B-4344-A26F-0B7450BC5726}" sibTransId="{E85041A3-5123-47D8-9F20-21091DF6BE70}"/>
    <dgm:cxn modelId="{E8630F5F-882D-444A-99C3-7818D1241136}" type="presOf" srcId="{3E922284-B197-4875-B6CE-691920FF84ED}" destId="{BD7BDDF3-22A0-4FE8-8919-71A45C056CB5}" srcOrd="0" destOrd="0" presId="urn:microsoft.com/office/officeart/2005/8/layout/list1"/>
    <dgm:cxn modelId="{E87D845F-2413-4BA2-9A82-AFD627287043}" type="presOf" srcId="{B50ACC21-01AE-436B-9273-2FF92755105D}" destId="{C2DD8FBB-21B5-4CDA-BEFE-64988D733F5C}" srcOrd="0" destOrd="2" presId="urn:microsoft.com/office/officeart/2005/8/layout/list1"/>
    <dgm:cxn modelId="{38D2336B-A3FF-4EB6-9EA6-A48576E459A8}" type="presOf" srcId="{89F0DA6A-CA5C-477D-A5FD-49AA811B1174}" destId="{8B8F4680-CA2C-4C4D-84F6-6BE1D156C9DB}" srcOrd="1" destOrd="0" presId="urn:microsoft.com/office/officeart/2005/8/layout/list1"/>
    <dgm:cxn modelId="{3A96C96F-3994-42CA-AA04-9F74005334EB}" type="presOf" srcId="{A39C808D-FFAC-4863-9D00-88E35DBA0C88}" destId="{C2DD8FBB-21B5-4CDA-BEFE-64988D733F5C}" srcOrd="0" destOrd="1" presId="urn:microsoft.com/office/officeart/2005/8/layout/list1"/>
    <dgm:cxn modelId="{EF680152-D85F-4121-A5BE-C4FBDDCCDF93}" srcId="{4FD0A13F-4678-4B55-8095-54CD6AE4C914}" destId="{3E922284-B197-4875-B6CE-691920FF84ED}" srcOrd="1" destOrd="0" parTransId="{B7BFD861-2CCC-481B-B6E6-644D4D2FA3AF}" sibTransId="{2B23F3B7-9108-4437-B579-2F538F8832ED}"/>
    <dgm:cxn modelId="{6F978D55-E19A-4258-9E43-6C0B1EA0C3FE}" type="presOf" srcId="{89F0DA6A-CA5C-477D-A5FD-49AA811B1174}" destId="{1A62BE2D-96F2-4549-AD70-AA571D0FEAFA}" srcOrd="0" destOrd="0" presId="urn:microsoft.com/office/officeart/2005/8/layout/list1"/>
    <dgm:cxn modelId="{C4B8BC5A-CE19-4073-87F4-371BE096715E}" srcId="{3E922284-B197-4875-B6CE-691920FF84ED}" destId="{45F9774F-AB33-4142-848D-F48B657D673D}" srcOrd="1" destOrd="0" parTransId="{A1492382-281C-4420-B88B-582EFC839D9A}" sibTransId="{6F98D564-BCA4-489B-9399-98D1B0997D5B}"/>
    <dgm:cxn modelId="{B7997CA5-75E3-47FF-8199-7A43B6D2C495}" srcId="{89F0DA6A-CA5C-477D-A5FD-49AA811B1174}" destId="{B50ACC21-01AE-436B-9273-2FF92755105D}" srcOrd="2" destOrd="0" parTransId="{AFDE80F5-563C-4A93-ACBC-93CB3CBB8EC1}" sibTransId="{3B7F8EFF-4B4F-4F00-9670-E6F751D817F2}"/>
    <dgm:cxn modelId="{915B29B6-64E0-4197-BBFB-BC995E7DD86B}" type="presOf" srcId="{A32999AE-0D5E-4E82-A56E-C7156C491ECB}" destId="{C2DD8FBB-21B5-4CDA-BEFE-64988D733F5C}" srcOrd="0" destOrd="0" presId="urn:microsoft.com/office/officeart/2005/8/layout/list1"/>
    <dgm:cxn modelId="{D8A060CB-6E26-481E-A4F0-CDB3E772B02B}" type="presOf" srcId="{3E922284-B197-4875-B6CE-691920FF84ED}" destId="{113A3A7E-E968-4A35-94A4-6DC1D0DC6DC7}" srcOrd="1" destOrd="0" presId="urn:microsoft.com/office/officeart/2005/8/layout/list1"/>
    <dgm:cxn modelId="{17E2FDD4-1FF1-4AAF-9CA8-F0369FCA09F7}" type="presOf" srcId="{45F9774F-AB33-4142-848D-F48B657D673D}" destId="{AED6E2BF-0C45-42FC-BB24-B2046CA21CD9}" srcOrd="0" destOrd="1" presId="urn:microsoft.com/office/officeart/2005/8/layout/list1"/>
    <dgm:cxn modelId="{F13A8BD6-2501-4658-BB3B-D4CD8F8AA6DD}" srcId="{4FD0A13F-4678-4B55-8095-54CD6AE4C914}" destId="{89F0DA6A-CA5C-477D-A5FD-49AA811B1174}" srcOrd="0" destOrd="0" parTransId="{BCC44D17-1E0C-445A-8457-AD1C5429FE0F}" sibTransId="{6DC59D21-AA29-498E-B120-17015C88C2E5}"/>
    <dgm:cxn modelId="{3F24CCDF-FF2E-44A0-8B98-DBB64D32690B}" type="presOf" srcId="{6FCC32BD-EFE5-4AE6-B461-788759D90F78}" destId="{AED6E2BF-0C45-42FC-BB24-B2046CA21CD9}" srcOrd="0" destOrd="0" presId="urn:microsoft.com/office/officeart/2005/8/layout/list1"/>
    <dgm:cxn modelId="{A2596467-E652-48DA-9F59-3E048784EEC6}" type="presParOf" srcId="{05B2FEE8-3C2F-49FA-9FA4-788BB694D208}" destId="{B8747ECE-FC1F-47E2-94F0-976304165D4B}" srcOrd="0" destOrd="0" presId="urn:microsoft.com/office/officeart/2005/8/layout/list1"/>
    <dgm:cxn modelId="{FDD338CC-3F2B-49CA-8E1D-A60E81B8F3F6}" type="presParOf" srcId="{B8747ECE-FC1F-47E2-94F0-976304165D4B}" destId="{1A62BE2D-96F2-4549-AD70-AA571D0FEAFA}" srcOrd="0" destOrd="0" presId="urn:microsoft.com/office/officeart/2005/8/layout/list1"/>
    <dgm:cxn modelId="{4BAF7C75-50C8-4B79-92E6-2068A82FC2C3}" type="presParOf" srcId="{B8747ECE-FC1F-47E2-94F0-976304165D4B}" destId="{8B8F4680-CA2C-4C4D-84F6-6BE1D156C9DB}" srcOrd="1" destOrd="0" presId="urn:microsoft.com/office/officeart/2005/8/layout/list1"/>
    <dgm:cxn modelId="{31C51D7F-0540-420B-B331-C3F8291868E9}" type="presParOf" srcId="{05B2FEE8-3C2F-49FA-9FA4-788BB694D208}" destId="{37696480-15C1-49CA-B7F4-E7E7D006652A}" srcOrd="1" destOrd="0" presId="urn:microsoft.com/office/officeart/2005/8/layout/list1"/>
    <dgm:cxn modelId="{63802128-AF7F-4559-B564-46FC4AD45574}" type="presParOf" srcId="{05B2FEE8-3C2F-49FA-9FA4-788BB694D208}" destId="{C2DD8FBB-21B5-4CDA-BEFE-64988D733F5C}" srcOrd="2" destOrd="0" presId="urn:microsoft.com/office/officeart/2005/8/layout/list1"/>
    <dgm:cxn modelId="{6086A199-C1BC-4D9C-A7C0-4253815FFE2C}" type="presParOf" srcId="{05B2FEE8-3C2F-49FA-9FA4-788BB694D208}" destId="{AB79A08C-0990-4731-AFF5-DA8F56EBA095}" srcOrd="3" destOrd="0" presId="urn:microsoft.com/office/officeart/2005/8/layout/list1"/>
    <dgm:cxn modelId="{A5F2BE8E-A6FF-4ABB-B495-28A9E8884119}" type="presParOf" srcId="{05B2FEE8-3C2F-49FA-9FA4-788BB694D208}" destId="{C15C78BA-CDC6-472F-8E67-9438BF85D8A4}" srcOrd="4" destOrd="0" presId="urn:microsoft.com/office/officeart/2005/8/layout/list1"/>
    <dgm:cxn modelId="{64B553E7-C9A2-4A08-B9DB-E3285BFDE9BB}" type="presParOf" srcId="{C15C78BA-CDC6-472F-8E67-9438BF85D8A4}" destId="{BD7BDDF3-22A0-4FE8-8919-71A45C056CB5}" srcOrd="0" destOrd="0" presId="urn:microsoft.com/office/officeart/2005/8/layout/list1"/>
    <dgm:cxn modelId="{8C7FD7CE-FA27-4926-92F2-FE5C015B8EBD}" type="presParOf" srcId="{C15C78BA-CDC6-472F-8E67-9438BF85D8A4}" destId="{113A3A7E-E968-4A35-94A4-6DC1D0DC6DC7}" srcOrd="1" destOrd="0" presId="urn:microsoft.com/office/officeart/2005/8/layout/list1"/>
    <dgm:cxn modelId="{34EC8439-FFBE-42F2-855E-15D1E2B0B56B}" type="presParOf" srcId="{05B2FEE8-3C2F-49FA-9FA4-788BB694D208}" destId="{6CEBF089-7168-4057-9318-F914C080D426}" srcOrd="5" destOrd="0" presId="urn:microsoft.com/office/officeart/2005/8/layout/list1"/>
    <dgm:cxn modelId="{6EA4FCA6-7CC2-41CB-A705-5D5D0C62F859}" type="presParOf" srcId="{05B2FEE8-3C2F-49FA-9FA4-788BB694D208}" destId="{AED6E2BF-0C45-42FC-BB24-B2046CA21CD9}" srcOrd="6" destOrd="0" presId="urn:microsoft.com/office/officeart/2005/8/layout/list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6.xml><?xml version="1.0" encoding="utf-8"?>
<dgm:dataModel xmlns:dgm="http://schemas.openxmlformats.org/drawingml/2006/diagram" xmlns:a="http://schemas.openxmlformats.org/drawingml/2006/main">
  <dgm:ptLst>
    <dgm:pt modelId="{4FD0A13F-4678-4B55-8095-54CD6AE4C914}" type="doc">
      <dgm:prSet loTypeId="urn:microsoft.com/office/officeart/2005/8/layout/list1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SG"/>
        </a:p>
      </dgm:t>
    </dgm:pt>
    <dgm:pt modelId="{3A82CF94-7BE9-4E8E-ABD1-08EA7DBDF115}">
      <dgm:prSet custT="1"/>
      <dgm:spPr/>
      <dgm:t>
        <a:bodyPr/>
        <a:lstStyle/>
        <a:p>
          <a:pPr marL="0" indent="0" algn="just">
            <a:buFont typeface="Wingdings" panose="05000000000000000000" pitchFamily="2" charset="2"/>
            <a:buChar char="Ø"/>
          </a:pPr>
          <a:r>
            <a:rPr lang="en-SG" sz="1400" b="1"/>
            <a:t>Experiment Design</a:t>
          </a:r>
          <a:endParaRPr lang="en-SG" sz="1400" b="0" dirty="0"/>
        </a:p>
      </dgm:t>
    </dgm:pt>
    <dgm:pt modelId="{9D2EEF77-0385-4988-9D17-03079EDD523F}" type="parTrans" cxnId="{B51D9DFF-7F7E-49E3-84DE-FCE2476F502A}">
      <dgm:prSet/>
      <dgm:spPr/>
      <dgm:t>
        <a:bodyPr/>
        <a:lstStyle/>
        <a:p>
          <a:endParaRPr lang="en-SG"/>
        </a:p>
      </dgm:t>
    </dgm:pt>
    <dgm:pt modelId="{A1A3FE7F-1FCF-43B3-9C04-57BAD70FE7A2}" type="sibTrans" cxnId="{B51D9DFF-7F7E-49E3-84DE-FCE2476F502A}">
      <dgm:prSet/>
      <dgm:spPr/>
      <dgm:t>
        <a:bodyPr/>
        <a:lstStyle/>
        <a:p>
          <a:endParaRPr lang="en-SG"/>
        </a:p>
      </dgm:t>
    </dgm:pt>
    <dgm:pt modelId="{40FAFD6E-6E25-46E0-A707-E1A04BA98920}">
      <dgm:prSet custT="1"/>
      <dgm:spPr/>
      <dgm:t>
        <a:bodyPr/>
        <a:lstStyle/>
        <a:p>
          <a:pPr marL="0" indent="0" algn="just">
            <a:buFont typeface="Wingdings" panose="05000000000000000000" pitchFamily="2" charset="2"/>
            <a:buChar char="Ø"/>
          </a:pPr>
          <a:r>
            <a:rPr lang="en-SG" sz="1400" b="0" dirty="0"/>
            <a:t> </a:t>
          </a:r>
          <a:r>
            <a:rPr lang="en-SG" sz="1400" b="1" dirty="0"/>
            <a:t>User-Level Uplift Model:</a:t>
          </a:r>
          <a:r>
            <a:rPr lang="en-SG" sz="1400" b="0" dirty="0"/>
            <a:t> Augment segment-level targeting strategy with user-level targeting strategy</a:t>
          </a:r>
        </a:p>
      </dgm:t>
    </dgm:pt>
    <dgm:pt modelId="{95EAAF89-3147-4DC7-AAB3-FA93244D81C2}" type="parTrans" cxnId="{73937818-48FB-4873-8C47-CA62574D0405}">
      <dgm:prSet/>
      <dgm:spPr/>
      <dgm:t>
        <a:bodyPr/>
        <a:lstStyle/>
        <a:p>
          <a:endParaRPr lang="en-SG"/>
        </a:p>
      </dgm:t>
    </dgm:pt>
    <dgm:pt modelId="{44E96474-0A5C-40FD-93A4-CBD255A4054D}" type="sibTrans" cxnId="{73937818-48FB-4873-8C47-CA62574D0405}">
      <dgm:prSet/>
      <dgm:spPr/>
      <dgm:t>
        <a:bodyPr/>
        <a:lstStyle/>
        <a:p>
          <a:endParaRPr lang="en-SG"/>
        </a:p>
      </dgm:t>
    </dgm:pt>
    <dgm:pt modelId="{FFAAFC1A-727A-4DA6-8851-AABC6485BB4B}">
      <dgm:prSet custT="1"/>
      <dgm:spPr/>
      <dgm:t>
        <a:bodyPr/>
        <a:lstStyle/>
        <a:p>
          <a:pPr marL="0" indent="0" algn="just">
            <a:buFont typeface="Wingdings" panose="05000000000000000000" pitchFamily="2" charset="2"/>
            <a:buChar char="Ø"/>
          </a:pPr>
          <a:r>
            <a:rPr lang="en-SG" sz="1400" b="0" dirty="0"/>
            <a:t> </a:t>
          </a:r>
          <a:r>
            <a:rPr lang="en-SG" sz="1400" b="1" dirty="0"/>
            <a:t>Profit lens:</a:t>
          </a:r>
          <a:r>
            <a:rPr lang="en-SG" sz="1400" b="0" dirty="0"/>
            <a:t> Move from revenue to contribution margins if more accurate data becomes available.</a:t>
          </a:r>
        </a:p>
      </dgm:t>
    </dgm:pt>
    <dgm:pt modelId="{AD957C68-345E-4EE9-AF24-0706ADBE5125}" type="parTrans" cxnId="{2BF8F545-9C1D-47E3-92D0-F2077D1AB9AD}">
      <dgm:prSet/>
      <dgm:spPr/>
      <dgm:t>
        <a:bodyPr/>
        <a:lstStyle/>
        <a:p>
          <a:endParaRPr lang="en-SG"/>
        </a:p>
      </dgm:t>
    </dgm:pt>
    <dgm:pt modelId="{C05B46B4-97CA-4EF7-8418-D607E046F6E7}" type="sibTrans" cxnId="{2BF8F545-9C1D-47E3-92D0-F2077D1AB9AD}">
      <dgm:prSet/>
      <dgm:spPr/>
      <dgm:t>
        <a:bodyPr/>
        <a:lstStyle/>
        <a:p>
          <a:endParaRPr lang="en-SG"/>
        </a:p>
      </dgm:t>
    </dgm:pt>
    <dgm:pt modelId="{7B046F0C-628B-4C2A-B056-8BDD56B4F89C}">
      <dgm:prSet custT="1"/>
      <dgm:spPr/>
      <dgm:t>
        <a:bodyPr/>
        <a:lstStyle/>
        <a:p>
          <a:pPr marL="0" indent="0" algn="just">
            <a:buFont typeface="Wingdings" panose="05000000000000000000" pitchFamily="2" charset="2"/>
            <a:buChar char="Ø"/>
          </a:pPr>
          <a:r>
            <a:rPr lang="en-SG" sz="1400" b="1" dirty="0"/>
            <a:t> Multi-Arm Experiments: </a:t>
          </a:r>
          <a:r>
            <a:rPr lang="en-SG" sz="1400" b="0" dirty="0"/>
            <a:t>Move beyond binary treatment e.g., Men vs Women vs Control (No Email)</a:t>
          </a:r>
        </a:p>
      </dgm:t>
    </dgm:pt>
    <dgm:pt modelId="{57ED3C1D-6B4B-4820-AE51-65AD2E298AB2}" type="parTrans" cxnId="{8DD3536B-5D51-4421-A607-E9195DD7F8DE}">
      <dgm:prSet/>
      <dgm:spPr/>
      <dgm:t>
        <a:bodyPr/>
        <a:lstStyle/>
        <a:p>
          <a:endParaRPr lang="en-SG"/>
        </a:p>
      </dgm:t>
    </dgm:pt>
    <dgm:pt modelId="{49A45766-79CF-47EF-B8F2-3DBE0EF9DFB1}" type="sibTrans" cxnId="{8DD3536B-5D51-4421-A607-E9195DD7F8DE}">
      <dgm:prSet/>
      <dgm:spPr/>
      <dgm:t>
        <a:bodyPr/>
        <a:lstStyle/>
        <a:p>
          <a:endParaRPr lang="en-SG"/>
        </a:p>
      </dgm:t>
    </dgm:pt>
    <dgm:pt modelId="{4DE7B44D-3D98-437D-A10C-76AD398764F5}">
      <dgm:prSet custT="1"/>
      <dgm:spPr/>
      <dgm:t>
        <a:bodyPr/>
        <a:lstStyle/>
        <a:p>
          <a:pPr marL="0" indent="0" algn="just">
            <a:buNone/>
          </a:pPr>
          <a:r>
            <a:rPr lang="en-SG" sz="1400" b="1" dirty="0"/>
            <a:t>Targeting </a:t>
          </a:r>
          <a:r>
            <a:rPr lang="en-SG" sz="1400" b="1"/>
            <a:t>&amp; modeling</a:t>
          </a:r>
          <a:endParaRPr lang="en-SG" sz="1400" b="1" dirty="0"/>
        </a:p>
      </dgm:t>
    </dgm:pt>
    <dgm:pt modelId="{2D72B28D-D9BB-4633-A9DF-5A88D283C9EE}" type="parTrans" cxnId="{ED59F5CB-2D6B-4BE1-B039-01CBB4804B55}">
      <dgm:prSet/>
      <dgm:spPr/>
      <dgm:t>
        <a:bodyPr/>
        <a:lstStyle/>
        <a:p>
          <a:endParaRPr lang="en-SG"/>
        </a:p>
      </dgm:t>
    </dgm:pt>
    <dgm:pt modelId="{7ED3A2BF-292C-4B01-BE25-CCE332C7010A}" type="sibTrans" cxnId="{ED59F5CB-2D6B-4BE1-B039-01CBB4804B55}">
      <dgm:prSet/>
      <dgm:spPr/>
      <dgm:t>
        <a:bodyPr/>
        <a:lstStyle/>
        <a:p>
          <a:endParaRPr lang="en-SG"/>
        </a:p>
      </dgm:t>
    </dgm:pt>
    <dgm:pt modelId="{B43BCB5C-195F-40BA-B67E-BF95858295B0}">
      <dgm:prSet custT="1"/>
      <dgm:spPr/>
      <dgm:t>
        <a:bodyPr/>
        <a:lstStyle/>
        <a:p>
          <a:pPr marL="0" indent="0" algn="just">
            <a:buNone/>
          </a:pPr>
          <a:r>
            <a:rPr lang="en-SG" sz="1400" b="1" dirty="0"/>
            <a:t>Economics</a:t>
          </a:r>
        </a:p>
      </dgm:t>
    </dgm:pt>
    <dgm:pt modelId="{5D791791-EA65-46B7-BDF6-B87A21C6D5B3}" type="parTrans" cxnId="{E5969710-8A55-499F-8D68-DC3246D2F16F}">
      <dgm:prSet/>
      <dgm:spPr/>
      <dgm:t>
        <a:bodyPr/>
        <a:lstStyle/>
        <a:p>
          <a:endParaRPr lang="en-SG"/>
        </a:p>
      </dgm:t>
    </dgm:pt>
    <dgm:pt modelId="{ECA11D03-5805-418F-9C4B-737104A60172}" type="sibTrans" cxnId="{E5969710-8A55-499F-8D68-DC3246D2F16F}">
      <dgm:prSet/>
      <dgm:spPr/>
      <dgm:t>
        <a:bodyPr/>
        <a:lstStyle/>
        <a:p>
          <a:endParaRPr lang="en-SG"/>
        </a:p>
      </dgm:t>
    </dgm:pt>
    <dgm:pt modelId="{28BE5D61-8E0E-4F90-9D86-2DC25BE2716A}">
      <dgm:prSet custT="1"/>
      <dgm:spPr/>
      <dgm:t>
        <a:bodyPr/>
        <a:lstStyle/>
        <a:p>
          <a:pPr marL="0" indent="0" algn="just">
            <a:buFont typeface="Wingdings" panose="05000000000000000000" pitchFamily="2" charset="2"/>
            <a:buChar char="Ø"/>
          </a:pPr>
          <a:r>
            <a:rPr lang="en-SG" sz="1400" b="1" dirty="0"/>
            <a:t> Richer segmentation:</a:t>
          </a:r>
          <a:r>
            <a:rPr lang="en-SG" sz="1400" b="0" dirty="0"/>
            <a:t> Leverage additional customer features (beyond historical spend) to refine targeting</a:t>
          </a:r>
        </a:p>
      </dgm:t>
    </dgm:pt>
    <dgm:pt modelId="{A0FA45E8-775F-476A-8E76-FAE9F553D091}" type="parTrans" cxnId="{17D06837-7290-4719-9308-0112AFEEBC8B}">
      <dgm:prSet/>
      <dgm:spPr/>
      <dgm:t>
        <a:bodyPr/>
        <a:lstStyle/>
        <a:p>
          <a:endParaRPr lang="en-SG"/>
        </a:p>
      </dgm:t>
    </dgm:pt>
    <dgm:pt modelId="{DDB1556E-BCD7-4B45-9C0F-3871564E593A}" type="sibTrans" cxnId="{17D06837-7290-4719-9308-0112AFEEBC8B}">
      <dgm:prSet/>
      <dgm:spPr/>
      <dgm:t>
        <a:bodyPr/>
        <a:lstStyle/>
        <a:p>
          <a:endParaRPr lang="en-SG"/>
        </a:p>
      </dgm:t>
    </dgm:pt>
    <dgm:pt modelId="{05B2FEE8-3C2F-49FA-9FA4-788BB694D208}" type="pres">
      <dgm:prSet presAssocID="{4FD0A13F-4678-4B55-8095-54CD6AE4C914}" presName="linear" presStyleCnt="0">
        <dgm:presLayoutVars>
          <dgm:dir/>
          <dgm:animLvl val="lvl"/>
          <dgm:resizeHandles val="exact"/>
        </dgm:presLayoutVars>
      </dgm:prSet>
      <dgm:spPr/>
    </dgm:pt>
    <dgm:pt modelId="{ABD9D6EC-DBB4-4ACA-ABF8-6F020A0AA342}" type="pres">
      <dgm:prSet presAssocID="{3A82CF94-7BE9-4E8E-ABD1-08EA7DBDF115}" presName="parentLin" presStyleCnt="0"/>
      <dgm:spPr/>
    </dgm:pt>
    <dgm:pt modelId="{4F094E22-4246-4950-AB09-17FBB6466276}" type="pres">
      <dgm:prSet presAssocID="{3A82CF94-7BE9-4E8E-ABD1-08EA7DBDF115}" presName="parentLeftMargin" presStyleLbl="node1" presStyleIdx="0" presStyleCnt="3"/>
      <dgm:spPr/>
    </dgm:pt>
    <dgm:pt modelId="{53F627DA-FAC0-4645-A1A7-608AD8EFC15A}" type="pres">
      <dgm:prSet presAssocID="{3A82CF94-7BE9-4E8E-ABD1-08EA7DBDF115}" presName="parentText" presStyleLbl="node1" presStyleIdx="0" presStyleCnt="3">
        <dgm:presLayoutVars>
          <dgm:chMax val="0"/>
          <dgm:bulletEnabled val="1"/>
        </dgm:presLayoutVars>
      </dgm:prSet>
      <dgm:spPr/>
    </dgm:pt>
    <dgm:pt modelId="{C2DB1278-D306-47FE-8605-35C70FABB4C0}" type="pres">
      <dgm:prSet presAssocID="{3A82CF94-7BE9-4E8E-ABD1-08EA7DBDF115}" presName="negativeSpace" presStyleCnt="0"/>
      <dgm:spPr/>
    </dgm:pt>
    <dgm:pt modelId="{68A382FD-BD3B-42F7-B192-0F21BFBD2634}" type="pres">
      <dgm:prSet presAssocID="{3A82CF94-7BE9-4E8E-ABD1-08EA7DBDF115}" presName="childText" presStyleLbl="conFgAcc1" presStyleIdx="0" presStyleCnt="3">
        <dgm:presLayoutVars>
          <dgm:bulletEnabled val="1"/>
        </dgm:presLayoutVars>
      </dgm:prSet>
      <dgm:spPr/>
    </dgm:pt>
    <dgm:pt modelId="{7CC33BB9-3504-4C8F-B34C-25A0C7084DAB}" type="pres">
      <dgm:prSet presAssocID="{A1A3FE7F-1FCF-43B3-9C04-57BAD70FE7A2}" presName="spaceBetweenRectangles" presStyleCnt="0"/>
      <dgm:spPr/>
    </dgm:pt>
    <dgm:pt modelId="{A3D5D0DD-4216-4F86-AB45-070148030550}" type="pres">
      <dgm:prSet presAssocID="{4DE7B44D-3D98-437D-A10C-76AD398764F5}" presName="parentLin" presStyleCnt="0"/>
      <dgm:spPr/>
    </dgm:pt>
    <dgm:pt modelId="{A4129E6D-79FA-4943-A700-596FBB15A598}" type="pres">
      <dgm:prSet presAssocID="{4DE7B44D-3D98-437D-A10C-76AD398764F5}" presName="parentLeftMargin" presStyleLbl="node1" presStyleIdx="0" presStyleCnt="3"/>
      <dgm:spPr/>
    </dgm:pt>
    <dgm:pt modelId="{EE9AD9F3-C139-4EF7-AAA2-8EF52C3B3FAB}" type="pres">
      <dgm:prSet presAssocID="{4DE7B44D-3D98-437D-A10C-76AD398764F5}" presName="parentText" presStyleLbl="node1" presStyleIdx="1" presStyleCnt="3">
        <dgm:presLayoutVars>
          <dgm:chMax val="0"/>
          <dgm:bulletEnabled val="1"/>
        </dgm:presLayoutVars>
      </dgm:prSet>
      <dgm:spPr/>
    </dgm:pt>
    <dgm:pt modelId="{01439C52-978B-42FC-A4BE-9449112F184C}" type="pres">
      <dgm:prSet presAssocID="{4DE7B44D-3D98-437D-A10C-76AD398764F5}" presName="negativeSpace" presStyleCnt="0"/>
      <dgm:spPr/>
    </dgm:pt>
    <dgm:pt modelId="{008E3BE6-73E1-466B-AD80-6B9768505739}" type="pres">
      <dgm:prSet presAssocID="{4DE7B44D-3D98-437D-A10C-76AD398764F5}" presName="childText" presStyleLbl="conFgAcc1" presStyleIdx="1" presStyleCnt="3">
        <dgm:presLayoutVars>
          <dgm:bulletEnabled val="1"/>
        </dgm:presLayoutVars>
      </dgm:prSet>
      <dgm:spPr/>
    </dgm:pt>
    <dgm:pt modelId="{A621B9E1-5390-4581-9046-48702425266A}" type="pres">
      <dgm:prSet presAssocID="{7ED3A2BF-292C-4B01-BE25-CCE332C7010A}" presName="spaceBetweenRectangles" presStyleCnt="0"/>
      <dgm:spPr/>
    </dgm:pt>
    <dgm:pt modelId="{924830AB-08AC-4AB6-929B-D79C1A41458E}" type="pres">
      <dgm:prSet presAssocID="{B43BCB5C-195F-40BA-B67E-BF95858295B0}" presName="parentLin" presStyleCnt="0"/>
      <dgm:spPr/>
    </dgm:pt>
    <dgm:pt modelId="{24F05EFA-5EF1-4D55-A756-26139989EE18}" type="pres">
      <dgm:prSet presAssocID="{B43BCB5C-195F-40BA-B67E-BF95858295B0}" presName="parentLeftMargin" presStyleLbl="node1" presStyleIdx="1" presStyleCnt="3"/>
      <dgm:spPr/>
    </dgm:pt>
    <dgm:pt modelId="{510B8EB9-D6F8-453F-AA31-2FFA43FC5DCB}" type="pres">
      <dgm:prSet presAssocID="{B43BCB5C-195F-40BA-B67E-BF95858295B0}" presName="parentText" presStyleLbl="node1" presStyleIdx="2" presStyleCnt="3">
        <dgm:presLayoutVars>
          <dgm:chMax val="0"/>
          <dgm:bulletEnabled val="1"/>
        </dgm:presLayoutVars>
      </dgm:prSet>
      <dgm:spPr/>
    </dgm:pt>
    <dgm:pt modelId="{0A143E4E-1A6F-4141-86B0-F3A120B4F1CE}" type="pres">
      <dgm:prSet presAssocID="{B43BCB5C-195F-40BA-B67E-BF95858295B0}" presName="negativeSpace" presStyleCnt="0"/>
      <dgm:spPr/>
    </dgm:pt>
    <dgm:pt modelId="{BF6BF230-E99A-4E12-A343-2F24764D1C66}" type="pres">
      <dgm:prSet presAssocID="{B43BCB5C-195F-40BA-B67E-BF95858295B0}" presName="childText" presStyleLbl="conFgAcc1" presStyleIdx="2" presStyleCnt="3">
        <dgm:presLayoutVars>
          <dgm:bulletEnabled val="1"/>
        </dgm:presLayoutVars>
      </dgm:prSet>
      <dgm:spPr/>
    </dgm:pt>
  </dgm:ptLst>
  <dgm:cxnLst>
    <dgm:cxn modelId="{4A267706-99F9-4CD8-BE35-A1E2F942D71E}" type="presOf" srcId="{B43BCB5C-195F-40BA-B67E-BF95858295B0}" destId="{510B8EB9-D6F8-453F-AA31-2FFA43FC5DCB}" srcOrd="1" destOrd="0" presId="urn:microsoft.com/office/officeart/2005/8/layout/list1"/>
    <dgm:cxn modelId="{1CD4C809-F488-4999-B028-DB2755B15B81}" type="presOf" srcId="{7B046F0C-628B-4C2A-B056-8BDD56B4F89C}" destId="{68A382FD-BD3B-42F7-B192-0F21BFBD2634}" srcOrd="0" destOrd="0" presId="urn:microsoft.com/office/officeart/2005/8/layout/list1"/>
    <dgm:cxn modelId="{E5969710-8A55-499F-8D68-DC3246D2F16F}" srcId="{4FD0A13F-4678-4B55-8095-54CD6AE4C914}" destId="{B43BCB5C-195F-40BA-B67E-BF95858295B0}" srcOrd="2" destOrd="0" parTransId="{5D791791-EA65-46B7-BDF6-B87A21C6D5B3}" sibTransId="{ECA11D03-5805-418F-9C4B-737104A60172}"/>
    <dgm:cxn modelId="{82E3FB14-06AC-46CB-B85E-2774576C08AC}" type="presOf" srcId="{4FD0A13F-4678-4B55-8095-54CD6AE4C914}" destId="{05B2FEE8-3C2F-49FA-9FA4-788BB694D208}" srcOrd="0" destOrd="0" presId="urn:microsoft.com/office/officeart/2005/8/layout/list1"/>
    <dgm:cxn modelId="{73937818-48FB-4873-8C47-CA62574D0405}" srcId="{4DE7B44D-3D98-437D-A10C-76AD398764F5}" destId="{40FAFD6E-6E25-46E0-A707-E1A04BA98920}" srcOrd="0" destOrd="0" parTransId="{95EAAF89-3147-4DC7-AAB3-FA93244D81C2}" sibTransId="{44E96474-0A5C-40FD-93A4-CBD255A4054D}"/>
    <dgm:cxn modelId="{17D06837-7290-4719-9308-0112AFEEBC8B}" srcId="{B43BCB5C-195F-40BA-B67E-BF95858295B0}" destId="{28BE5D61-8E0E-4F90-9D86-2DC25BE2716A}" srcOrd="1" destOrd="0" parTransId="{A0FA45E8-775F-476A-8E76-FAE9F553D091}" sibTransId="{DDB1556E-BCD7-4B45-9C0F-3871564E593A}"/>
    <dgm:cxn modelId="{B4812C44-F463-4F1D-8EB5-6EFA5641E613}" type="presOf" srcId="{FFAAFC1A-727A-4DA6-8851-AABC6485BB4B}" destId="{BF6BF230-E99A-4E12-A343-2F24764D1C66}" srcOrd="0" destOrd="0" presId="urn:microsoft.com/office/officeart/2005/8/layout/list1"/>
    <dgm:cxn modelId="{2BF8F545-9C1D-47E3-92D0-F2077D1AB9AD}" srcId="{B43BCB5C-195F-40BA-B67E-BF95858295B0}" destId="{FFAAFC1A-727A-4DA6-8851-AABC6485BB4B}" srcOrd="0" destOrd="0" parTransId="{AD957C68-345E-4EE9-AF24-0706ADBE5125}" sibTransId="{C05B46B4-97CA-4EF7-8418-D607E046F6E7}"/>
    <dgm:cxn modelId="{2C044A6B-695A-4498-8C3C-3F62812137D0}" type="presOf" srcId="{B43BCB5C-195F-40BA-B67E-BF95858295B0}" destId="{24F05EFA-5EF1-4D55-A756-26139989EE18}" srcOrd="0" destOrd="0" presId="urn:microsoft.com/office/officeart/2005/8/layout/list1"/>
    <dgm:cxn modelId="{8DD3536B-5D51-4421-A607-E9195DD7F8DE}" srcId="{3A82CF94-7BE9-4E8E-ABD1-08EA7DBDF115}" destId="{7B046F0C-628B-4C2A-B056-8BDD56B4F89C}" srcOrd="0" destOrd="0" parTransId="{57ED3C1D-6B4B-4820-AE51-65AD2E298AB2}" sibTransId="{49A45766-79CF-47EF-B8F2-3DBE0EF9DFB1}"/>
    <dgm:cxn modelId="{0F8ED16B-ECD0-4A69-A806-2028D4ED729D}" type="presOf" srcId="{4DE7B44D-3D98-437D-A10C-76AD398764F5}" destId="{A4129E6D-79FA-4943-A700-596FBB15A598}" srcOrd="0" destOrd="0" presId="urn:microsoft.com/office/officeart/2005/8/layout/list1"/>
    <dgm:cxn modelId="{84811354-49D3-4F6B-B938-C32E3EF998CE}" type="presOf" srcId="{28BE5D61-8E0E-4F90-9D86-2DC25BE2716A}" destId="{BF6BF230-E99A-4E12-A343-2F24764D1C66}" srcOrd="0" destOrd="1" presId="urn:microsoft.com/office/officeart/2005/8/layout/list1"/>
    <dgm:cxn modelId="{B419DA8A-B89C-426B-969C-C8271412ECAA}" type="presOf" srcId="{40FAFD6E-6E25-46E0-A707-E1A04BA98920}" destId="{008E3BE6-73E1-466B-AD80-6B9768505739}" srcOrd="0" destOrd="0" presId="urn:microsoft.com/office/officeart/2005/8/layout/list1"/>
    <dgm:cxn modelId="{BE8C22AD-D9FB-48AF-A06E-30A030BD04A7}" type="presOf" srcId="{3A82CF94-7BE9-4E8E-ABD1-08EA7DBDF115}" destId="{4F094E22-4246-4950-AB09-17FBB6466276}" srcOrd="0" destOrd="0" presId="urn:microsoft.com/office/officeart/2005/8/layout/list1"/>
    <dgm:cxn modelId="{ED59F5CB-2D6B-4BE1-B039-01CBB4804B55}" srcId="{4FD0A13F-4678-4B55-8095-54CD6AE4C914}" destId="{4DE7B44D-3D98-437D-A10C-76AD398764F5}" srcOrd="1" destOrd="0" parTransId="{2D72B28D-D9BB-4633-A9DF-5A88D283C9EE}" sibTransId="{7ED3A2BF-292C-4B01-BE25-CCE332C7010A}"/>
    <dgm:cxn modelId="{E7ACECD7-A352-44F7-B1F5-04B49E927F81}" type="presOf" srcId="{3A82CF94-7BE9-4E8E-ABD1-08EA7DBDF115}" destId="{53F627DA-FAC0-4645-A1A7-608AD8EFC15A}" srcOrd="1" destOrd="0" presId="urn:microsoft.com/office/officeart/2005/8/layout/list1"/>
    <dgm:cxn modelId="{04C87EE7-04B3-4700-B929-C14D79478BB3}" type="presOf" srcId="{4DE7B44D-3D98-437D-A10C-76AD398764F5}" destId="{EE9AD9F3-C139-4EF7-AAA2-8EF52C3B3FAB}" srcOrd="1" destOrd="0" presId="urn:microsoft.com/office/officeart/2005/8/layout/list1"/>
    <dgm:cxn modelId="{B51D9DFF-7F7E-49E3-84DE-FCE2476F502A}" srcId="{4FD0A13F-4678-4B55-8095-54CD6AE4C914}" destId="{3A82CF94-7BE9-4E8E-ABD1-08EA7DBDF115}" srcOrd="0" destOrd="0" parTransId="{9D2EEF77-0385-4988-9D17-03079EDD523F}" sibTransId="{A1A3FE7F-1FCF-43B3-9C04-57BAD70FE7A2}"/>
    <dgm:cxn modelId="{78C0483A-117B-4E9F-A138-F199E97E5B23}" type="presParOf" srcId="{05B2FEE8-3C2F-49FA-9FA4-788BB694D208}" destId="{ABD9D6EC-DBB4-4ACA-ABF8-6F020A0AA342}" srcOrd="0" destOrd="0" presId="urn:microsoft.com/office/officeart/2005/8/layout/list1"/>
    <dgm:cxn modelId="{0479E5AA-4648-4F0F-AA20-72B32880D328}" type="presParOf" srcId="{ABD9D6EC-DBB4-4ACA-ABF8-6F020A0AA342}" destId="{4F094E22-4246-4950-AB09-17FBB6466276}" srcOrd="0" destOrd="0" presId="urn:microsoft.com/office/officeart/2005/8/layout/list1"/>
    <dgm:cxn modelId="{0E882B17-9702-4915-B54C-30A63CF2797A}" type="presParOf" srcId="{ABD9D6EC-DBB4-4ACA-ABF8-6F020A0AA342}" destId="{53F627DA-FAC0-4645-A1A7-608AD8EFC15A}" srcOrd="1" destOrd="0" presId="urn:microsoft.com/office/officeart/2005/8/layout/list1"/>
    <dgm:cxn modelId="{DC6FC29B-8E72-4C60-969E-1D750B284660}" type="presParOf" srcId="{05B2FEE8-3C2F-49FA-9FA4-788BB694D208}" destId="{C2DB1278-D306-47FE-8605-35C70FABB4C0}" srcOrd="1" destOrd="0" presId="urn:microsoft.com/office/officeart/2005/8/layout/list1"/>
    <dgm:cxn modelId="{B904536C-42D5-48FE-A81E-5F28D5C6E896}" type="presParOf" srcId="{05B2FEE8-3C2F-49FA-9FA4-788BB694D208}" destId="{68A382FD-BD3B-42F7-B192-0F21BFBD2634}" srcOrd="2" destOrd="0" presId="urn:microsoft.com/office/officeart/2005/8/layout/list1"/>
    <dgm:cxn modelId="{F480BFC7-99D9-4CDF-AA8F-6CE702C3A43D}" type="presParOf" srcId="{05B2FEE8-3C2F-49FA-9FA4-788BB694D208}" destId="{7CC33BB9-3504-4C8F-B34C-25A0C7084DAB}" srcOrd="3" destOrd="0" presId="urn:microsoft.com/office/officeart/2005/8/layout/list1"/>
    <dgm:cxn modelId="{2EBA0D6B-31BA-447C-BE73-3A842375CA19}" type="presParOf" srcId="{05B2FEE8-3C2F-49FA-9FA4-788BB694D208}" destId="{A3D5D0DD-4216-4F86-AB45-070148030550}" srcOrd="4" destOrd="0" presId="urn:microsoft.com/office/officeart/2005/8/layout/list1"/>
    <dgm:cxn modelId="{1F6F80BF-4AE1-44E2-9C5C-FD8E98935DB1}" type="presParOf" srcId="{A3D5D0DD-4216-4F86-AB45-070148030550}" destId="{A4129E6D-79FA-4943-A700-596FBB15A598}" srcOrd="0" destOrd="0" presId="urn:microsoft.com/office/officeart/2005/8/layout/list1"/>
    <dgm:cxn modelId="{3DA2A556-F368-48FD-8ADF-42E286A6D317}" type="presParOf" srcId="{A3D5D0DD-4216-4F86-AB45-070148030550}" destId="{EE9AD9F3-C139-4EF7-AAA2-8EF52C3B3FAB}" srcOrd="1" destOrd="0" presId="urn:microsoft.com/office/officeart/2005/8/layout/list1"/>
    <dgm:cxn modelId="{CEBA559D-A50F-4DDB-97DB-2DE1C04E677B}" type="presParOf" srcId="{05B2FEE8-3C2F-49FA-9FA4-788BB694D208}" destId="{01439C52-978B-42FC-A4BE-9449112F184C}" srcOrd="5" destOrd="0" presId="urn:microsoft.com/office/officeart/2005/8/layout/list1"/>
    <dgm:cxn modelId="{DEAC8A3D-BAEF-44BC-9092-B28E5D6DAB15}" type="presParOf" srcId="{05B2FEE8-3C2F-49FA-9FA4-788BB694D208}" destId="{008E3BE6-73E1-466B-AD80-6B9768505739}" srcOrd="6" destOrd="0" presId="urn:microsoft.com/office/officeart/2005/8/layout/list1"/>
    <dgm:cxn modelId="{0B7B67F3-19CE-484B-B199-92B2BBD26845}" type="presParOf" srcId="{05B2FEE8-3C2F-49FA-9FA4-788BB694D208}" destId="{A621B9E1-5390-4581-9046-48702425266A}" srcOrd="7" destOrd="0" presId="urn:microsoft.com/office/officeart/2005/8/layout/list1"/>
    <dgm:cxn modelId="{0920A1AE-946F-4A7E-B8A4-2981DCA3EE0D}" type="presParOf" srcId="{05B2FEE8-3C2F-49FA-9FA4-788BB694D208}" destId="{924830AB-08AC-4AB6-929B-D79C1A41458E}" srcOrd="8" destOrd="0" presId="urn:microsoft.com/office/officeart/2005/8/layout/list1"/>
    <dgm:cxn modelId="{581EEE1E-CAF0-43DF-A17B-6FB8FCD276F6}" type="presParOf" srcId="{924830AB-08AC-4AB6-929B-D79C1A41458E}" destId="{24F05EFA-5EF1-4D55-A756-26139989EE18}" srcOrd="0" destOrd="0" presId="urn:microsoft.com/office/officeart/2005/8/layout/list1"/>
    <dgm:cxn modelId="{21AB21D0-E851-4A38-A8B9-D6D16E8D1086}" type="presParOf" srcId="{924830AB-08AC-4AB6-929B-D79C1A41458E}" destId="{510B8EB9-D6F8-453F-AA31-2FFA43FC5DCB}" srcOrd="1" destOrd="0" presId="urn:microsoft.com/office/officeart/2005/8/layout/list1"/>
    <dgm:cxn modelId="{3303059F-6A46-43BB-85E3-99806789F3CA}" type="presParOf" srcId="{05B2FEE8-3C2F-49FA-9FA4-788BB694D208}" destId="{0A143E4E-1A6F-4141-86B0-F3A120B4F1CE}" srcOrd="9" destOrd="0" presId="urn:microsoft.com/office/officeart/2005/8/layout/list1"/>
    <dgm:cxn modelId="{E96C60BE-E9AC-4E42-A97B-65F940D010BC}" type="presParOf" srcId="{05B2FEE8-3C2F-49FA-9FA4-788BB694D208}" destId="{BF6BF230-E99A-4E12-A343-2F24764D1C66}" srcOrd="10" destOrd="0" presId="urn:microsoft.com/office/officeart/2005/8/layout/list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6F85C35-F699-4640-B952-1E19D48E42FC}">
      <dsp:nvSpPr>
        <dsp:cNvPr id="0" name=""/>
        <dsp:cNvSpPr/>
      </dsp:nvSpPr>
      <dsp:spPr>
        <a:xfrm>
          <a:off x="0" y="226394"/>
          <a:ext cx="9126127" cy="21168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08289" tIns="291592" rIns="708289" bIns="99568" numCol="1" spcCol="1270" anchor="t" anchorCtr="0">
          <a:noAutofit/>
        </a:bodyPr>
        <a:lstStyle/>
        <a:p>
          <a:pPr marL="114300" lvl="1" indent="-114300" algn="just" defTabSz="622300">
            <a:lnSpc>
              <a:spcPct val="100000"/>
            </a:lnSpc>
            <a:spcBef>
              <a:spcPct val="0"/>
            </a:spcBef>
            <a:spcAft>
              <a:spcPct val="15000"/>
            </a:spcAft>
            <a:buFont typeface="Wingdings" panose="05000000000000000000" pitchFamily="2" charset="2"/>
            <a:buNone/>
          </a:pPr>
          <a:r>
            <a:rPr lang="en-SG" sz="1400" b="1" kern="1200" dirty="0"/>
            <a:t>Problem</a:t>
          </a:r>
          <a:endParaRPr lang="en-SG" sz="1400" b="0" kern="1200" dirty="0"/>
        </a:p>
        <a:p>
          <a:pPr marL="114300" lvl="1" indent="-114300" algn="just" defTabSz="622300">
            <a:lnSpc>
              <a:spcPct val="100000"/>
            </a:lnSpc>
            <a:spcBef>
              <a:spcPct val="0"/>
            </a:spcBef>
            <a:spcAft>
              <a:spcPct val="15000"/>
            </a:spcAft>
            <a:buFont typeface="Wingdings" panose="05000000000000000000" pitchFamily="2" charset="2"/>
            <a:buChar char="Ø"/>
          </a:pPr>
          <a:r>
            <a:rPr lang="en-SG" sz="1400" b="0" kern="1200" dirty="0"/>
            <a:t> Does the campaign drive </a:t>
          </a:r>
          <a:r>
            <a:rPr lang="en-SG" sz="1400" b="1" kern="1200" dirty="0"/>
            <a:t>incremental conversions and revenue?</a:t>
          </a:r>
          <a:r>
            <a:rPr lang="en-SG" sz="1400" b="0" kern="1200" dirty="0"/>
            <a:t>
 Or does it </a:t>
          </a:r>
          <a:r>
            <a:rPr lang="en-SG" sz="1400" b="1" kern="1200" dirty="0"/>
            <a:t>take credit for existing behavior?</a:t>
          </a:r>
        </a:p>
        <a:p>
          <a:pPr marL="114300" lvl="1" indent="-114300" algn="just" defTabSz="622300">
            <a:lnSpc>
              <a:spcPct val="100000"/>
            </a:lnSpc>
            <a:spcBef>
              <a:spcPct val="0"/>
            </a:spcBef>
            <a:spcAft>
              <a:spcPct val="15000"/>
            </a:spcAft>
            <a:buFont typeface="Wingdings" panose="05000000000000000000" pitchFamily="2" charset="2"/>
            <a:buChar char="Ø"/>
          </a:pPr>
          <a:endParaRPr lang="en-SG" sz="1400" b="1" kern="1200" dirty="0"/>
        </a:p>
        <a:p>
          <a:pPr marL="114300" lvl="1" indent="-114300" algn="just" defTabSz="622300">
            <a:lnSpc>
              <a:spcPct val="100000"/>
            </a:lnSpc>
            <a:spcBef>
              <a:spcPct val="0"/>
            </a:spcBef>
            <a:spcAft>
              <a:spcPct val="15000"/>
            </a:spcAft>
            <a:buFont typeface="Wingdings" panose="05000000000000000000" pitchFamily="2" charset="2"/>
            <a:buNone/>
          </a:pPr>
          <a:r>
            <a:rPr lang="en-SG" sz="1400" b="1" i="0" kern="1200" dirty="0"/>
            <a:t>Why it matters</a:t>
          </a:r>
          <a:endParaRPr lang="en-SG" sz="1400" b="1" kern="1200" dirty="0"/>
        </a:p>
        <a:p>
          <a:pPr marL="114300" lvl="1" indent="-114300" algn="just" defTabSz="622300">
            <a:lnSpc>
              <a:spcPct val="100000"/>
            </a:lnSpc>
            <a:spcBef>
              <a:spcPct val="0"/>
            </a:spcBef>
            <a:spcAft>
              <a:spcPct val="15000"/>
            </a:spcAft>
            <a:buFont typeface="Wingdings" panose="05000000000000000000" pitchFamily="2" charset="2"/>
            <a:buChar char="Ø"/>
          </a:pPr>
          <a:r>
            <a:rPr lang="en-SG" sz="1400" b="0" i="0" kern="1200" dirty="0"/>
            <a:t> Weak incrementality → </a:t>
          </a:r>
          <a:r>
            <a:rPr lang="en-SG" sz="1400" b="1" i="0" kern="1200" dirty="0"/>
            <a:t>wasted spend and inflated ROI</a:t>
          </a:r>
          <a:r>
            <a:rPr lang="en-SG" sz="1400" b="0" i="0" kern="1200" dirty="0"/>
            <a:t>
 Inflated ROI → </a:t>
          </a:r>
          <a:r>
            <a:rPr lang="en-SG" sz="1400" b="1" i="0" kern="1200" dirty="0"/>
            <a:t>misleading decisions</a:t>
          </a:r>
          <a:endParaRPr lang="en-SG" sz="1400" b="1" kern="1200" dirty="0"/>
        </a:p>
      </dsp:txBody>
      <dsp:txXfrm>
        <a:off x="0" y="226394"/>
        <a:ext cx="9126127" cy="2116800"/>
      </dsp:txXfrm>
    </dsp:sp>
    <dsp:sp modelId="{2A2B5F5A-0955-4A24-AE6C-AAF8FDC2D0E9}">
      <dsp:nvSpPr>
        <dsp:cNvPr id="0" name=""/>
        <dsp:cNvSpPr/>
      </dsp:nvSpPr>
      <dsp:spPr>
        <a:xfrm>
          <a:off x="456306" y="19754"/>
          <a:ext cx="6388288" cy="41328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41462" tIns="0" rIns="241462" bIns="0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SG" sz="2000" b="1" u="none" kern="1200" dirty="0"/>
            <a:t>Business</a:t>
          </a:r>
        </a:p>
      </dsp:txBody>
      <dsp:txXfrm>
        <a:off x="476481" y="39929"/>
        <a:ext cx="6347938" cy="372930"/>
      </dsp:txXfrm>
    </dsp:sp>
    <dsp:sp modelId="{F9660ED3-7E34-4DC3-9E46-435268952735}">
      <dsp:nvSpPr>
        <dsp:cNvPr id="0" name=""/>
        <dsp:cNvSpPr/>
      </dsp:nvSpPr>
      <dsp:spPr>
        <a:xfrm>
          <a:off x="0" y="2625434"/>
          <a:ext cx="9126127" cy="26460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08289" tIns="291592" rIns="708289" bIns="99568" numCol="1" spcCol="1270" anchor="t" anchorCtr="0">
          <a:noAutofit/>
        </a:bodyPr>
        <a:lstStyle/>
        <a:p>
          <a:pPr marL="0" lvl="1" indent="0" algn="just" defTabSz="622300">
            <a:lnSpc>
              <a:spcPct val="100000"/>
            </a:lnSpc>
            <a:spcBef>
              <a:spcPct val="0"/>
            </a:spcBef>
            <a:spcAft>
              <a:spcPct val="15000"/>
            </a:spcAft>
            <a:buFont typeface="Wingdings" panose="05000000000000000000" pitchFamily="2" charset="2"/>
            <a:buNone/>
          </a:pPr>
          <a:r>
            <a:rPr lang="en-SG" sz="1400" b="1" kern="1200" dirty="0"/>
            <a:t>Source:</a:t>
          </a:r>
          <a:r>
            <a:rPr lang="en-SG" sz="1400" kern="1200" dirty="0"/>
            <a:t> </a:t>
          </a:r>
          <a:r>
            <a:rPr lang="en-SG" sz="1400" kern="1200" dirty="0">
              <a:hlinkClick xmlns:r="http://schemas.openxmlformats.org/officeDocument/2006/relationships" r:id="rId1"/>
            </a:rPr>
            <a:t>Hillstrom Email Marketing Dataset (MineThatData)</a:t>
          </a:r>
          <a:endParaRPr lang="en-SG" sz="1400" b="1" kern="1200" dirty="0"/>
        </a:p>
        <a:p>
          <a:pPr marL="0" lvl="1" indent="0" algn="just" defTabSz="622300">
            <a:lnSpc>
              <a:spcPct val="100000"/>
            </a:lnSpc>
            <a:spcBef>
              <a:spcPct val="0"/>
            </a:spcBef>
            <a:spcAft>
              <a:spcPct val="15000"/>
            </a:spcAft>
            <a:buFont typeface="Wingdings" panose="05000000000000000000" pitchFamily="2" charset="2"/>
            <a:buNone/>
          </a:pPr>
          <a:endParaRPr lang="en-SG" sz="1400" b="1" kern="1200" dirty="0"/>
        </a:p>
        <a:p>
          <a:pPr marL="0" lvl="1" indent="0" algn="just" defTabSz="622300">
            <a:lnSpc>
              <a:spcPct val="100000"/>
            </a:lnSpc>
            <a:spcBef>
              <a:spcPct val="0"/>
            </a:spcBef>
            <a:spcAft>
              <a:spcPct val="15000"/>
            </a:spcAft>
            <a:buFont typeface="Wingdings" panose="05000000000000000000" pitchFamily="2" charset="2"/>
            <a:buNone/>
          </a:pPr>
          <a:r>
            <a:rPr lang="en-SG" sz="1400" b="1" kern="1200" dirty="0"/>
            <a:t>Background &amp; Users</a:t>
          </a:r>
          <a:endParaRPr lang="en-SG" sz="1400" b="0" kern="1200" dirty="0"/>
        </a:p>
        <a:p>
          <a:pPr marL="0" lvl="1" indent="0" algn="just" defTabSz="622300">
            <a:lnSpc>
              <a:spcPct val="100000"/>
            </a:lnSpc>
            <a:spcBef>
              <a:spcPct val="0"/>
            </a:spcBef>
            <a:spcAft>
              <a:spcPct val="15000"/>
            </a:spcAft>
            <a:buFont typeface="Wingdings" panose="05000000000000000000" pitchFamily="2" charset="2"/>
            <a:buChar char="Ø"/>
          </a:pPr>
          <a:r>
            <a:rPr lang="en-SG" sz="1400" b="0" kern="1200" dirty="0"/>
            <a:t> </a:t>
          </a:r>
          <a:r>
            <a:rPr lang="en-SG" sz="1400" b="1" kern="1200" dirty="0"/>
            <a:t>Randomized experiment – 3 equal groups </a:t>
          </a:r>
          <a:r>
            <a:rPr lang="en-SG" sz="1400" b="0" kern="1200" dirty="0"/>
            <a:t>(Men / Women / No Email)</a:t>
          </a:r>
        </a:p>
        <a:p>
          <a:pPr marL="0" lvl="1" indent="0" algn="just" defTabSz="622300">
            <a:lnSpc>
              <a:spcPct val="100000"/>
            </a:lnSpc>
            <a:spcBef>
              <a:spcPct val="0"/>
            </a:spcBef>
            <a:spcAft>
              <a:spcPct val="15000"/>
            </a:spcAft>
            <a:buFont typeface="Wingdings" panose="05000000000000000000" pitchFamily="2" charset="2"/>
            <a:buChar char="Ø"/>
          </a:pPr>
          <a:r>
            <a:rPr lang="en-SG" sz="1400" kern="1200" dirty="0"/>
            <a:t> 64k customers </a:t>
          </a:r>
          <a:r>
            <a:rPr lang="en-SG" sz="1400" b="1" kern="1200" dirty="0"/>
            <a:t>(last purchased within 12 months)</a:t>
          </a:r>
        </a:p>
        <a:p>
          <a:pPr marL="0" lvl="1" indent="0" algn="just" defTabSz="622300">
            <a:lnSpc>
              <a:spcPct val="100000"/>
            </a:lnSpc>
            <a:spcBef>
              <a:spcPct val="0"/>
            </a:spcBef>
            <a:spcAft>
              <a:spcPct val="15000"/>
            </a:spcAft>
            <a:buFont typeface="Wingdings" panose="05000000000000000000" pitchFamily="2" charset="2"/>
            <a:buChar char="Ø"/>
          </a:pPr>
          <a:r>
            <a:rPr lang="en-SG" sz="1400" b="0" kern="1200" dirty="0"/>
            <a:t> </a:t>
          </a:r>
          <a:r>
            <a:rPr lang="en-SG" sz="1400" kern="1200" dirty="0"/>
            <a:t>suitable </a:t>
          </a:r>
          <a:r>
            <a:rPr lang="en-SG" sz="1400" b="1" kern="1200" dirty="0"/>
            <a:t>for causal (incremental) lift measurement</a:t>
          </a:r>
        </a:p>
        <a:p>
          <a:pPr marL="0" lvl="1" indent="0" algn="just" defTabSz="622300">
            <a:lnSpc>
              <a:spcPct val="100000"/>
            </a:lnSpc>
            <a:spcBef>
              <a:spcPct val="0"/>
            </a:spcBef>
            <a:spcAft>
              <a:spcPct val="15000"/>
            </a:spcAft>
            <a:buFont typeface="Wingdings" panose="05000000000000000000" pitchFamily="2" charset="2"/>
            <a:buNone/>
          </a:pPr>
          <a:endParaRPr lang="en-SG" sz="1400" b="0" kern="1200" dirty="0"/>
        </a:p>
        <a:p>
          <a:pPr marL="0" lvl="1" indent="0" algn="just" defTabSz="622300">
            <a:lnSpc>
              <a:spcPct val="100000"/>
            </a:lnSpc>
            <a:spcBef>
              <a:spcPct val="0"/>
            </a:spcBef>
            <a:spcAft>
              <a:spcPct val="15000"/>
            </a:spcAft>
            <a:buFont typeface="Wingdings" panose="05000000000000000000" pitchFamily="2" charset="2"/>
            <a:buNone/>
          </a:pPr>
          <a:r>
            <a:rPr lang="en-SG" sz="1400" b="1" kern="1200" dirty="0"/>
            <a:t>Key Labels (Outcomes)</a:t>
          </a:r>
          <a:r>
            <a:rPr lang="en-SG" sz="1400" b="1" kern="1200" baseline="30000" dirty="0"/>
            <a:t>1</a:t>
          </a:r>
          <a:r>
            <a:rPr lang="en-SG" sz="1400" b="1" kern="1200" dirty="0"/>
            <a:t>: </a:t>
          </a:r>
          <a:r>
            <a:rPr lang="en-SG" sz="1400" kern="1200" dirty="0"/>
            <a:t>`conversion`, `spend`</a:t>
          </a:r>
          <a:endParaRPr lang="en-SG" sz="1400" b="1" kern="1200" dirty="0"/>
        </a:p>
        <a:p>
          <a:pPr marL="0" lvl="1" indent="0" algn="just" defTabSz="622300">
            <a:lnSpc>
              <a:spcPct val="100000"/>
            </a:lnSpc>
            <a:spcBef>
              <a:spcPct val="0"/>
            </a:spcBef>
            <a:spcAft>
              <a:spcPct val="15000"/>
            </a:spcAft>
            <a:buFont typeface="Wingdings" panose="05000000000000000000" pitchFamily="2" charset="2"/>
            <a:buNone/>
          </a:pPr>
          <a:r>
            <a:rPr lang="en-SG" sz="1400" b="1" kern="1200" dirty="0"/>
            <a:t>Key Features (Customer attributes)</a:t>
          </a:r>
          <a:r>
            <a:rPr lang="en-SG" sz="1400" b="1" kern="1200" baseline="30000" dirty="0"/>
            <a:t>1</a:t>
          </a:r>
          <a:r>
            <a:rPr lang="en-SG" sz="1400" b="1" kern="1200" dirty="0"/>
            <a:t>: </a:t>
          </a:r>
          <a:r>
            <a:rPr lang="en-SG" sz="1400" kern="1200" dirty="0"/>
            <a:t>`history`</a:t>
          </a:r>
          <a:endParaRPr lang="en-SG" sz="1400" b="1" kern="1200" dirty="0"/>
        </a:p>
      </dsp:txBody>
      <dsp:txXfrm>
        <a:off x="0" y="2625434"/>
        <a:ext cx="9126127" cy="2646000"/>
      </dsp:txXfrm>
    </dsp:sp>
    <dsp:sp modelId="{6657E7CD-1802-4279-A7A5-C928EBC98B73}">
      <dsp:nvSpPr>
        <dsp:cNvPr id="0" name=""/>
        <dsp:cNvSpPr/>
      </dsp:nvSpPr>
      <dsp:spPr>
        <a:xfrm>
          <a:off x="456306" y="2418794"/>
          <a:ext cx="6388288" cy="41328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41462" tIns="0" rIns="241462" bIns="0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SG" sz="2000" b="1" u="none" kern="1200" dirty="0"/>
            <a:t>Dataset</a:t>
          </a:r>
        </a:p>
      </dsp:txBody>
      <dsp:txXfrm>
        <a:off x="476481" y="2438969"/>
        <a:ext cx="6347938" cy="372930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17F024A1-96FB-4F3B-913E-2E39FA1EC4BB}">
      <dsp:nvSpPr>
        <dsp:cNvPr id="0" name=""/>
        <dsp:cNvSpPr/>
      </dsp:nvSpPr>
      <dsp:spPr>
        <a:xfrm>
          <a:off x="0" y="238387"/>
          <a:ext cx="9817471" cy="108675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61945" tIns="312420" rIns="761945" bIns="99568" numCol="1" spcCol="1270" anchor="t" anchorCtr="0">
          <a:noAutofit/>
        </a:bodyPr>
        <a:lstStyle/>
        <a:p>
          <a:pPr marL="0" lvl="1" indent="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Wingdings" panose="05000000000000000000" pitchFamily="2" charset="2"/>
            <a:buNone/>
          </a:pPr>
          <a:r>
            <a:rPr lang="en-SG" sz="1400" b="1" i="0" kern="1200" dirty="0"/>
            <a:t>Attribution vs Incrementality</a:t>
          </a:r>
        </a:p>
        <a:p>
          <a:pPr marL="0" lvl="1" indent="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Wingdings" panose="05000000000000000000" pitchFamily="2" charset="2"/>
            <a:buNone/>
          </a:pPr>
          <a:r>
            <a:rPr lang="en-SG" sz="1400" b="0" i="1" kern="1200" dirty="0"/>
            <a:t>“Attribution can overstate impact because some users would convert anyway.</a:t>
          </a:r>
        </a:p>
        <a:p>
          <a:pPr marL="0" lvl="1" indent="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Wingdings" panose="05000000000000000000" pitchFamily="2" charset="2"/>
            <a:buNone/>
          </a:pPr>
          <a:r>
            <a:rPr lang="en-SG" sz="1400" b="0" i="1" kern="1200" dirty="0"/>
            <a:t>We therefore measure incrementality (causal lift): the true effect caused by the campaign.”</a:t>
          </a:r>
        </a:p>
      </dsp:txBody>
      <dsp:txXfrm>
        <a:off x="0" y="238387"/>
        <a:ext cx="9817471" cy="1086750"/>
      </dsp:txXfrm>
    </dsp:sp>
    <dsp:sp modelId="{EE2B6593-F95C-4533-9EEC-E3F4862A0944}">
      <dsp:nvSpPr>
        <dsp:cNvPr id="0" name=""/>
        <dsp:cNvSpPr/>
      </dsp:nvSpPr>
      <dsp:spPr>
        <a:xfrm>
          <a:off x="490873" y="16987"/>
          <a:ext cx="6872229" cy="44280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59754" tIns="0" rIns="259754" bIns="0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Font typeface="Wingdings" panose="05000000000000000000" pitchFamily="2" charset="2"/>
            <a:buNone/>
          </a:pPr>
          <a:r>
            <a:rPr lang="en-SG" sz="2000" b="1" kern="1200" dirty="0"/>
            <a:t>Problem Framing</a:t>
          </a:r>
          <a:endParaRPr lang="en-SG" sz="2000" b="1" u="none" kern="1200" dirty="0"/>
        </a:p>
      </dsp:txBody>
      <dsp:txXfrm>
        <a:off x="512489" y="38603"/>
        <a:ext cx="6828997" cy="399568"/>
      </dsp:txXfrm>
    </dsp:sp>
    <dsp:sp modelId="{478EAEA9-2F49-4F4A-8C8C-401919DFA9DC}">
      <dsp:nvSpPr>
        <dsp:cNvPr id="0" name=""/>
        <dsp:cNvSpPr/>
      </dsp:nvSpPr>
      <dsp:spPr>
        <a:xfrm>
          <a:off x="0" y="1627538"/>
          <a:ext cx="9817471" cy="19845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61945" tIns="312420" rIns="761945" bIns="99568" numCol="1" spcCol="1270" anchor="t" anchorCtr="0">
          <a:noAutofit/>
        </a:bodyPr>
        <a:lstStyle/>
        <a:p>
          <a:pPr marL="0" lvl="1" indent="0" algn="just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Arial" panose="020B0604020202020204" pitchFamily="34" charset="0"/>
            <a:buNone/>
          </a:pPr>
          <a:r>
            <a:rPr lang="en-SG" sz="1400" b="1" kern="1200" dirty="0"/>
            <a:t>Business objective: </a:t>
          </a:r>
          <a:r>
            <a:rPr lang="en-SG" sz="1400" b="0" i="0" kern="1200" dirty="0"/>
            <a:t>Prioritize </a:t>
          </a:r>
          <a:r>
            <a:rPr lang="en-SG" sz="1400" b="1" i="0" kern="1200" dirty="0"/>
            <a:t>highest-value users for marketing investment</a:t>
          </a:r>
          <a:endParaRPr lang="en-SG" sz="1400" b="1" kern="1200" dirty="0"/>
        </a:p>
        <a:p>
          <a:pPr marL="0" lvl="1" indent="0" algn="just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Wingdings" panose="05000000000000000000" pitchFamily="2" charset="2"/>
            <a:buNone/>
          </a:pPr>
          <a:endParaRPr lang="en-SG" sz="1400" b="1" i="1" kern="1200" dirty="0"/>
        </a:p>
        <a:p>
          <a:pPr marL="0" lvl="1" indent="0" algn="just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Wingdings" panose="05000000000000000000" pitchFamily="2" charset="2"/>
            <a:buNone/>
          </a:pPr>
          <a:r>
            <a:rPr lang="en-SG" sz="1400" b="1" kern="1200" dirty="0"/>
            <a:t>Budget decision framing</a:t>
          </a:r>
          <a:endParaRPr lang="en-SG" sz="1400" b="1" i="1" kern="1200" dirty="0"/>
        </a:p>
        <a:p>
          <a:pPr marL="0" lvl="2" indent="0" algn="just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Wingdings" panose="05000000000000000000" pitchFamily="2" charset="2"/>
            <a:buChar char="Ø"/>
          </a:pPr>
          <a:r>
            <a:rPr lang="en-SG" sz="1400" b="0" kern="1200" dirty="0"/>
            <a:t> </a:t>
          </a:r>
          <a:r>
            <a:rPr lang="en-SG" sz="1400" b="1" kern="1200" dirty="0"/>
            <a:t>Roll out </a:t>
          </a:r>
          <a:r>
            <a:rPr lang="en-SG" sz="1400" b="0" kern="1200" dirty="0"/>
            <a:t>– Lift must be </a:t>
          </a:r>
          <a:r>
            <a:rPr lang="en-SG" sz="1400" b="1" kern="1200" dirty="0"/>
            <a:t>positive and meaningful</a:t>
          </a:r>
          <a:endParaRPr lang="en-SG" sz="1400" b="1" i="1" kern="1200" dirty="0"/>
        </a:p>
        <a:p>
          <a:pPr marL="0" lvl="2" indent="0" algn="just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Wingdings" panose="05000000000000000000" pitchFamily="2" charset="2"/>
            <a:buChar char="Ø"/>
          </a:pPr>
          <a:r>
            <a:rPr lang="en-SG" sz="1400" b="0" kern="1200" dirty="0"/>
            <a:t> </a:t>
          </a:r>
          <a:r>
            <a:rPr lang="en-SG" sz="1400" b="1" kern="1200" dirty="0"/>
            <a:t>Scale budget </a:t>
          </a:r>
          <a:r>
            <a:rPr lang="en-SG" sz="1400" b="0" kern="1200" dirty="0"/>
            <a:t>– Only if </a:t>
          </a:r>
          <a:r>
            <a:rPr lang="en-SG" sz="1400" b="1" i="0" kern="1200" dirty="0"/>
            <a:t>incremental revenue per user &gt; cost per treated user</a:t>
          </a:r>
          <a:endParaRPr lang="en-SG" sz="1400" b="1" i="1" kern="1200" dirty="0"/>
        </a:p>
        <a:p>
          <a:pPr marL="0" lvl="2" indent="0" algn="just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Wingdings" panose="05000000000000000000" pitchFamily="2" charset="2"/>
            <a:buChar char="Ø"/>
          </a:pPr>
          <a:r>
            <a:rPr lang="en-SG" sz="1400" b="0" kern="1200" dirty="0"/>
            <a:t> </a:t>
          </a:r>
          <a:r>
            <a:rPr lang="en-SG" sz="1400" b="1" kern="1200" dirty="0"/>
            <a:t>Budget ceiling </a:t>
          </a:r>
          <a:r>
            <a:rPr lang="en-SG" sz="1400" b="0" kern="1200" dirty="0"/>
            <a:t>– Cap to </a:t>
          </a:r>
          <a:r>
            <a:rPr lang="en-SG" sz="1400" b="1" kern="1200" dirty="0"/>
            <a:t>break-even cost per treated user</a:t>
          </a:r>
          <a:endParaRPr lang="en-SG" sz="1400" b="1" i="1" kern="1200" dirty="0"/>
        </a:p>
        <a:p>
          <a:pPr marL="0" lvl="2" indent="0" algn="just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Wingdings" panose="05000000000000000000" pitchFamily="2" charset="2"/>
            <a:buChar char="Ø"/>
          </a:pPr>
          <a:r>
            <a:rPr lang="en-SG" sz="1400" b="1" i="1" kern="1200" dirty="0"/>
            <a:t> </a:t>
          </a:r>
          <a:r>
            <a:rPr lang="en-SG" sz="1400" b="1" i="0" kern="1200" dirty="0"/>
            <a:t>Targeting </a:t>
          </a:r>
          <a:r>
            <a:rPr lang="en-SG" sz="1400" b="0" kern="1200" dirty="0"/>
            <a:t>– </a:t>
          </a:r>
          <a:r>
            <a:rPr lang="en-SG" sz="1400" b="0" i="0" kern="1200" dirty="0"/>
            <a:t>Prioritize </a:t>
          </a:r>
          <a:r>
            <a:rPr lang="en-SG" sz="1400" b="1" i="0" kern="1200" dirty="0"/>
            <a:t>highest incremental value segments</a:t>
          </a:r>
          <a:endParaRPr lang="en-SG" sz="1400" b="1" i="1" kern="1200" dirty="0"/>
        </a:p>
      </dsp:txBody>
      <dsp:txXfrm>
        <a:off x="0" y="1627538"/>
        <a:ext cx="9817471" cy="1984500"/>
      </dsp:txXfrm>
    </dsp:sp>
    <dsp:sp modelId="{696B1520-5391-45CE-8D80-CDC7E53A8339}">
      <dsp:nvSpPr>
        <dsp:cNvPr id="0" name=""/>
        <dsp:cNvSpPr/>
      </dsp:nvSpPr>
      <dsp:spPr>
        <a:xfrm>
          <a:off x="490873" y="1406138"/>
          <a:ext cx="6872229" cy="44280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59754" tIns="0" rIns="259754" bIns="0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SG" sz="2000" b="1" u="none" kern="1200" dirty="0"/>
            <a:t>Decision Framing</a:t>
          </a:r>
        </a:p>
      </dsp:txBody>
      <dsp:txXfrm>
        <a:off x="512489" y="1427754"/>
        <a:ext cx="6828997" cy="399568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403DCA9-27B9-4485-9EF2-7672F3A9D815}">
      <dsp:nvSpPr>
        <dsp:cNvPr id="0" name=""/>
        <dsp:cNvSpPr/>
      </dsp:nvSpPr>
      <dsp:spPr>
        <a:xfrm>
          <a:off x="0" y="192256"/>
          <a:ext cx="6447133" cy="5733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00369" tIns="270764" rIns="500369" bIns="99568" numCol="1" spcCol="1270" anchor="t" anchorCtr="0">
          <a:noAutofit/>
        </a:bodyPr>
        <a:lstStyle/>
        <a:p>
          <a:pPr marL="0" lvl="1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Wingdings" panose="05000000000000000000" pitchFamily="2" charset="2"/>
            <a:buChar char="Ø"/>
          </a:pPr>
          <a:r>
            <a:rPr lang="en-SG" sz="1400" kern="1200" dirty="0"/>
            <a:t> Randomized design</a:t>
          </a:r>
        </a:p>
      </dsp:txBody>
      <dsp:txXfrm>
        <a:off x="0" y="192256"/>
        <a:ext cx="6447133" cy="573300"/>
      </dsp:txXfrm>
    </dsp:sp>
    <dsp:sp modelId="{36E764A6-17A1-4966-B4DA-101E4459E36D}">
      <dsp:nvSpPr>
        <dsp:cNvPr id="0" name=""/>
        <dsp:cNvSpPr/>
      </dsp:nvSpPr>
      <dsp:spPr>
        <a:xfrm>
          <a:off x="322356" y="376"/>
          <a:ext cx="4512993" cy="38376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70580" tIns="0" rIns="170580" bIns="0" numCol="1" spcCol="1270" anchor="ctr" anchorCtr="0">
          <a:noAutofit/>
        </a:bodyPr>
        <a:lstStyle/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SG" sz="1400" b="1" kern="1200" dirty="0"/>
            <a:t>Experiment Design (A/B Testing)</a:t>
          </a:r>
          <a:endParaRPr lang="en-SG" sz="1400" kern="1200" dirty="0"/>
        </a:p>
      </dsp:txBody>
      <dsp:txXfrm>
        <a:off x="341090" y="19110"/>
        <a:ext cx="4475525" cy="346292"/>
      </dsp:txXfrm>
    </dsp:sp>
    <dsp:sp modelId="{E6739AA9-A3F5-4776-953F-276D1191D144}">
      <dsp:nvSpPr>
        <dsp:cNvPr id="0" name=""/>
        <dsp:cNvSpPr/>
      </dsp:nvSpPr>
      <dsp:spPr>
        <a:xfrm>
          <a:off x="0" y="1027636"/>
          <a:ext cx="6447133" cy="5733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00369" tIns="270764" rIns="500369" bIns="99568" numCol="1" spcCol="1270" anchor="t" anchorCtr="0">
          <a:noAutofit/>
        </a:bodyPr>
        <a:lstStyle/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Wingdings" panose="05000000000000000000" pitchFamily="2" charset="2"/>
            <a:buChar char="Ø"/>
          </a:pPr>
          <a:r>
            <a:rPr lang="en-SG" sz="1400" kern="1200" dirty="0"/>
            <a:t> Measures Lift</a:t>
          </a:r>
        </a:p>
      </dsp:txBody>
      <dsp:txXfrm>
        <a:off x="0" y="1027636"/>
        <a:ext cx="6447133" cy="573300"/>
      </dsp:txXfrm>
    </dsp:sp>
    <dsp:sp modelId="{0F89FA63-9572-4E2E-A99D-6E4F146A4869}">
      <dsp:nvSpPr>
        <dsp:cNvPr id="0" name=""/>
        <dsp:cNvSpPr/>
      </dsp:nvSpPr>
      <dsp:spPr>
        <a:xfrm>
          <a:off x="322356" y="835756"/>
          <a:ext cx="4512993" cy="38376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70580" tIns="0" rIns="170580" bIns="0" numCol="1" spcCol="1270" anchor="ctr" anchorCtr="0">
          <a:noAutofit/>
        </a:bodyPr>
        <a:lstStyle/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SG" sz="1400" b="1" kern="1200" dirty="0"/>
            <a:t>A/B Testing Analysis</a:t>
          </a:r>
          <a:endParaRPr lang="en-SG" sz="1400" kern="1200" dirty="0"/>
        </a:p>
      </dsp:txBody>
      <dsp:txXfrm>
        <a:off x="341090" y="854490"/>
        <a:ext cx="4475525" cy="346292"/>
      </dsp:txXfrm>
    </dsp:sp>
    <dsp:sp modelId="{E11EC25D-5807-4290-B496-C3ADAF1B2514}">
      <dsp:nvSpPr>
        <dsp:cNvPr id="0" name=""/>
        <dsp:cNvSpPr/>
      </dsp:nvSpPr>
      <dsp:spPr>
        <a:xfrm>
          <a:off x="0" y="1863016"/>
          <a:ext cx="6447133" cy="5733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00369" tIns="270764" rIns="500369" bIns="99568" numCol="1" spcCol="1270" anchor="t" anchorCtr="0">
          <a:noAutofit/>
        </a:bodyPr>
        <a:lstStyle/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Wingdings" panose="05000000000000000000" pitchFamily="2" charset="2"/>
            <a:buChar char="Ø"/>
          </a:pPr>
          <a:r>
            <a:rPr lang="en-SG" sz="1400" kern="1200" dirty="0"/>
            <a:t> True campaign impact</a:t>
          </a:r>
        </a:p>
      </dsp:txBody>
      <dsp:txXfrm>
        <a:off x="0" y="1863016"/>
        <a:ext cx="6447133" cy="573300"/>
      </dsp:txXfrm>
    </dsp:sp>
    <dsp:sp modelId="{337C172A-0F11-46C7-9F36-39E1B31326BF}">
      <dsp:nvSpPr>
        <dsp:cNvPr id="0" name=""/>
        <dsp:cNvSpPr/>
      </dsp:nvSpPr>
      <dsp:spPr>
        <a:xfrm>
          <a:off x="322356" y="1671136"/>
          <a:ext cx="4512993" cy="38376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70580" tIns="0" rIns="170580" bIns="0" numCol="1" spcCol="1270" anchor="ctr" anchorCtr="0">
          <a:noAutofit/>
        </a:bodyPr>
        <a:lstStyle/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SG" sz="1400" b="1" kern="1200" dirty="0"/>
            <a:t>Attribution vs Incrementality</a:t>
          </a:r>
          <a:endParaRPr lang="en-SG" sz="1400" kern="1200" dirty="0"/>
        </a:p>
      </dsp:txBody>
      <dsp:txXfrm>
        <a:off x="341090" y="1689870"/>
        <a:ext cx="4475525" cy="346292"/>
      </dsp:txXfrm>
    </dsp:sp>
    <dsp:sp modelId="{CD59ACE8-7D59-4F3D-BA52-17F554211FC1}">
      <dsp:nvSpPr>
        <dsp:cNvPr id="0" name=""/>
        <dsp:cNvSpPr/>
      </dsp:nvSpPr>
      <dsp:spPr>
        <a:xfrm>
          <a:off x="0" y="2698396"/>
          <a:ext cx="6447133" cy="5733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00369" tIns="270764" rIns="500369" bIns="99568" numCol="1" spcCol="1270" anchor="t" anchorCtr="0">
          <a:noAutofit/>
        </a:bodyPr>
        <a:lstStyle/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Wingdings" panose="05000000000000000000" pitchFamily="2" charset="2"/>
            <a:buChar char="Ø"/>
          </a:pPr>
          <a:r>
            <a:rPr lang="en-SG" sz="1400" kern="1200" dirty="0"/>
            <a:t> Value vs Cost</a:t>
          </a:r>
        </a:p>
      </dsp:txBody>
      <dsp:txXfrm>
        <a:off x="0" y="2698396"/>
        <a:ext cx="6447133" cy="573300"/>
      </dsp:txXfrm>
    </dsp:sp>
    <dsp:sp modelId="{3ED1DD18-467D-4FA5-887D-22B85F20B566}">
      <dsp:nvSpPr>
        <dsp:cNvPr id="0" name=""/>
        <dsp:cNvSpPr/>
      </dsp:nvSpPr>
      <dsp:spPr>
        <a:xfrm>
          <a:off x="322356" y="2506516"/>
          <a:ext cx="4512993" cy="38376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70580" tIns="0" rIns="170580" bIns="0" numCol="1" spcCol="1270" anchor="ctr" anchorCtr="0">
          <a:noAutofit/>
        </a:bodyPr>
        <a:lstStyle/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SG" sz="1400" b="1" kern="1200" dirty="0"/>
            <a:t>Unit Economics (ROI) and Budget Decision</a:t>
          </a:r>
          <a:endParaRPr lang="en-SG" sz="1400" kern="1200" dirty="0"/>
        </a:p>
      </dsp:txBody>
      <dsp:txXfrm>
        <a:off x="341090" y="2525250"/>
        <a:ext cx="4475525" cy="346292"/>
      </dsp:txXfrm>
    </dsp:sp>
    <dsp:sp modelId="{6E44D9C8-612D-48C4-A1F5-B35EB236BF5C}">
      <dsp:nvSpPr>
        <dsp:cNvPr id="0" name=""/>
        <dsp:cNvSpPr/>
      </dsp:nvSpPr>
      <dsp:spPr>
        <a:xfrm>
          <a:off x="0" y="3533776"/>
          <a:ext cx="6447133" cy="5733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00369" tIns="270764" rIns="500369" bIns="99568" numCol="1" spcCol="1270" anchor="t" anchorCtr="0">
          <a:noAutofit/>
        </a:bodyPr>
        <a:lstStyle/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Wingdings" panose="05000000000000000000" pitchFamily="2" charset="2"/>
            <a:buChar char="Ø"/>
          </a:pPr>
          <a:r>
            <a:rPr lang="en-SG" sz="1400" b="0" kern="1200" dirty="0"/>
            <a:t> Who to prioritize</a:t>
          </a:r>
        </a:p>
      </dsp:txBody>
      <dsp:txXfrm>
        <a:off x="0" y="3533776"/>
        <a:ext cx="6447133" cy="573300"/>
      </dsp:txXfrm>
    </dsp:sp>
    <dsp:sp modelId="{5A467C53-D8CA-4623-B69F-62B06F4C19F3}">
      <dsp:nvSpPr>
        <dsp:cNvPr id="0" name=""/>
        <dsp:cNvSpPr/>
      </dsp:nvSpPr>
      <dsp:spPr>
        <a:xfrm>
          <a:off x="322356" y="3341896"/>
          <a:ext cx="4512993" cy="38376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70580" tIns="0" rIns="170580" bIns="0" numCol="1" spcCol="1270" anchor="ctr" anchorCtr="0">
          <a:noAutofit/>
        </a:bodyPr>
        <a:lstStyle/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SG" sz="1400" b="1" kern="1200" dirty="0"/>
            <a:t>Segment Insights: Who Should We Target First?</a:t>
          </a:r>
        </a:p>
      </dsp:txBody>
      <dsp:txXfrm>
        <a:off x="341090" y="3360630"/>
        <a:ext cx="4475525" cy="346292"/>
      </dsp:txXfrm>
    </dsp:sp>
    <dsp:sp modelId="{82006A64-2BCC-4777-9043-F35E04E73746}">
      <dsp:nvSpPr>
        <dsp:cNvPr id="0" name=""/>
        <dsp:cNvSpPr/>
      </dsp:nvSpPr>
      <dsp:spPr>
        <a:xfrm>
          <a:off x="0" y="4369156"/>
          <a:ext cx="6447133" cy="5733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00369" tIns="270764" rIns="500369" bIns="99568" numCol="1" spcCol="1270" anchor="t" anchorCtr="0">
          <a:noAutofit/>
        </a:bodyPr>
        <a:lstStyle/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Wingdings" panose="05000000000000000000" pitchFamily="2" charset="2"/>
            <a:buChar char="Ø"/>
          </a:pPr>
          <a:r>
            <a:rPr lang="en-SG" sz="1400" b="0" kern="1200" dirty="0"/>
            <a:t> What to do</a:t>
          </a:r>
        </a:p>
      </dsp:txBody>
      <dsp:txXfrm>
        <a:off x="0" y="4369156"/>
        <a:ext cx="6447133" cy="573300"/>
      </dsp:txXfrm>
    </dsp:sp>
    <dsp:sp modelId="{9DC5AA42-6927-4832-9974-F6DC3FB81FC2}">
      <dsp:nvSpPr>
        <dsp:cNvPr id="0" name=""/>
        <dsp:cNvSpPr/>
      </dsp:nvSpPr>
      <dsp:spPr>
        <a:xfrm>
          <a:off x="322356" y="4177276"/>
          <a:ext cx="4512993" cy="38376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70580" tIns="0" rIns="170580" bIns="0" numCol="1" spcCol="1270" anchor="ctr" anchorCtr="0">
          <a:noAutofit/>
        </a:bodyPr>
        <a:lstStyle/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SG" sz="1400" b="1" kern="1200" dirty="0"/>
            <a:t>Key Recommendations</a:t>
          </a:r>
        </a:p>
      </dsp:txBody>
      <dsp:txXfrm>
        <a:off x="341090" y="4196010"/>
        <a:ext cx="4475525" cy="346292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81AB0DB0-4359-4ABA-B7E8-9D326E119CD8}">
      <dsp:nvSpPr>
        <dsp:cNvPr id="0" name=""/>
        <dsp:cNvSpPr/>
      </dsp:nvSpPr>
      <dsp:spPr>
        <a:xfrm>
          <a:off x="0" y="218085"/>
          <a:ext cx="8911687" cy="528412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91646" tIns="229108" rIns="691646" bIns="99568" numCol="1" spcCol="1270" anchor="t" anchorCtr="0">
          <a:noAutofit/>
        </a:bodyPr>
        <a:lstStyle/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Wingdings" panose="05000000000000000000" pitchFamily="2" charset="2"/>
            <a:buChar char="Ø"/>
          </a:pPr>
          <a:r>
            <a:rPr lang="en-SG" sz="1400" b="0" kern="1200" dirty="0"/>
            <a:t> Statistically significant lift supports rollout (CVR: 1.07% vs 0.57%).</a:t>
          </a:r>
        </a:p>
      </dsp:txBody>
      <dsp:txXfrm>
        <a:off x="0" y="218085"/>
        <a:ext cx="8911687" cy="528412"/>
      </dsp:txXfrm>
    </dsp:sp>
    <dsp:sp modelId="{73D61383-A059-4CF8-9A37-12E533FCFC22}">
      <dsp:nvSpPr>
        <dsp:cNvPr id="0" name=""/>
        <dsp:cNvSpPr/>
      </dsp:nvSpPr>
      <dsp:spPr>
        <a:xfrm>
          <a:off x="445584" y="55725"/>
          <a:ext cx="6238180" cy="32472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35788" tIns="0" rIns="235788" bIns="0" numCol="1" spcCol="1270" anchor="ctr" anchorCtr="0">
          <a:noAutofit/>
        </a:bodyPr>
        <a:lstStyle/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Font typeface="Wingdings" panose="05000000000000000000" pitchFamily="2" charset="2"/>
            <a:buNone/>
          </a:pPr>
          <a:r>
            <a:rPr lang="en-SG" sz="1400" b="1" kern="1200" dirty="0"/>
            <a:t>Rollout: Scale with holdout monitoring</a:t>
          </a:r>
        </a:p>
      </dsp:txBody>
      <dsp:txXfrm>
        <a:off x="461436" y="71577"/>
        <a:ext cx="6206476" cy="293016"/>
      </dsp:txXfrm>
    </dsp:sp>
    <dsp:sp modelId="{323AA25F-4521-439B-ABE8-76D0915CA15E}">
      <dsp:nvSpPr>
        <dsp:cNvPr id="0" name=""/>
        <dsp:cNvSpPr/>
      </dsp:nvSpPr>
      <dsp:spPr>
        <a:xfrm>
          <a:off x="0" y="968257"/>
          <a:ext cx="8911687" cy="72765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91646" tIns="229108" rIns="691646" bIns="99568" numCol="1" spcCol="1270" anchor="t" anchorCtr="0">
          <a:noAutofit/>
        </a:bodyPr>
        <a:lstStyle/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Wingdings" panose="05000000000000000000" pitchFamily="2" charset="2"/>
            <a:buChar char="Ø"/>
          </a:pPr>
          <a:r>
            <a:rPr lang="en-SG" sz="1400" b="1" kern="1200" dirty="0"/>
            <a:t> </a:t>
          </a:r>
          <a:r>
            <a:rPr lang="en-SG" sz="1400" b="0" kern="1200" dirty="0"/>
            <a:t>Incremental revenue per user (~$0.60) exceeds assumed cost per send ($0.05), implying strong margin. Break-even cost cap at ~$0.60.</a:t>
          </a:r>
        </a:p>
      </dsp:txBody>
      <dsp:txXfrm>
        <a:off x="0" y="968257"/>
        <a:ext cx="8911687" cy="727650"/>
      </dsp:txXfrm>
    </dsp:sp>
    <dsp:sp modelId="{6E6F8F08-80B1-4ED5-9535-177F20B67890}">
      <dsp:nvSpPr>
        <dsp:cNvPr id="0" name=""/>
        <dsp:cNvSpPr/>
      </dsp:nvSpPr>
      <dsp:spPr>
        <a:xfrm>
          <a:off x="445584" y="805897"/>
          <a:ext cx="6238180" cy="32472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35788" tIns="0" rIns="235788" bIns="0" numCol="1" spcCol="1270" anchor="ctr" anchorCtr="0">
          <a:noAutofit/>
        </a:bodyPr>
        <a:lstStyle/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Font typeface="Wingdings" panose="05000000000000000000" pitchFamily="2" charset="2"/>
            <a:buNone/>
          </a:pPr>
          <a:r>
            <a:rPr lang="en-SG" sz="1400" b="1" kern="1200" dirty="0"/>
            <a:t>Budget Rule: Scale while incremental revenue &gt; cost</a:t>
          </a:r>
        </a:p>
      </dsp:txBody>
      <dsp:txXfrm>
        <a:off x="461436" y="821749"/>
        <a:ext cx="6206476" cy="293016"/>
      </dsp:txXfrm>
    </dsp:sp>
    <dsp:sp modelId="{7917C87B-6C84-46AC-A0CC-40146E8D0C31}">
      <dsp:nvSpPr>
        <dsp:cNvPr id="0" name=""/>
        <dsp:cNvSpPr/>
      </dsp:nvSpPr>
      <dsp:spPr>
        <a:xfrm>
          <a:off x="0" y="1917667"/>
          <a:ext cx="8911687" cy="72765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91646" tIns="229108" rIns="691646" bIns="99568" numCol="1" spcCol="1270" anchor="t" anchorCtr="0">
          <a:noAutofit/>
        </a:bodyPr>
        <a:lstStyle/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Wingdings" panose="05000000000000000000" pitchFamily="2" charset="2"/>
            <a:buChar char="Ø"/>
          </a:pPr>
          <a:r>
            <a:rPr lang="en-SG" sz="1400" b="0" kern="1200" dirty="0"/>
            <a:t> Naive attribution overstates impact (~2×); only ~46% of conversions and ~48% of revenue are incremental.</a:t>
          </a:r>
        </a:p>
      </dsp:txBody>
      <dsp:txXfrm>
        <a:off x="0" y="1917667"/>
        <a:ext cx="8911687" cy="727650"/>
      </dsp:txXfrm>
    </dsp:sp>
    <dsp:sp modelId="{7BA4BE36-552F-4B25-BF78-14B70D0E15A7}">
      <dsp:nvSpPr>
        <dsp:cNvPr id="0" name=""/>
        <dsp:cNvSpPr/>
      </dsp:nvSpPr>
      <dsp:spPr>
        <a:xfrm>
          <a:off x="445584" y="1755307"/>
          <a:ext cx="6238180" cy="32472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35788" tIns="0" rIns="235788" bIns="0" numCol="1" spcCol="1270" anchor="ctr" anchorCtr="0">
          <a:noAutofit/>
        </a:bodyPr>
        <a:lstStyle/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Font typeface="Wingdings" panose="05000000000000000000" pitchFamily="2" charset="2"/>
            <a:buNone/>
          </a:pPr>
          <a:r>
            <a:rPr lang="en-SG" sz="1400" b="1" kern="1200" dirty="0"/>
            <a:t>Measurement Rule: Use incrementality as the decision metric</a:t>
          </a:r>
        </a:p>
      </dsp:txBody>
      <dsp:txXfrm>
        <a:off x="461436" y="1771159"/>
        <a:ext cx="6206476" cy="293016"/>
      </dsp:txXfrm>
    </dsp:sp>
    <dsp:sp modelId="{1CAA899B-F6E6-4429-82FC-1AAFA4443513}">
      <dsp:nvSpPr>
        <dsp:cNvPr id="0" name=""/>
        <dsp:cNvSpPr/>
      </dsp:nvSpPr>
      <dsp:spPr>
        <a:xfrm>
          <a:off x="0" y="2867077"/>
          <a:ext cx="8911687" cy="72765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91646" tIns="229108" rIns="691646" bIns="99568" numCol="1" spcCol="1270" anchor="t" anchorCtr="0">
          <a:noAutofit/>
        </a:bodyPr>
        <a:lstStyle/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Wingdings" panose="05000000000000000000" pitchFamily="2" charset="2"/>
            <a:buChar char="Ø"/>
          </a:pPr>
          <a:r>
            <a:rPr lang="en-SG" sz="1400" b="0" kern="1200" dirty="0"/>
            <a:t> Start with high historical-spend segments (~$0.94 net value per user), then expand based on marginal returns.</a:t>
          </a:r>
          <a:endParaRPr lang="en-SG" sz="1400" b="1" kern="1200" dirty="0"/>
        </a:p>
      </dsp:txBody>
      <dsp:txXfrm>
        <a:off x="0" y="2867077"/>
        <a:ext cx="8911687" cy="727650"/>
      </dsp:txXfrm>
    </dsp:sp>
    <dsp:sp modelId="{BB4727C1-D41B-423B-93AE-9DC77DA899D5}">
      <dsp:nvSpPr>
        <dsp:cNvPr id="0" name=""/>
        <dsp:cNvSpPr/>
      </dsp:nvSpPr>
      <dsp:spPr>
        <a:xfrm>
          <a:off x="445584" y="2704717"/>
          <a:ext cx="6238180" cy="32472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35788" tIns="0" rIns="235788" bIns="0" numCol="1" spcCol="1270" anchor="ctr" anchorCtr="0">
          <a:noAutofit/>
        </a:bodyPr>
        <a:lstStyle/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SG" sz="1400" b="1" kern="1200" dirty="0"/>
            <a:t>Targeting Priority: Prioritize highest-value segments first</a:t>
          </a:r>
        </a:p>
      </dsp:txBody>
      <dsp:txXfrm>
        <a:off x="461436" y="2720569"/>
        <a:ext cx="6206476" cy="293016"/>
      </dsp:txXfrm>
    </dsp:sp>
    <dsp:sp modelId="{7A89284A-AC1B-4D70-9B1C-ADAF07F66E34}">
      <dsp:nvSpPr>
        <dsp:cNvPr id="0" name=""/>
        <dsp:cNvSpPr/>
      </dsp:nvSpPr>
      <dsp:spPr>
        <a:xfrm>
          <a:off x="0" y="3816171"/>
          <a:ext cx="8911687" cy="72765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91646" tIns="229108" rIns="691646" bIns="99568" numCol="1" spcCol="1270" anchor="t" anchorCtr="0">
          <a:noAutofit/>
        </a:bodyPr>
        <a:lstStyle/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Wingdings" panose="05000000000000000000" pitchFamily="2" charset="2"/>
            <a:buChar char="Ø"/>
          </a:pPr>
          <a:r>
            <a:rPr lang="en-SG" sz="1400" kern="1200" dirty="0"/>
            <a:t> Unit economics depend on cost assumptions and experiment representativeness, which may degrade as targeting expands to less responsive users.</a:t>
          </a:r>
        </a:p>
      </dsp:txBody>
      <dsp:txXfrm>
        <a:off x="0" y="3816171"/>
        <a:ext cx="8911687" cy="727650"/>
      </dsp:txXfrm>
    </dsp:sp>
    <dsp:sp modelId="{BE6FFCE4-D821-4667-8F34-735CD66E39FD}">
      <dsp:nvSpPr>
        <dsp:cNvPr id="0" name=""/>
        <dsp:cNvSpPr/>
      </dsp:nvSpPr>
      <dsp:spPr>
        <a:xfrm>
          <a:off x="445584" y="3654127"/>
          <a:ext cx="6238180" cy="32472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35788" tIns="0" rIns="235788" bIns="0" numCol="1" spcCol="1270" anchor="ctr" anchorCtr="0">
          <a:noAutofit/>
        </a:bodyPr>
        <a:lstStyle/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SG" sz="1400" b="1" kern="1200" dirty="0"/>
            <a:t>Operating Risk: Monitor and re-test </a:t>
          </a:r>
          <a:r>
            <a:rPr lang="en-SG" sz="1400" b="1" kern="1200"/>
            <a:t>at scale</a:t>
          </a:r>
          <a:endParaRPr lang="en-SG" sz="1400" b="1" kern="1200" dirty="0"/>
        </a:p>
      </dsp:txBody>
      <dsp:txXfrm>
        <a:off x="461436" y="3669979"/>
        <a:ext cx="6206476" cy="293016"/>
      </dsp:txXfrm>
    </dsp:sp>
  </dsp:spTree>
</dsp:drawing>
</file>

<file path=ppt/diagrams/drawing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2DD8FBB-21B5-4CDA-BEFE-64988D733F5C}">
      <dsp:nvSpPr>
        <dsp:cNvPr id="0" name=""/>
        <dsp:cNvSpPr/>
      </dsp:nvSpPr>
      <dsp:spPr>
        <a:xfrm>
          <a:off x="0" y="289330"/>
          <a:ext cx="10822752" cy="155925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39966" tIns="374904" rIns="839966" bIns="99568" numCol="1" spcCol="1270" anchor="t" anchorCtr="0">
          <a:noAutofit/>
        </a:bodyPr>
        <a:lstStyle/>
        <a:p>
          <a:pPr marL="0" lvl="1" indent="0" algn="just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Wingdings" panose="05000000000000000000" pitchFamily="2" charset="2"/>
            <a:buChar char="Ø"/>
          </a:pPr>
          <a:r>
            <a:rPr lang="en-SG" sz="1400" b="0" kern="1200" dirty="0"/>
            <a:t> </a:t>
          </a:r>
          <a:r>
            <a:rPr lang="en-SG" sz="1400" b="1" kern="1200" dirty="0"/>
            <a:t>Channel scope: </a:t>
          </a:r>
          <a:r>
            <a:rPr lang="en-SG" sz="1400" b="0" kern="1200" dirty="0"/>
            <a:t>Email experiment, not full marketing mix like mobile ads.</a:t>
          </a:r>
        </a:p>
        <a:p>
          <a:pPr marL="0" lvl="1" indent="0" algn="just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Wingdings" panose="05000000000000000000" pitchFamily="2" charset="2"/>
            <a:buChar char="Ø"/>
          </a:pPr>
          <a:r>
            <a:rPr lang="en-SG" sz="1400" b="1" kern="1200" dirty="0"/>
            <a:t> Outcome definition as evaluation:</a:t>
          </a:r>
          <a:r>
            <a:rPr lang="en-SG" sz="1400" b="0" kern="1200" dirty="0"/>
            <a:t> Only revenue is reliable (not profit/margin).</a:t>
          </a:r>
        </a:p>
        <a:p>
          <a:pPr marL="0" lvl="1" indent="0" algn="just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Wingdings" panose="05000000000000000000" pitchFamily="2" charset="2"/>
            <a:buChar char="Ø"/>
          </a:pPr>
          <a:r>
            <a:rPr lang="en-SG" sz="1400" b="1" kern="1200" dirty="0"/>
            <a:t> Segment-level estimates are directional: </a:t>
          </a:r>
          <a:r>
            <a:rPr lang="en-SG" sz="1400" b="0" kern="1200" dirty="0"/>
            <a:t>Less reliable than overall a/b testing.</a:t>
          </a:r>
        </a:p>
        <a:p>
          <a:pPr marL="0" lvl="1" indent="0" algn="just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Wingdings" panose="05000000000000000000" pitchFamily="2" charset="2"/>
            <a:buChar char="Ø"/>
          </a:pPr>
          <a:r>
            <a:rPr lang="en-SG" sz="1400" b="0" kern="1200" dirty="0"/>
            <a:t> </a:t>
          </a:r>
          <a:r>
            <a:rPr lang="en-SG" sz="1400" b="1" kern="1200" dirty="0"/>
            <a:t>Linear scaling economics assumption: </a:t>
          </a:r>
          <a:r>
            <a:rPr lang="en-SG" sz="1400" b="0" kern="1200" dirty="0"/>
            <a:t>Current assumptions are simplified and would likely differ in production.</a:t>
          </a:r>
        </a:p>
      </dsp:txBody>
      <dsp:txXfrm>
        <a:off x="0" y="289330"/>
        <a:ext cx="10822752" cy="1559250"/>
      </dsp:txXfrm>
    </dsp:sp>
    <dsp:sp modelId="{8B8F4680-CA2C-4C4D-84F6-6BE1D156C9DB}">
      <dsp:nvSpPr>
        <dsp:cNvPr id="0" name=""/>
        <dsp:cNvSpPr/>
      </dsp:nvSpPr>
      <dsp:spPr>
        <a:xfrm>
          <a:off x="541137" y="23650"/>
          <a:ext cx="7575927" cy="53136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86352" tIns="0" rIns="286352" bIns="0" numCol="1" spcCol="1270" anchor="ctr" anchorCtr="0">
          <a:noAutofit/>
        </a:bodyPr>
        <a:lstStyle/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SG" sz="1400" b="1" kern="1200" dirty="0"/>
            <a:t>Limitations (Current Approach)</a:t>
          </a:r>
          <a:endParaRPr lang="en-SG" sz="1400" kern="1200" dirty="0"/>
        </a:p>
      </dsp:txBody>
      <dsp:txXfrm>
        <a:off x="567076" y="49589"/>
        <a:ext cx="7524049" cy="479482"/>
      </dsp:txXfrm>
    </dsp:sp>
    <dsp:sp modelId="{AED6E2BF-0C45-42FC-BB24-B2046CA21CD9}">
      <dsp:nvSpPr>
        <dsp:cNvPr id="0" name=""/>
        <dsp:cNvSpPr/>
      </dsp:nvSpPr>
      <dsp:spPr>
        <a:xfrm>
          <a:off x="0" y="2211460"/>
          <a:ext cx="10822752" cy="13608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39966" tIns="374904" rIns="839966" bIns="99568" numCol="1" spcCol="1270" anchor="t" anchorCtr="0">
          <a:noAutofit/>
        </a:bodyPr>
        <a:lstStyle/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Wingdings" panose="05000000000000000000" pitchFamily="2" charset="2"/>
            <a:buChar char="Ø"/>
          </a:pPr>
          <a:r>
            <a:rPr lang="en-SG" sz="1400" b="1" kern="1200" dirty="0"/>
            <a:t> Periodic re-measurement:</a:t>
          </a:r>
          <a:r>
            <a:rPr lang="en-SG" sz="1400" b="0" kern="1200" dirty="0"/>
            <a:t> Maintain holdout / periodic re-test.</a:t>
          </a:r>
          <a:endParaRPr lang="en-SG" sz="1400" b="1" kern="1200" dirty="0"/>
        </a:p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Wingdings" panose="05000000000000000000" pitchFamily="2" charset="2"/>
            <a:buChar char="Ø"/>
          </a:pPr>
          <a:r>
            <a:rPr lang="en-SG" sz="1400" b="0" kern="1200" dirty="0"/>
            <a:t> </a:t>
          </a:r>
          <a:r>
            <a:rPr lang="en-SG" sz="1400" b="1" kern="1200" dirty="0"/>
            <a:t>Economics validation:</a:t>
          </a:r>
          <a:r>
            <a:rPr lang="en-SG" sz="1400" b="0" kern="1200" dirty="0"/>
            <a:t> Due diligence on cost and margin assumptions before scaling.</a:t>
          </a:r>
        </a:p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Wingdings" panose="05000000000000000000" pitchFamily="2" charset="2"/>
            <a:buChar char="Ø"/>
          </a:pPr>
          <a:r>
            <a:rPr lang="en-SG" sz="1400" b="0" kern="1200" dirty="0"/>
            <a:t> </a:t>
          </a:r>
          <a:r>
            <a:rPr lang="en-SG" sz="1400" b="1" kern="1200" dirty="0"/>
            <a:t>Monitoring:</a:t>
          </a:r>
          <a:r>
            <a:rPr lang="en-SG" sz="1400" b="0" kern="1200" dirty="0"/>
            <a:t> Track lift, value, and performance by segment</a:t>
          </a:r>
        </a:p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Wingdings" panose="05000000000000000000" pitchFamily="2" charset="2"/>
            <a:buChar char="Ø"/>
          </a:pPr>
          <a:r>
            <a:rPr lang="en-SG" sz="1400" b="0" kern="1200" dirty="0"/>
            <a:t> </a:t>
          </a:r>
          <a:r>
            <a:rPr lang="en-SG" sz="1400" b="1" kern="1200" dirty="0"/>
            <a:t>Operationalization:</a:t>
          </a:r>
          <a:r>
            <a:rPr lang="en-SG" sz="1400" b="0" kern="1200" dirty="0"/>
            <a:t> Translate into send policy (who, how much, when to pause)</a:t>
          </a:r>
        </a:p>
      </dsp:txBody>
      <dsp:txXfrm>
        <a:off x="0" y="2211460"/>
        <a:ext cx="10822752" cy="1360800"/>
      </dsp:txXfrm>
    </dsp:sp>
    <dsp:sp modelId="{113A3A7E-E968-4A35-94A4-6DC1D0DC6DC7}">
      <dsp:nvSpPr>
        <dsp:cNvPr id="0" name=""/>
        <dsp:cNvSpPr/>
      </dsp:nvSpPr>
      <dsp:spPr>
        <a:xfrm>
          <a:off x="541137" y="1945780"/>
          <a:ext cx="7575927" cy="53136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86352" tIns="0" rIns="286352" bIns="0" numCol="1" spcCol="1270" anchor="ctr" anchorCtr="0">
          <a:noAutofit/>
        </a:bodyPr>
        <a:lstStyle/>
        <a:p>
          <a:pPr marL="0" lvl="0" indent="0" algn="just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Font typeface="Wingdings" panose="05000000000000000000" pitchFamily="2" charset="2"/>
            <a:buNone/>
          </a:pPr>
          <a:r>
            <a:rPr lang="en-SG" sz="1400" b="1" kern="1200"/>
            <a:t>Production Considerations</a:t>
          </a:r>
          <a:endParaRPr lang="en-SG" sz="1400" b="0" kern="1200" dirty="0"/>
        </a:p>
      </dsp:txBody>
      <dsp:txXfrm>
        <a:off x="567076" y="1971719"/>
        <a:ext cx="7524049" cy="479482"/>
      </dsp:txXfrm>
    </dsp:sp>
  </dsp:spTree>
</dsp:drawing>
</file>

<file path=ppt/diagrams/drawing6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8A382FD-BD3B-42F7-B192-0F21BFBD2634}">
      <dsp:nvSpPr>
        <dsp:cNvPr id="0" name=""/>
        <dsp:cNvSpPr/>
      </dsp:nvSpPr>
      <dsp:spPr>
        <a:xfrm>
          <a:off x="0" y="236021"/>
          <a:ext cx="10115550" cy="7560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85079" tIns="249936" rIns="785079" bIns="99568" numCol="1" spcCol="1270" anchor="t" anchorCtr="0">
          <a:noAutofit/>
        </a:bodyPr>
        <a:lstStyle/>
        <a:p>
          <a:pPr marL="0" lvl="1" indent="0" algn="just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Wingdings" panose="05000000000000000000" pitchFamily="2" charset="2"/>
            <a:buChar char="Ø"/>
          </a:pPr>
          <a:r>
            <a:rPr lang="en-SG" sz="1400" b="1" kern="1200" dirty="0"/>
            <a:t> Multi-Arm Experiments: </a:t>
          </a:r>
          <a:r>
            <a:rPr lang="en-SG" sz="1400" b="0" kern="1200" dirty="0"/>
            <a:t>Move beyond binary treatment e.g., Men vs Women vs Control (No Email)</a:t>
          </a:r>
        </a:p>
      </dsp:txBody>
      <dsp:txXfrm>
        <a:off x="0" y="236021"/>
        <a:ext cx="10115550" cy="756000"/>
      </dsp:txXfrm>
    </dsp:sp>
    <dsp:sp modelId="{53F627DA-FAC0-4645-A1A7-608AD8EFC15A}">
      <dsp:nvSpPr>
        <dsp:cNvPr id="0" name=""/>
        <dsp:cNvSpPr/>
      </dsp:nvSpPr>
      <dsp:spPr>
        <a:xfrm>
          <a:off x="505777" y="58901"/>
          <a:ext cx="7080885" cy="35424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67641" tIns="0" rIns="267641" bIns="0" numCol="1" spcCol="1270" anchor="ctr" anchorCtr="0">
          <a:noAutofit/>
        </a:bodyPr>
        <a:lstStyle/>
        <a:p>
          <a:pPr marL="0" lvl="0" indent="0" algn="just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Font typeface="Wingdings" panose="05000000000000000000" pitchFamily="2" charset="2"/>
            <a:buNone/>
          </a:pPr>
          <a:r>
            <a:rPr lang="en-SG" sz="1400" b="1" kern="1200"/>
            <a:t>Experiment Design</a:t>
          </a:r>
          <a:endParaRPr lang="en-SG" sz="1400" b="0" kern="1200" dirty="0"/>
        </a:p>
      </dsp:txBody>
      <dsp:txXfrm>
        <a:off x="523070" y="76194"/>
        <a:ext cx="7046299" cy="319654"/>
      </dsp:txXfrm>
    </dsp:sp>
    <dsp:sp modelId="{008E3BE6-73E1-466B-AD80-6B9768505739}">
      <dsp:nvSpPr>
        <dsp:cNvPr id="0" name=""/>
        <dsp:cNvSpPr/>
      </dsp:nvSpPr>
      <dsp:spPr>
        <a:xfrm>
          <a:off x="0" y="1233941"/>
          <a:ext cx="10115550" cy="7560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85079" tIns="249936" rIns="785079" bIns="99568" numCol="1" spcCol="1270" anchor="t" anchorCtr="0">
          <a:noAutofit/>
        </a:bodyPr>
        <a:lstStyle/>
        <a:p>
          <a:pPr marL="0" lvl="1" indent="0" algn="just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Wingdings" panose="05000000000000000000" pitchFamily="2" charset="2"/>
            <a:buChar char="Ø"/>
          </a:pPr>
          <a:r>
            <a:rPr lang="en-SG" sz="1400" b="0" kern="1200" dirty="0"/>
            <a:t> </a:t>
          </a:r>
          <a:r>
            <a:rPr lang="en-SG" sz="1400" b="1" kern="1200" dirty="0"/>
            <a:t>User-Level Uplift Model:</a:t>
          </a:r>
          <a:r>
            <a:rPr lang="en-SG" sz="1400" b="0" kern="1200" dirty="0"/>
            <a:t> Augment segment-level targeting strategy with user-level targeting strategy</a:t>
          </a:r>
        </a:p>
      </dsp:txBody>
      <dsp:txXfrm>
        <a:off x="0" y="1233941"/>
        <a:ext cx="10115550" cy="756000"/>
      </dsp:txXfrm>
    </dsp:sp>
    <dsp:sp modelId="{EE9AD9F3-C139-4EF7-AAA2-8EF52C3B3FAB}">
      <dsp:nvSpPr>
        <dsp:cNvPr id="0" name=""/>
        <dsp:cNvSpPr/>
      </dsp:nvSpPr>
      <dsp:spPr>
        <a:xfrm>
          <a:off x="505777" y="1056821"/>
          <a:ext cx="7080885" cy="35424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67641" tIns="0" rIns="267641" bIns="0" numCol="1" spcCol="1270" anchor="ctr" anchorCtr="0">
          <a:noAutofit/>
        </a:bodyPr>
        <a:lstStyle/>
        <a:p>
          <a:pPr marL="0" lvl="0" indent="0" algn="just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SG" sz="1400" b="1" kern="1200" dirty="0"/>
            <a:t>Targeting </a:t>
          </a:r>
          <a:r>
            <a:rPr lang="en-SG" sz="1400" b="1" kern="1200"/>
            <a:t>&amp; modeling</a:t>
          </a:r>
          <a:endParaRPr lang="en-SG" sz="1400" b="1" kern="1200" dirty="0"/>
        </a:p>
      </dsp:txBody>
      <dsp:txXfrm>
        <a:off x="523070" y="1074114"/>
        <a:ext cx="7046299" cy="319654"/>
      </dsp:txXfrm>
    </dsp:sp>
    <dsp:sp modelId="{BF6BF230-E99A-4E12-A343-2F24764D1C66}">
      <dsp:nvSpPr>
        <dsp:cNvPr id="0" name=""/>
        <dsp:cNvSpPr/>
      </dsp:nvSpPr>
      <dsp:spPr>
        <a:xfrm>
          <a:off x="0" y="2231861"/>
          <a:ext cx="10115550" cy="11718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85079" tIns="249936" rIns="785079" bIns="99568" numCol="1" spcCol="1270" anchor="t" anchorCtr="0">
          <a:noAutofit/>
        </a:bodyPr>
        <a:lstStyle/>
        <a:p>
          <a:pPr marL="0" lvl="1" indent="0" algn="just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Wingdings" panose="05000000000000000000" pitchFamily="2" charset="2"/>
            <a:buChar char="Ø"/>
          </a:pPr>
          <a:r>
            <a:rPr lang="en-SG" sz="1400" b="0" kern="1200" dirty="0"/>
            <a:t> </a:t>
          </a:r>
          <a:r>
            <a:rPr lang="en-SG" sz="1400" b="1" kern="1200" dirty="0"/>
            <a:t>Profit lens:</a:t>
          </a:r>
          <a:r>
            <a:rPr lang="en-SG" sz="1400" b="0" kern="1200" dirty="0"/>
            <a:t> Move from revenue to contribution margins if more accurate data becomes available.</a:t>
          </a:r>
        </a:p>
        <a:p>
          <a:pPr marL="0" lvl="1" indent="0" algn="just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Wingdings" panose="05000000000000000000" pitchFamily="2" charset="2"/>
            <a:buChar char="Ø"/>
          </a:pPr>
          <a:r>
            <a:rPr lang="en-SG" sz="1400" b="1" kern="1200" dirty="0"/>
            <a:t> Richer segmentation:</a:t>
          </a:r>
          <a:r>
            <a:rPr lang="en-SG" sz="1400" b="0" kern="1200" dirty="0"/>
            <a:t> Leverage additional customer features (beyond historical spend) to refine targeting</a:t>
          </a:r>
        </a:p>
      </dsp:txBody>
      <dsp:txXfrm>
        <a:off x="0" y="2231861"/>
        <a:ext cx="10115550" cy="1171800"/>
      </dsp:txXfrm>
    </dsp:sp>
    <dsp:sp modelId="{510B8EB9-D6F8-453F-AA31-2FFA43FC5DCB}">
      <dsp:nvSpPr>
        <dsp:cNvPr id="0" name=""/>
        <dsp:cNvSpPr/>
      </dsp:nvSpPr>
      <dsp:spPr>
        <a:xfrm>
          <a:off x="505777" y="2054741"/>
          <a:ext cx="7080885" cy="35424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67641" tIns="0" rIns="267641" bIns="0" numCol="1" spcCol="1270" anchor="ctr" anchorCtr="0">
          <a:noAutofit/>
        </a:bodyPr>
        <a:lstStyle/>
        <a:p>
          <a:pPr marL="0" lvl="0" indent="0" algn="just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SG" sz="1400" b="1" kern="1200" dirty="0"/>
            <a:t>Economics</a:t>
          </a:r>
        </a:p>
      </dsp:txBody>
      <dsp:txXfrm>
        <a:off x="523070" y="2072034"/>
        <a:ext cx="7046299" cy="319654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list1">
  <dgm:title val=""/>
  <dgm:desc val=""/>
  <dgm:catLst>
    <dgm:cat type="list" pri="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4" srcId="0" destId="1" srcOrd="0" destOrd="0"/>
        <dgm:cxn modelId="5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dir/>
      <dgm:animLvl val="lvl"/>
      <dgm:resizeHandles val="exact"/>
    </dgm:varLst>
    <dgm:choose name="Name0">
      <dgm:if name="Name1" func="var" arg="dir" op="equ" val="norm">
        <dgm:alg type="lin">
          <dgm:param type="linDir" val="fromT"/>
          <dgm:param type="vertAlign" val="mid"/>
          <dgm:param type="horzAlign" val="l"/>
          <dgm:param type="nodeHorzAlign" val="l"/>
        </dgm:alg>
      </dgm:if>
      <dgm:else name="Name2">
        <dgm:alg type="lin">
          <dgm:param type="linDir" val="fromT"/>
          <dgm:param type="vertAlign" val="mid"/>
          <dgm:param type="horzAlign" val="r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parentLin" refType="w"/>
      <dgm:constr type="h" for="ch" forName="parentLin" val="INF"/>
      <dgm:constr type="w" for="des" forName="parentLeftMargin" refType="w" fact="0.05"/>
      <dgm:constr type="w" for="des" forName="parentText" refType="w" fact="0.7"/>
      <dgm:constr type="h" for="des" forName="parentText" refType="primFontSz" refFor="des" refForName="parentText" fact="0.82"/>
      <dgm:constr type="h" for="ch" forName="negativeSpace" refType="primFontSz" refFor="des" refForName="parentText" fact="-0.41"/>
      <dgm:constr type="h" for="ch" forName="negativeSpace" refType="h" refFor="des" refForName="parentText" op="lte" fact="-0.82"/>
      <dgm:constr type="h" for="ch" forName="negativeSpace" refType="h" refFor="des" refForName="parentText" op="gte" fact="-0.82"/>
      <dgm:constr type="w" for="ch" forName="childText" refType="w"/>
      <dgm:constr type="h" for="ch" forName="childText" refType="primFontSz" refFor="des" refForName="parentText" fact="0.7"/>
      <dgm:constr type="primFontSz" for="des" forName="parentText" val="65"/>
      <dgm:constr type="primFontSz" for="ch" forName="childText" refType="primFontSz" refFor="des" refForName="parentText"/>
      <dgm:constr type="tMarg" for="ch" forName="childText" refType="primFontSz" refFor="des" refForName="parentText" fact="1.64"/>
      <dgm:constr type="tMarg" for="ch" forName="childText" refType="h" refFor="des" refForName="parentText" op="lte" fact="3.28"/>
      <dgm:constr type="tMarg" for="ch" forName="childText" refType="h" refFor="des" refForName="parentText" op="gte" fact="3.28"/>
      <dgm:constr type="lMarg" for="ch" forName="childText" refType="w" fact="0.22"/>
      <dgm:constr type="rMarg" for="ch" forName="childText" refType="lMarg" refFor="ch" refForName="childText"/>
      <dgm:constr type="lMarg" for="des" forName="parentText" refType="w" fact="0.075"/>
      <dgm:constr type="rMarg" for="des" forName="parentText" refType="lMarg" refFor="des" refForName="parentText"/>
      <dgm:constr type="h" for="ch" forName="spaceBetweenRectangles" refType="primFontSz" refFor="des" refForName="parentText" fact="0.15"/>
    </dgm:constrLst>
    <dgm:ruleLst>
      <dgm:rule type="primFontSz" for="des" forName="parentText" val="5" fact="NaN" max="NaN"/>
    </dgm:ruleLst>
    <dgm:forEach name="Name3" axis="ch" ptType="node">
      <dgm:layoutNode name="parentLin">
        <dgm:choose name="Name4">
          <dgm:if name="Name5" func="var" arg="dir" op="equ" val="norm">
            <dgm:alg type="lin">
              <dgm:param type="linDir" val="fromL"/>
              <dgm:param type="horzAlign" val="l"/>
              <dgm:param type="nodeHorzAlign" val="l"/>
            </dgm:alg>
          </dgm:if>
          <dgm:else name="Name6">
            <dgm:alg type="lin">
              <dgm:param type="linDir" val="fromR"/>
              <dgm:param type="horzAlign" val="r"/>
              <dgm:param type="nodeHorzAlign" val="r"/>
            </dgm:alg>
          </dgm:else>
        </dgm:choose>
        <dgm:shape xmlns:r="http://schemas.openxmlformats.org/officeDocument/2006/relationships" r:blip="">
          <dgm:adjLst/>
        </dgm:shape>
        <dgm:presOf/>
        <dgm:constrLst/>
        <dgm:ruleLst/>
        <dgm:layoutNode name="parentLeftMargin">
          <dgm:alg type="sp"/>
          <dgm:shape xmlns:r="http://schemas.openxmlformats.org/officeDocument/2006/relationships" type="rect" r:blip="" hideGeom="1">
            <dgm:adjLst/>
          </dgm:shape>
          <dgm:presOf axis="self"/>
          <dgm:constrLst>
            <dgm:constr type="h"/>
          </dgm:constrLst>
          <dgm:ruleLst/>
        </dgm:layoutNode>
        <dgm:layoutNode name="parentText" styleLbl="node1">
          <dgm:varLst>
            <dgm:chMax val="0"/>
            <dgm:bulletEnabled val="1"/>
          </dgm:varLst>
          <dgm:choose name="Name7">
            <dgm:if name="Name8" func="var" arg="dir" op="equ" val="norm">
              <dgm:alg type="tx">
                <dgm:param type="parTxLTRAlign" val="l"/>
                <dgm:param type="parTxRTLAlign" val="l"/>
              </dgm:alg>
            </dgm:if>
            <dgm:else name="Name9">
              <dgm:alg type="tx">
                <dgm:param type="parTxLTRAlign" val="r"/>
                <dgm:param type="parTxRTLAlign" val="r"/>
              </dgm:alg>
            </dgm:else>
          </dgm:choose>
          <dgm:shape xmlns:r="http://schemas.openxmlformats.org/officeDocument/2006/relationships" type="roundRect" r:blip="">
            <dgm:adjLst/>
          </dgm:shape>
          <dgm:presOf axis="self" ptType="node"/>
          <dgm:constrLst>
            <dgm:constr type="tMarg"/>
            <dgm:constr type="bMarg"/>
          </dgm:constrLst>
          <dgm:ruleLst/>
        </dgm:layoutNode>
      </dgm:layoutNode>
      <dgm:layoutNode name="negativeSpace">
        <dgm:alg type="sp"/>
        <dgm:shape xmlns:r="http://schemas.openxmlformats.org/officeDocument/2006/relationships" r:blip="">
          <dgm:adjLst/>
        </dgm:shape>
        <dgm:presOf/>
        <dgm:constrLst/>
        <dgm:ruleLst/>
      </dgm:layoutNode>
      <dgm:layoutNode name="childText" styleLbl="conFgAcc1">
        <dgm:varLst>
          <dgm:bulletEnabled val="1"/>
        </dgm:varLst>
        <dgm:alg type="tx">
          <dgm:param type="stBulletLvl" val="1"/>
        </dgm:alg>
        <dgm:shape xmlns:r="http://schemas.openxmlformats.org/officeDocument/2006/relationships" type="rect" r:blip="" zOrderOff="-2">
          <dgm:adjLst/>
        </dgm:shape>
        <dgm:presOf axis="des" ptType="node"/>
        <dgm:constrLst>
          <dgm:constr type="secFontSz" refType="primFontSz"/>
        </dgm:constrLst>
        <dgm:ruleLst>
          <dgm:rule type="h" val="INF" fact="NaN" max="NaN"/>
        </dgm:ruleLst>
      </dgm:layoutNode>
      <dgm:forEach name="Name10" axis="followSib" ptType="sibTrans" cnt="1">
        <dgm:layoutNode name="spaceBetweenRectangle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list1">
  <dgm:title val=""/>
  <dgm:desc val=""/>
  <dgm:catLst>
    <dgm:cat type="list" pri="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4" srcId="0" destId="1" srcOrd="0" destOrd="0"/>
        <dgm:cxn modelId="5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dir/>
      <dgm:animLvl val="lvl"/>
      <dgm:resizeHandles val="exact"/>
    </dgm:varLst>
    <dgm:choose name="Name0">
      <dgm:if name="Name1" func="var" arg="dir" op="equ" val="norm">
        <dgm:alg type="lin">
          <dgm:param type="linDir" val="fromT"/>
          <dgm:param type="vertAlign" val="mid"/>
          <dgm:param type="horzAlign" val="l"/>
          <dgm:param type="nodeHorzAlign" val="l"/>
        </dgm:alg>
      </dgm:if>
      <dgm:else name="Name2">
        <dgm:alg type="lin">
          <dgm:param type="linDir" val="fromT"/>
          <dgm:param type="vertAlign" val="mid"/>
          <dgm:param type="horzAlign" val="r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parentLin" refType="w"/>
      <dgm:constr type="h" for="ch" forName="parentLin" val="INF"/>
      <dgm:constr type="w" for="des" forName="parentLeftMargin" refType="w" fact="0.05"/>
      <dgm:constr type="w" for="des" forName="parentText" refType="w" fact="0.7"/>
      <dgm:constr type="h" for="des" forName="parentText" refType="primFontSz" refFor="des" refForName="parentText" fact="0.82"/>
      <dgm:constr type="h" for="ch" forName="negativeSpace" refType="primFontSz" refFor="des" refForName="parentText" fact="-0.41"/>
      <dgm:constr type="h" for="ch" forName="negativeSpace" refType="h" refFor="des" refForName="parentText" op="lte" fact="-0.82"/>
      <dgm:constr type="h" for="ch" forName="negativeSpace" refType="h" refFor="des" refForName="parentText" op="gte" fact="-0.82"/>
      <dgm:constr type="w" for="ch" forName="childText" refType="w"/>
      <dgm:constr type="h" for="ch" forName="childText" refType="primFontSz" refFor="des" refForName="parentText" fact="0.7"/>
      <dgm:constr type="primFontSz" for="des" forName="parentText" val="65"/>
      <dgm:constr type="primFontSz" for="ch" forName="childText" refType="primFontSz" refFor="des" refForName="parentText"/>
      <dgm:constr type="tMarg" for="ch" forName="childText" refType="primFontSz" refFor="des" refForName="parentText" fact="1.64"/>
      <dgm:constr type="tMarg" for="ch" forName="childText" refType="h" refFor="des" refForName="parentText" op="lte" fact="3.28"/>
      <dgm:constr type="tMarg" for="ch" forName="childText" refType="h" refFor="des" refForName="parentText" op="gte" fact="3.28"/>
      <dgm:constr type="lMarg" for="ch" forName="childText" refType="w" fact="0.22"/>
      <dgm:constr type="rMarg" for="ch" forName="childText" refType="lMarg" refFor="ch" refForName="childText"/>
      <dgm:constr type="lMarg" for="des" forName="parentText" refType="w" fact="0.075"/>
      <dgm:constr type="rMarg" for="des" forName="parentText" refType="lMarg" refFor="des" refForName="parentText"/>
      <dgm:constr type="h" for="ch" forName="spaceBetweenRectangles" refType="primFontSz" refFor="des" refForName="parentText" fact="0.15"/>
    </dgm:constrLst>
    <dgm:ruleLst>
      <dgm:rule type="primFontSz" for="des" forName="parentText" val="5" fact="NaN" max="NaN"/>
    </dgm:ruleLst>
    <dgm:forEach name="Name3" axis="ch" ptType="node">
      <dgm:layoutNode name="parentLin">
        <dgm:choose name="Name4">
          <dgm:if name="Name5" func="var" arg="dir" op="equ" val="norm">
            <dgm:alg type="lin">
              <dgm:param type="linDir" val="fromL"/>
              <dgm:param type="horzAlign" val="l"/>
              <dgm:param type="nodeHorzAlign" val="l"/>
            </dgm:alg>
          </dgm:if>
          <dgm:else name="Name6">
            <dgm:alg type="lin">
              <dgm:param type="linDir" val="fromR"/>
              <dgm:param type="horzAlign" val="r"/>
              <dgm:param type="nodeHorzAlign" val="r"/>
            </dgm:alg>
          </dgm:else>
        </dgm:choose>
        <dgm:shape xmlns:r="http://schemas.openxmlformats.org/officeDocument/2006/relationships" r:blip="">
          <dgm:adjLst/>
        </dgm:shape>
        <dgm:presOf/>
        <dgm:constrLst/>
        <dgm:ruleLst/>
        <dgm:layoutNode name="parentLeftMargin">
          <dgm:alg type="sp"/>
          <dgm:shape xmlns:r="http://schemas.openxmlformats.org/officeDocument/2006/relationships" type="rect" r:blip="" hideGeom="1">
            <dgm:adjLst/>
          </dgm:shape>
          <dgm:presOf axis="self"/>
          <dgm:constrLst>
            <dgm:constr type="h"/>
          </dgm:constrLst>
          <dgm:ruleLst/>
        </dgm:layoutNode>
        <dgm:layoutNode name="parentText" styleLbl="node1">
          <dgm:varLst>
            <dgm:chMax val="0"/>
            <dgm:bulletEnabled val="1"/>
          </dgm:varLst>
          <dgm:choose name="Name7">
            <dgm:if name="Name8" func="var" arg="dir" op="equ" val="norm">
              <dgm:alg type="tx">
                <dgm:param type="parTxLTRAlign" val="l"/>
                <dgm:param type="parTxRTLAlign" val="l"/>
              </dgm:alg>
            </dgm:if>
            <dgm:else name="Name9">
              <dgm:alg type="tx">
                <dgm:param type="parTxLTRAlign" val="r"/>
                <dgm:param type="parTxRTLAlign" val="r"/>
              </dgm:alg>
            </dgm:else>
          </dgm:choose>
          <dgm:shape xmlns:r="http://schemas.openxmlformats.org/officeDocument/2006/relationships" type="roundRect" r:blip="">
            <dgm:adjLst/>
          </dgm:shape>
          <dgm:presOf axis="self" ptType="node"/>
          <dgm:constrLst>
            <dgm:constr type="tMarg"/>
            <dgm:constr type="bMarg"/>
          </dgm:constrLst>
          <dgm:ruleLst/>
        </dgm:layoutNode>
      </dgm:layoutNode>
      <dgm:layoutNode name="negativeSpace">
        <dgm:alg type="sp"/>
        <dgm:shape xmlns:r="http://schemas.openxmlformats.org/officeDocument/2006/relationships" r:blip="">
          <dgm:adjLst/>
        </dgm:shape>
        <dgm:presOf/>
        <dgm:constrLst/>
        <dgm:ruleLst/>
      </dgm:layoutNode>
      <dgm:layoutNode name="childText" styleLbl="conFgAcc1">
        <dgm:varLst>
          <dgm:bulletEnabled val="1"/>
        </dgm:varLst>
        <dgm:alg type="tx">
          <dgm:param type="stBulletLvl" val="1"/>
        </dgm:alg>
        <dgm:shape xmlns:r="http://schemas.openxmlformats.org/officeDocument/2006/relationships" type="rect" r:blip="" zOrderOff="-2">
          <dgm:adjLst/>
        </dgm:shape>
        <dgm:presOf axis="des" ptType="node"/>
        <dgm:constrLst>
          <dgm:constr type="secFontSz" refType="primFontSz"/>
        </dgm:constrLst>
        <dgm:ruleLst>
          <dgm:rule type="h" val="INF" fact="NaN" max="NaN"/>
        </dgm:ruleLst>
      </dgm:layoutNode>
      <dgm:forEach name="Name10" axis="followSib" ptType="sibTrans" cnt="1">
        <dgm:layoutNode name="spaceBetweenRectangle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list1">
  <dgm:title val=""/>
  <dgm:desc val=""/>
  <dgm:catLst>
    <dgm:cat type="list" pri="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4" srcId="0" destId="1" srcOrd="0" destOrd="0"/>
        <dgm:cxn modelId="5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dir/>
      <dgm:animLvl val="lvl"/>
      <dgm:resizeHandles val="exact"/>
    </dgm:varLst>
    <dgm:choose name="Name0">
      <dgm:if name="Name1" func="var" arg="dir" op="equ" val="norm">
        <dgm:alg type="lin">
          <dgm:param type="linDir" val="fromT"/>
          <dgm:param type="vertAlign" val="mid"/>
          <dgm:param type="horzAlign" val="l"/>
          <dgm:param type="nodeHorzAlign" val="l"/>
        </dgm:alg>
      </dgm:if>
      <dgm:else name="Name2">
        <dgm:alg type="lin">
          <dgm:param type="linDir" val="fromT"/>
          <dgm:param type="vertAlign" val="mid"/>
          <dgm:param type="horzAlign" val="r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parentLin" refType="w"/>
      <dgm:constr type="h" for="ch" forName="parentLin" val="INF"/>
      <dgm:constr type="w" for="des" forName="parentLeftMargin" refType="w" fact="0.05"/>
      <dgm:constr type="w" for="des" forName="parentText" refType="w" fact="0.7"/>
      <dgm:constr type="h" for="des" forName="parentText" refType="primFontSz" refFor="des" refForName="parentText" fact="0.82"/>
      <dgm:constr type="h" for="ch" forName="negativeSpace" refType="primFontSz" refFor="des" refForName="parentText" fact="-0.41"/>
      <dgm:constr type="h" for="ch" forName="negativeSpace" refType="h" refFor="des" refForName="parentText" op="lte" fact="-0.82"/>
      <dgm:constr type="h" for="ch" forName="negativeSpace" refType="h" refFor="des" refForName="parentText" op="gte" fact="-0.82"/>
      <dgm:constr type="w" for="ch" forName="childText" refType="w"/>
      <dgm:constr type="h" for="ch" forName="childText" refType="primFontSz" refFor="des" refForName="parentText" fact="0.7"/>
      <dgm:constr type="primFontSz" for="des" forName="parentText" val="65"/>
      <dgm:constr type="primFontSz" for="ch" forName="childText" refType="primFontSz" refFor="des" refForName="parentText"/>
      <dgm:constr type="tMarg" for="ch" forName="childText" refType="primFontSz" refFor="des" refForName="parentText" fact="1.64"/>
      <dgm:constr type="tMarg" for="ch" forName="childText" refType="h" refFor="des" refForName="parentText" op="lte" fact="3.28"/>
      <dgm:constr type="tMarg" for="ch" forName="childText" refType="h" refFor="des" refForName="parentText" op="gte" fact="3.28"/>
      <dgm:constr type="lMarg" for="ch" forName="childText" refType="w" fact="0.22"/>
      <dgm:constr type="rMarg" for="ch" forName="childText" refType="lMarg" refFor="ch" refForName="childText"/>
      <dgm:constr type="lMarg" for="des" forName="parentText" refType="w" fact="0.075"/>
      <dgm:constr type="rMarg" for="des" forName="parentText" refType="lMarg" refFor="des" refForName="parentText"/>
      <dgm:constr type="h" for="ch" forName="spaceBetweenRectangles" refType="primFontSz" refFor="des" refForName="parentText" fact="0.15"/>
    </dgm:constrLst>
    <dgm:ruleLst>
      <dgm:rule type="primFontSz" for="des" forName="parentText" val="5" fact="NaN" max="NaN"/>
    </dgm:ruleLst>
    <dgm:forEach name="Name3" axis="ch" ptType="node">
      <dgm:layoutNode name="parentLin">
        <dgm:choose name="Name4">
          <dgm:if name="Name5" func="var" arg="dir" op="equ" val="norm">
            <dgm:alg type="lin">
              <dgm:param type="linDir" val="fromL"/>
              <dgm:param type="horzAlign" val="l"/>
              <dgm:param type="nodeHorzAlign" val="l"/>
            </dgm:alg>
          </dgm:if>
          <dgm:else name="Name6">
            <dgm:alg type="lin">
              <dgm:param type="linDir" val="fromR"/>
              <dgm:param type="horzAlign" val="r"/>
              <dgm:param type="nodeHorzAlign" val="r"/>
            </dgm:alg>
          </dgm:else>
        </dgm:choose>
        <dgm:shape xmlns:r="http://schemas.openxmlformats.org/officeDocument/2006/relationships" r:blip="">
          <dgm:adjLst/>
        </dgm:shape>
        <dgm:presOf/>
        <dgm:constrLst/>
        <dgm:ruleLst/>
        <dgm:layoutNode name="parentLeftMargin">
          <dgm:alg type="sp"/>
          <dgm:shape xmlns:r="http://schemas.openxmlformats.org/officeDocument/2006/relationships" type="rect" r:blip="" hideGeom="1">
            <dgm:adjLst/>
          </dgm:shape>
          <dgm:presOf axis="self"/>
          <dgm:constrLst>
            <dgm:constr type="h"/>
          </dgm:constrLst>
          <dgm:ruleLst/>
        </dgm:layoutNode>
        <dgm:layoutNode name="parentText" styleLbl="node1">
          <dgm:varLst>
            <dgm:chMax val="0"/>
            <dgm:bulletEnabled val="1"/>
          </dgm:varLst>
          <dgm:choose name="Name7">
            <dgm:if name="Name8" func="var" arg="dir" op="equ" val="norm">
              <dgm:alg type="tx">
                <dgm:param type="parTxLTRAlign" val="l"/>
                <dgm:param type="parTxRTLAlign" val="l"/>
              </dgm:alg>
            </dgm:if>
            <dgm:else name="Name9">
              <dgm:alg type="tx">
                <dgm:param type="parTxLTRAlign" val="r"/>
                <dgm:param type="parTxRTLAlign" val="r"/>
              </dgm:alg>
            </dgm:else>
          </dgm:choose>
          <dgm:shape xmlns:r="http://schemas.openxmlformats.org/officeDocument/2006/relationships" type="roundRect" r:blip="">
            <dgm:adjLst/>
          </dgm:shape>
          <dgm:presOf axis="self" ptType="node"/>
          <dgm:constrLst>
            <dgm:constr type="tMarg"/>
            <dgm:constr type="bMarg"/>
          </dgm:constrLst>
          <dgm:ruleLst/>
        </dgm:layoutNode>
      </dgm:layoutNode>
      <dgm:layoutNode name="negativeSpace">
        <dgm:alg type="sp"/>
        <dgm:shape xmlns:r="http://schemas.openxmlformats.org/officeDocument/2006/relationships" r:blip="">
          <dgm:adjLst/>
        </dgm:shape>
        <dgm:presOf/>
        <dgm:constrLst/>
        <dgm:ruleLst/>
      </dgm:layoutNode>
      <dgm:layoutNode name="childText" styleLbl="conFgAcc1">
        <dgm:varLst>
          <dgm:bulletEnabled val="1"/>
        </dgm:varLst>
        <dgm:alg type="tx">
          <dgm:param type="stBulletLvl" val="1"/>
        </dgm:alg>
        <dgm:shape xmlns:r="http://schemas.openxmlformats.org/officeDocument/2006/relationships" type="rect" r:blip="" zOrderOff="-2">
          <dgm:adjLst/>
        </dgm:shape>
        <dgm:presOf axis="des" ptType="node"/>
        <dgm:constrLst>
          <dgm:constr type="secFontSz" refType="primFontSz"/>
        </dgm:constrLst>
        <dgm:ruleLst>
          <dgm:rule type="h" val="INF" fact="NaN" max="NaN"/>
        </dgm:ruleLst>
      </dgm:layoutNode>
      <dgm:forEach name="Name10" axis="followSib" ptType="sibTrans" cnt="1">
        <dgm:layoutNode name="spaceBetweenRectangle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05/8/layout/list1">
  <dgm:title val=""/>
  <dgm:desc val=""/>
  <dgm:catLst>
    <dgm:cat type="list" pri="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4" srcId="0" destId="1" srcOrd="0" destOrd="0"/>
        <dgm:cxn modelId="5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dir/>
      <dgm:animLvl val="lvl"/>
      <dgm:resizeHandles val="exact"/>
    </dgm:varLst>
    <dgm:choose name="Name0">
      <dgm:if name="Name1" func="var" arg="dir" op="equ" val="norm">
        <dgm:alg type="lin">
          <dgm:param type="linDir" val="fromT"/>
          <dgm:param type="vertAlign" val="mid"/>
          <dgm:param type="horzAlign" val="l"/>
          <dgm:param type="nodeHorzAlign" val="l"/>
        </dgm:alg>
      </dgm:if>
      <dgm:else name="Name2">
        <dgm:alg type="lin">
          <dgm:param type="linDir" val="fromT"/>
          <dgm:param type="vertAlign" val="mid"/>
          <dgm:param type="horzAlign" val="r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parentLin" refType="w"/>
      <dgm:constr type="h" for="ch" forName="parentLin" val="INF"/>
      <dgm:constr type="w" for="des" forName="parentLeftMargin" refType="w" fact="0.05"/>
      <dgm:constr type="w" for="des" forName="parentText" refType="w" fact="0.7"/>
      <dgm:constr type="h" for="des" forName="parentText" refType="primFontSz" refFor="des" refForName="parentText" fact="0.82"/>
      <dgm:constr type="h" for="ch" forName="negativeSpace" refType="primFontSz" refFor="des" refForName="parentText" fact="-0.41"/>
      <dgm:constr type="h" for="ch" forName="negativeSpace" refType="h" refFor="des" refForName="parentText" op="lte" fact="-0.82"/>
      <dgm:constr type="h" for="ch" forName="negativeSpace" refType="h" refFor="des" refForName="parentText" op="gte" fact="-0.82"/>
      <dgm:constr type="w" for="ch" forName="childText" refType="w"/>
      <dgm:constr type="h" for="ch" forName="childText" refType="primFontSz" refFor="des" refForName="parentText" fact="0.7"/>
      <dgm:constr type="primFontSz" for="des" forName="parentText" val="65"/>
      <dgm:constr type="primFontSz" for="ch" forName="childText" refType="primFontSz" refFor="des" refForName="parentText"/>
      <dgm:constr type="tMarg" for="ch" forName="childText" refType="primFontSz" refFor="des" refForName="parentText" fact="1.64"/>
      <dgm:constr type="tMarg" for="ch" forName="childText" refType="h" refFor="des" refForName="parentText" op="lte" fact="3.28"/>
      <dgm:constr type="tMarg" for="ch" forName="childText" refType="h" refFor="des" refForName="parentText" op="gte" fact="3.28"/>
      <dgm:constr type="lMarg" for="ch" forName="childText" refType="w" fact="0.22"/>
      <dgm:constr type="rMarg" for="ch" forName="childText" refType="lMarg" refFor="ch" refForName="childText"/>
      <dgm:constr type="lMarg" for="des" forName="parentText" refType="w" fact="0.075"/>
      <dgm:constr type="rMarg" for="des" forName="parentText" refType="lMarg" refFor="des" refForName="parentText"/>
      <dgm:constr type="h" for="ch" forName="spaceBetweenRectangles" refType="primFontSz" refFor="des" refForName="parentText" fact="0.15"/>
    </dgm:constrLst>
    <dgm:ruleLst>
      <dgm:rule type="primFontSz" for="des" forName="parentText" val="5" fact="NaN" max="NaN"/>
    </dgm:ruleLst>
    <dgm:forEach name="Name3" axis="ch" ptType="node">
      <dgm:layoutNode name="parentLin">
        <dgm:choose name="Name4">
          <dgm:if name="Name5" func="var" arg="dir" op="equ" val="norm">
            <dgm:alg type="lin">
              <dgm:param type="linDir" val="fromL"/>
              <dgm:param type="horzAlign" val="l"/>
              <dgm:param type="nodeHorzAlign" val="l"/>
            </dgm:alg>
          </dgm:if>
          <dgm:else name="Name6">
            <dgm:alg type="lin">
              <dgm:param type="linDir" val="fromR"/>
              <dgm:param type="horzAlign" val="r"/>
              <dgm:param type="nodeHorzAlign" val="r"/>
            </dgm:alg>
          </dgm:else>
        </dgm:choose>
        <dgm:shape xmlns:r="http://schemas.openxmlformats.org/officeDocument/2006/relationships" r:blip="">
          <dgm:adjLst/>
        </dgm:shape>
        <dgm:presOf/>
        <dgm:constrLst/>
        <dgm:ruleLst/>
        <dgm:layoutNode name="parentLeftMargin">
          <dgm:alg type="sp"/>
          <dgm:shape xmlns:r="http://schemas.openxmlformats.org/officeDocument/2006/relationships" type="rect" r:blip="" hideGeom="1">
            <dgm:adjLst/>
          </dgm:shape>
          <dgm:presOf axis="self"/>
          <dgm:constrLst>
            <dgm:constr type="h"/>
          </dgm:constrLst>
          <dgm:ruleLst/>
        </dgm:layoutNode>
        <dgm:layoutNode name="parentText" styleLbl="node1">
          <dgm:varLst>
            <dgm:chMax val="0"/>
            <dgm:bulletEnabled val="1"/>
          </dgm:varLst>
          <dgm:choose name="Name7">
            <dgm:if name="Name8" func="var" arg="dir" op="equ" val="norm">
              <dgm:alg type="tx">
                <dgm:param type="parTxLTRAlign" val="l"/>
                <dgm:param type="parTxRTLAlign" val="l"/>
              </dgm:alg>
            </dgm:if>
            <dgm:else name="Name9">
              <dgm:alg type="tx">
                <dgm:param type="parTxLTRAlign" val="r"/>
                <dgm:param type="parTxRTLAlign" val="r"/>
              </dgm:alg>
            </dgm:else>
          </dgm:choose>
          <dgm:shape xmlns:r="http://schemas.openxmlformats.org/officeDocument/2006/relationships" type="roundRect" r:blip="">
            <dgm:adjLst/>
          </dgm:shape>
          <dgm:presOf axis="self" ptType="node"/>
          <dgm:constrLst>
            <dgm:constr type="tMarg"/>
            <dgm:constr type="bMarg"/>
          </dgm:constrLst>
          <dgm:ruleLst/>
        </dgm:layoutNode>
      </dgm:layoutNode>
      <dgm:layoutNode name="negativeSpace">
        <dgm:alg type="sp"/>
        <dgm:shape xmlns:r="http://schemas.openxmlformats.org/officeDocument/2006/relationships" r:blip="">
          <dgm:adjLst/>
        </dgm:shape>
        <dgm:presOf/>
        <dgm:constrLst/>
        <dgm:ruleLst/>
      </dgm:layoutNode>
      <dgm:layoutNode name="childText" styleLbl="conFgAcc1">
        <dgm:varLst>
          <dgm:bulletEnabled val="1"/>
        </dgm:varLst>
        <dgm:alg type="tx">
          <dgm:param type="stBulletLvl" val="1"/>
        </dgm:alg>
        <dgm:shape xmlns:r="http://schemas.openxmlformats.org/officeDocument/2006/relationships" type="rect" r:blip="" zOrderOff="-2">
          <dgm:adjLst/>
        </dgm:shape>
        <dgm:presOf axis="des" ptType="node"/>
        <dgm:constrLst>
          <dgm:constr type="secFontSz" refType="primFontSz"/>
        </dgm:constrLst>
        <dgm:ruleLst>
          <dgm:rule type="h" val="INF" fact="NaN" max="NaN"/>
        </dgm:ruleLst>
      </dgm:layoutNode>
      <dgm:forEach name="Name10" axis="followSib" ptType="sibTrans" cnt="1">
        <dgm:layoutNode name="spaceBetweenRectangle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05/8/layout/list1">
  <dgm:title val=""/>
  <dgm:desc val=""/>
  <dgm:catLst>
    <dgm:cat type="list" pri="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4" srcId="0" destId="1" srcOrd="0" destOrd="0"/>
        <dgm:cxn modelId="5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dir/>
      <dgm:animLvl val="lvl"/>
      <dgm:resizeHandles val="exact"/>
    </dgm:varLst>
    <dgm:choose name="Name0">
      <dgm:if name="Name1" func="var" arg="dir" op="equ" val="norm">
        <dgm:alg type="lin">
          <dgm:param type="linDir" val="fromT"/>
          <dgm:param type="vertAlign" val="mid"/>
          <dgm:param type="horzAlign" val="l"/>
          <dgm:param type="nodeHorzAlign" val="l"/>
        </dgm:alg>
      </dgm:if>
      <dgm:else name="Name2">
        <dgm:alg type="lin">
          <dgm:param type="linDir" val="fromT"/>
          <dgm:param type="vertAlign" val="mid"/>
          <dgm:param type="horzAlign" val="r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parentLin" refType="w"/>
      <dgm:constr type="h" for="ch" forName="parentLin" val="INF"/>
      <dgm:constr type="w" for="des" forName="parentLeftMargin" refType="w" fact="0.05"/>
      <dgm:constr type="w" for="des" forName="parentText" refType="w" fact="0.7"/>
      <dgm:constr type="h" for="des" forName="parentText" refType="primFontSz" refFor="des" refForName="parentText" fact="0.82"/>
      <dgm:constr type="h" for="ch" forName="negativeSpace" refType="primFontSz" refFor="des" refForName="parentText" fact="-0.41"/>
      <dgm:constr type="h" for="ch" forName="negativeSpace" refType="h" refFor="des" refForName="parentText" op="lte" fact="-0.82"/>
      <dgm:constr type="h" for="ch" forName="negativeSpace" refType="h" refFor="des" refForName="parentText" op="gte" fact="-0.82"/>
      <dgm:constr type="w" for="ch" forName="childText" refType="w"/>
      <dgm:constr type="h" for="ch" forName="childText" refType="primFontSz" refFor="des" refForName="parentText" fact="0.7"/>
      <dgm:constr type="primFontSz" for="des" forName="parentText" val="65"/>
      <dgm:constr type="primFontSz" for="ch" forName="childText" refType="primFontSz" refFor="des" refForName="parentText"/>
      <dgm:constr type="tMarg" for="ch" forName="childText" refType="primFontSz" refFor="des" refForName="parentText" fact="1.64"/>
      <dgm:constr type="tMarg" for="ch" forName="childText" refType="h" refFor="des" refForName="parentText" op="lte" fact="3.28"/>
      <dgm:constr type="tMarg" for="ch" forName="childText" refType="h" refFor="des" refForName="parentText" op="gte" fact="3.28"/>
      <dgm:constr type="lMarg" for="ch" forName="childText" refType="w" fact="0.22"/>
      <dgm:constr type="rMarg" for="ch" forName="childText" refType="lMarg" refFor="ch" refForName="childText"/>
      <dgm:constr type="lMarg" for="des" forName="parentText" refType="w" fact="0.075"/>
      <dgm:constr type="rMarg" for="des" forName="parentText" refType="lMarg" refFor="des" refForName="parentText"/>
      <dgm:constr type="h" for="ch" forName="spaceBetweenRectangles" refType="primFontSz" refFor="des" refForName="parentText" fact="0.15"/>
    </dgm:constrLst>
    <dgm:ruleLst>
      <dgm:rule type="primFontSz" for="des" forName="parentText" val="5" fact="NaN" max="NaN"/>
    </dgm:ruleLst>
    <dgm:forEach name="Name3" axis="ch" ptType="node">
      <dgm:layoutNode name="parentLin">
        <dgm:choose name="Name4">
          <dgm:if name="Name5" func="var" arg="dir" op="equ" val="norm">
            <dgm:alg type="lin">
              <dgm:param type="linDir" val="fromL"/>
              <dgm:param type="horzAlign" val="l"/>
              <dgm:param type="nodeHorzAlign" val="l"/>
            </dgm:alg>
          </dgm:if>
          <dgm:else name="Name6">
            <dgm:alg type="lin">
              <dgm:param type="linDir" val="fromR"/>
              <dgm:param type="horzAlign" val="r"/>
              <dgm:param type="nodeHorzAlign" val="r"/>
            </dgm:alg>
          </dgm:else>
        </dgm:choose>
        <dgm:shape xmlns:r="http://schemas.openxmlformats.org/officeDocument/2006/relationships" r:blip="">
          <dgm:adjLst/>
        </dgm:shape>
        <dgm:presOf/>
        <dgm:constrLst/>
        <dgm:ruleLst/>
        <dgm:layoutNode name="parentLeftMargin">
          <dgm:alg type="sp"/>
          <dgm:shape xmlns:r="http://schemas.openxmlformats.org/officeDocument/2006/relationships" type="rect" r:blip="" hideGeom="1">
            <dgm:adjLst/>
          </dgm:shape>
          <dgm:presOf axis="self"/>
          <dgm:constrLst>
            <dgm:constr type="h"/>
          </dgm:constrLst>
          <dgm:ruleLst/>
        </dgm:layoutNode>
        <dgm:layoutNode name="parentText" styleLbl="node1">
          <dgm:varLst>
            <dgm:chMax val="0"/>
            <dgm:bulletEnabled val="1"/>
          </dgm:varLst>
          <dgm:choose name="Name7">
            <dgm:if name="Name8" func="var" arg="dir" op="equ" val="norm">
              <dgm:alg type="tx">
                <dgm:param type="parTxLTRAlign" val="l"/>
                <dgm:param type="parTxRTLAlign" val="l"/>
              </dgm:alg>
            </dgm:if>
            <dgm:else name="Name9">
              <dgm:alg type="tx">
                <dgm:param type="parTxLTRAlign" val="r"/>
                <dgm:param type="parTxRTLAlign" val="r"/>
              </dgm:alg>
            </dgm:else>
          </dgm:choose>
          <dgm:shape xmlns:r="http://schemas.openxmlformats.org/officeDocument/2006/relationships" type="roundRect" r:blip="">
            <dgm:adjLst/>
          </dgm:shape>
          <dgm:presOf axis="self" ptType="node"/>
          <dgm:constrLst>
            <dgm:constr type="tMarg"/>
            <dgm:constr type="bMarg"/>
          </dgm:constrLst>
          <dgm:ruleLst/>
        </dgm:layoutNode>
      </dgm:layoutNode>
      <dgm:layoutNode name="negativeSpace">
        <dgm:alg type="sp"/>
        <dgm:shape xmlns:r="http://schemas.openxmlformats.org/officeDocument/2006/relationships" r:blip="">
          <dgm:adjLst/>
        </dgm:shape>
        <dgm:presOf/>
        <dgm:constrLst/>
        <dgm:ruleLst/>
      </dgm:layoutNode>
      <dgm:layoutNode name="childText" styleLbl="conFgAcc1">
        <dgm:varLst>
          <dgm:bulletEnabled val="1"/>
        </dgm:varLst>
        <dgm:alg type="tx">
          <dgm:param type="stBulletLvl" val="1"/>
        </dgm:alg>
        <dgm:shape xmlns:r="http://schemas.openxmlformats.org/officeDocument/2006/relationships" type="rect" r:blip="" zOrderOff="-2">
          <dgm:adjLst/>
        </dgm:shape>
        <dgm:presOf axis="des" ptType="node"/>
        <dgm:constrLst>
          <dgm:constr type="secFontSz" refType="primFontSz"/>
        </dgm:constrLst>
        <dgm:ruleLst>
          <dgm:rule type="h" val="INF" fact="NaN" max="NaN"/>
        </dgm:ruleLst>
      </dgm:layoutNode>
      <dgm:forEach name="Name10" axis="followSib" ptType="sibTrans" cnt="1">
        <dgm:layoutNode name="spaceBetweenRectangle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6.xml><?xml version="1.0" encoding="utf-8"?>
<dgm:layoutDef xmlns:dgm="http://schemas.openxmlformats.org/drawingml/2006/diagram" xmlns:a="http://schemas.openxmlformats.org/drawingml/2006/main" uniqueId="urn:microsoft.com/office/officeart/2005/8/layout/list1">
  <dgm:title val=""/>
  <dgm:desc val=""/>
  <dgm:catLst>
    <dgm:cat type="list" pri="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4" srcId="0" destId="1" srcOrd="0" destOrd="0"/>
        <dgm:cxn modelId="5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dir/>
      <dgm:animLvl val="lvl"/>
      <dgm:resizeHandles val="exact"/>
    </dgm:varLst>
    <dgm:choose name="Name0">
      <dgm:if name="Name1" func="var" arg="dir" op="equ" val="norm">
        <dgm:alg type="lin">
          <dgm:param type="linDir" val="fromT"/>
          <dgm:param type="vertAlign" val="mid"/>
          <dgm:param type="horzAlign" val="l"/>
          <dgm:param type="nodeHorzAlign" val="l"/>
        </dgm:alg>
      </dgm:if>
      <dgm:else name="Name2">
        <dgm:alg type="lin">
          <dgm:param type="linDir" val="fromT"/>
          <dgm:param type="vertAlign" val="mid"/>
          <dgm:param type="horzAlign" val="r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parentLin" refType="w"/>
      <dgm:constr type="h" for="ch" forName="parentLin" val="INF"/>
      <dgm:constr type="w" for="des" forName="parentLeftMargin" refType="w" fact="0.05"/>
      <dgm:constr type="w" for="des" forName="parentText" refType="w" fact="0.7"/>
      <dgm:constr type="h" for="des" forName="parentText" refType="primFontSz" refFor="des" refForName="parentText" fact="0.82"/>
      <dgm:constr type="h" for="ch" forName="negativeSpace" refType="primFontSz" refFor="des" refForName="parentText" fact="-0.41"/>
      <dgm:constr type="h" for="ch" forName="negativeSpace" refType="h" refFor="des" refForName="parentText" op="lte" fact="-0.82"/>
      <dgm:constr type="h" for="ch" forName="negativeSpace" refType="h" refFor="des" refForName="parentText" op="gte" fact="-0.82"/>
      <dgm:constr type="w" for="ch" forName="childText" refType="w"/>
      <dgm:constr type="h" for="ch" forName="childText" refType="primFontSz" refFor="des" refForName="parentText" fact="0.7"/>
      <dgm:constr type="primFontSz" for="des" forName="parentText" val="65"/>
      <dgm:constr type="primFontSz" for="ch" forName="childText" refType="primFontSz" refFor="des" refForName="parentText"/>
      <dgm:constr type="tMarg" for="ch" forName="childText" refType="primFontSz" refFor="des" refForName="parentText" fact="1.64"/>
      <dgm:constr type="tMarg" for="ch" forName="childText" refType="h" refFor="des" refForName="parentText" op="lte" fact="3.28"/>
      <dgm:constr type="tMarg" for="ch" forName="childText" refType="h" refFor="des" refForName="parentText" op="gte" fact="3.28"/>
      <dgm:constr type="lMarg" for="ch" forName="childText" refType="w" fact="0.22"/>
      <dgm:constr type="rMarg" for="ch" forName="childText" refType="lMarg" refFor="ch" refForName="childText"/>
      <dgm:constr type="lMarg" for="des" forName="parentText" refType="w" fact="0.075"/>
      <dgm:constr type="rMarg" for="des" forName="parentText" refType="lMarg" refFor="des" refForName="parentText"/>
      <dgm:constr type="h" for="ch" forName="spaceBetweenRectangles" refType="primFontSz" refFor="des" refForName="parentText" fact="0.15"/>
    </dgm:constrLst>
    <dgm:ruleLst>
      <dgm:rule type="primFontSz" for="des" forName="parentText" val="5" fact="NaN" max="NaN"/>
    </dgm:ruleLst>
    <dgm:forEach name="Name3" axis="ch" ptType="node">
      <dgm:layoutNode name="parentLin">
        <dgm:choose name="Name4">
          <dgm:if name="Name5" func="var" arg="dir" op="equ" val="norm">
            <dgm:alg type="lin">
              <dgm:param type="linDir" val="fromL"/>
              <dgm:param type="horzAlign" val="l"/>
              <dgm:param type="nodeHorzAlign" val="l"/>
            </dgm:alg>
          </dgm:if>
          <dgm:else name="Name6">
            <dgm:alg type="lin">
              <dgm:param type="linDir" val="fromR"/>
              <dgm:param type="horzAlign" val="r"/>
              <dgm:param type="nodeHorzAlign" val="r"/>
            </dgm:alg>
          </dgm:else>
        </dgm:choose>
        <dgm:shape xmlns:r="http://schemas.openxmlformats.org/officeDocument/2006/relationships" r:blip="">
          <dgm:adjLst/>
        </dgm:shape>
        <dgm:presOf/>
        <dgm:constrLst/>
        <dgm:ruleLst/>
        <dgm:layoutNode name="parentLeftMargin">
          <dgm:alg type="sp"/>
          <dgm:shape xmlns:r="http://schemas.openxmlformats.org/officeDocument/2006/relationships" type="rect" r:blip="" hideGeom="1">
            <dgm:adjLst/>
          </dgm:shape>
          <dgm:presOf axis="self"/>
          <dgm:constrLst>
            <dgm:constr type="h"/>
          </dgm:constrLst>
          <dgm:ruleLst/>
        </dgm:layoutNode>
        <dgm:layoutNode name="parentText" styleLbl="node1">
          <dgm:varLst>
            <dgm:chMax val="0"/>
            <dgm:bulletEnabled val="1"/>
          </dgm:varLst>
          <dgm:choose name="Name7">
            <dgm:if name="Name8" func="var" arg="dir" op="equ" val="norm">
              <dgm:alg type="tx">
                <dgm:param type="parTxLTRAlign" val="l"/>
                <dgm:param type="parTxRTLAlign" val="l"/>
              </dgm:alg>
            </dgm:if>
            <dgm:else name="Name9">
              <dgm:alg type="tx">
                <dgm:param type="parTxLTRAlign" val="r"/>
                <dgm:param type="parTxRTLAlign" val="r"/>
              </dgm:alg>
            </dgm:else>
          </dgm:choose>
          <dgm:shape xmlns:r="http://schemas.openxmlformats.org/officeDocument/2006/relationships" type="roundRect" r:blip="">
            <dgm:adjLst/>
          </dgm:shape>
          <dgm:presOf axis="self" ptType="node"/>
          <dgm:constrLst>
            <dgm:constr type="tMarg"/>
            <dgm:constr type="bMarg"/>
          </dgm:constrLst>
          <dgm:ruleLst/>
        </dgm:layoutNode>
      </dgm:layoutNode>
      <dgm:layoutNode name="negativeSpace">
        <dgm:alg type="sp"/>
        <dgm:shape xmlns:r="http://schemas.openxmlformats.org/officeDocument/2006/relationships" r:blip="">
          <dgm:adjLst/>
        </dgm:shape>
        <dgm:presOf/>
        <dgm:constrLst/>
        <dgm:ruleLst/>
      </dgm:layoutNode>
      <dgm:layoutNode name="childText" styleLbl="conFgAcc1">
        <dgm:varLst>
          <dgm:bulletEnabled val="1"/>
        </dgm:varLst>
        <dgm:alg type="tx">
          <dgm:param type="stBulletLvl" val="1"/>
        </dgm:alg>
        <dgm:shape xmlns:r="http://schemas.openxmlformats.org/officeDocument/2006/relationships" type="rect" r:blip="" zOrderOff="-2">
          <dgm:adjLst/>
        </dgm:shape>
        <dgm:presOf axis="des" ptType="node"/>
        <dgm:constrLst>
          <dgm:constr type="secFontSz" refType="primFontSz"/>
        </dgm:constrLst>
        <dgm:ruleLst>
          <dgm:rule type="h" val="INF" fact="NaN" max="NaN"/>
        </dgm:ruleLst>
      </dgm:layoutNode>
      <dgm:forEach name="Name10" axis="followSib" ptType="sibTrans" cnt="1">
        <dgm:layoutNode name="spaceBetweenRectangle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6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SG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40FFE86-F4EF-4C24-B61E-A4ACE1AB3F28}" type="datetimeFigureOut">
              <a:rPr lang="en-SG" smtClean="0"/>
              <a:t>4/4/2026</a:t>
            </a:fld>
            <a:endParaRPr lang="en-SG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SG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SG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8B4CBF0-980A-4FF3-AD95-D6CF6BA3A3FE}" type="slidenum">
              <a:rPr lang="en-SG" smtClean="0"/>
              <a:t>‹#›</a:t>
            </a:fld>
            <a:endParaRPr lang="en-SG" dirty="0"/>
          </a:p>
        </p:txBody>
      </p:sp>
    </p:spTree>
    <p:extLst>
      <p:ext uri="{BB962C8B-B14F-4D97-AF65-F5344CB8AC3E}">
        <p14:creationId xmlns:p14="http://schemas.microsoft.com/office/powerpoint/2010/main" val="88285665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SG" dirty="0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SG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8B4CBF0-980A-4FF3-AD95-D6CF6BA3A3FE}" type="slidenum">
              <a:rPr lang="en-SG" smtClean="0"/>
              <a:t>3</a:t>
            </a:fld>
            <a:endParaRPr lang="en-SG" dirty="0"/>
          </a:p>
        </p:txBody>
      </p:sp>
    </p:spTree>
    <p:extLst>
      <p:ext uri="{BB962C8B-B14F-4D97-AF65-F5344CB8AC3E}">
        <p14:creationId xmlns:p14="http://schemas.microsoft.com/office/powerpoint/2010/main" val="403872210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SG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8B4CBF0-980A-4FF3-AD95-D6CF6BA3A3FE}" type="slidenum">
              <a:rPr lang="en-SG" smtClean="0"/>
              <a:t>4</a:t>
            </a:fld>
            <a:endParaRPr lang="en-SG" dirty="0"/>
          </a:p>
        </p:txBody>
      </p:sp>
    </p:spTree>
    <p:extLst>
      <p:ext uri="{BB962C8B-B14F-4D97-AF65-F5344CB8AC3E}">
        <p14:creationId xmlns:p14="http://schemas.microsoft.com/office/powerpoint/2010/main" val="209732467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589213" y="2514600"/>
            <a:ext cx="8915399" cy="2262781"/>
          </a:xfrm>
        </p:spPr>
        <p:txBody>
          <a:bodyPr anchor="b">
            <a:normAutofit/>
          </a:bodyPr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589213" y="4777379"/>
            <a:ext cx="8915399" cy="1126283"/>
          </a:xfrm>
        </p:spPr>
        <p:txBody>
          <a:bodyPr anchor="t"/>
          <a:lstStyle>
            <a:lvl1pPr marL="0" indent="0" algn="l">
              <a:buNone/>
              <a:defRPr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1CC2BE-6A0F-4071-BFB7-8FB97E7BF62D}" type="datetimeFigureOut">
              <a:rPr lang="en-SG" smtClean="0"/>
              <a:t>4/4/2026</a:t>
            </a:fld>
            <a:endParaRPr lang="en-SG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 dirty="0"/>
          </a:p>
        </p:txBody>
      </p:sp>
      <p:sp>
        <p:nvSpPr>
          <p:cNvPr id="7" name="Freeform 6"/>
          <p:cNvSpPr/>
          <p:nvPr/>
        </p:nvSpPr>
        <p:spPr bwMode="auto">
          <a:xfrm>
            <a:off x="0" y="4323810"/>
            <a:ext cx="1744652" cy="778589"/>
          </a:xfrm>
          <a:custGeom>
            <a:avLst/>
            <a:gdLst/>
            <a:ahLst/>
            <a:cxnLst/>
            <a:rect l="0" t="0" r="r" b="b"/>
            <a:pathLst>
              <a:path w="372" h="166">
                <a:moveTo>
                  <a:pt x="287" y="166"/>
                </a:moveTo>
                <a:cubicBezTo>
                  <a:pt x="290" y="166"/>
                  <a:pt x="292" y="165"/>
                  <a:pt x="293" y="164"/>
                </a:cubicBezTo>
                <a:cubicBezTo>
                  <a:pt x="293" y="163"/>
                  <a:pt x="294" y="163"/>
                  <a:pt x="294" y="163"/>
                </a:cubicBezTo>
                <a:cubicBezTo>
                  <a:pt x="370" y="87"/>
                  <a:pt x="370" y="87"/>
                  <a:pt x="370" y="87"/>
                </a:cubicBezTo>
                <a:cubicBezTo>
                  <a:pt x="372" y="85"/>
                  <a:pt x="372" y="81"/>
                  <a:pt x="370" y="78"/>
                </a:cubicBezTo>
                <a:cubicBezTo>
                  <a:pt x="294" y="3"/>
                  <a:pt x="294" y="3"/>
                  <a:pt x="294" y="3"/>
                </a:cubicBezTo>
                <a:cubicBezTo>
                  <a:pt x="294" y="2"/>
                  <a:pt x="293" y="2"/>
                  <a:pt x="293" y="2"/>
                </a:cubicBezTo>
                <a:cubicBezTo>
                  <a:pt x="292" y="1"/>
                  <a:pt x="290" y="0"/>
                  <a:pt x="287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166"/>
                  <a:pt x="0" y="166"/>
                  <a:pt x="0" y="166"/>
                </a:cubicBezTo>
                <a:lnTo>
                  <a:pt x="287" y="166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en-SG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4529540"/>
            <a:ext cx="779767" cy="365125"/>
          </a:xfrm>
        </p:spPr>
        <p:txBody>
          <a:bodyPr/>
          <a:lstStyle/>
          <a:p>
            <a:fld id="{5804B0EE-DF70-4A1D-B353-9C9AA3FEA6B3}" type="slidenum">
              <a:rPr lang="en-SG" smtClean="0"/>
              <a:t>‹#›</a:t>
            </a:fld>
            <a:endParaRPr lang="en-SG" dirty="0"/>
          </a:p>
        </p:txBody>
      </p:sp>
    </p:spTree>
    <p:extLst>
      <p:ext uri="{BB962C8B-B14F-4D97-AF65-F5344CB8AC3E}">
        <p14:creationId xmlns:p14="http://schemas.microsoft.com/office/powerpoint/2010/main" val="384948252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92925" y="624110"/>
            <a:ext cx="8911687" cy="128089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589212" y="2133600"/>
            <a:ext cx="8915400" cy="377762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1CC2BE-6A0F-4071-BFB7-8FB97E7BF62D}" type="datetimeFigureOut">
              <a:rPr lang="en-SG" smtClean="0"/>
              <a:t>4/4/2026</a:t>
            </a:fld>
            <a:endParaRPr lang="en-SG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 dirty="0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en-SG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04B0EE-DF70-4A1D-B353-9C9AA3FEA6B3}" type="slidenum">
              <a:rPr lang="en-SG" smtClean="0"/>
              <a:t>‹#›</a:t>
            </a:fld>
            <a:endParaRPr lang="en-SG" dirty="0"/>
          </a:p>
        </p:txBody>
      </p:sp>
    </p:spTree>
    <p:extLst>
      <p:ext uri="{BB962C8B-B14F-4D97-AF65-F5344CB8AC3E}">
        <p14:creationId xmlns:p14="http://schemas.microsoft.com/office/powerpoint/2010/main" val="132243832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2058750"/>
            <a:ext cx="8915399" cy="146880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3530129"/>
            <a:ext cx="8915399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1CC2BE-6A0F-4071-BFB7-8FB97E7BF62D}" type="datetimeFigureOut">
              <a:rPr lang="en-SG" smtClean="0"/>
              <a:t>4/4/2026</a:t>
            </a:fld>
            <a:endParaRPr lang="en-SG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en-SG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5804B0EE-DF70-4A1D-B353-9C9AA3FEA6B3}" type="slidenum">
              <a:rPr lang="en-SG" smtClean="0"/>
              <a:t>‹#›</a:t>
            </a:fld>
            <a:endParaRPr lang="en-SG" dirty="0"/>
          </a:p>
        </p:txBody>
      </p:sp>
    </p:spTree>
    <p:extLst>
      <p:ext uri="{BB962C8B-B14F-4D97-AF65-F5344CB8AC3E}">
        <p14:creationId xmlns:p14="http://schemas.microsoft.com/office/powerpoint/2010/main" val="401775416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589212" y="2133600"/>
            <a:ext cx="4313864" cy="3777622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190747" y="2126222"/>
            <a:ext cx="4313864" cy="3777622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1CC2BE-6A0F-4071-BFB7-8FB97E7BF62D}" type="datetimeFigureOut">
              <a:rPr lang="en-SG" smtClean="0"/>
              <a:t>4/4/2026</a:t>
            </a:fld>
            <a:endParaRPr lang="en-SG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 dirty="0"/>
          </a:p>
        </p:txBody>
      </p:sp>
      <p:sp>
        <p:nvSpPr>
          <p:cNvPr id="10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en-SG" dirty="0"/>
          </a:p>
        </p:txBody>
      </p:sp>
      <p:sp>
        <p:nvSpPr>
          <p:cNvPr id="11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787782"/>
            <a:ext cx="779767" cy="365125"/>
          </a:xfrm>
        </p:spPr>
        <p:txBody>
          <a:bodyPr/>
          <a:lstStyle/>
          <a:p>
            <a:fld id="{5804B0EE-DF70-4A1D-B353-9C9AA3FEA6B3}" type="slidenum">
              <a:rPr lang="en-SG" smtClean="0"/>
              <a:t>‹#›</a:t>
            </a:fld>
            <a:endParaRPr lang="en-SG" dirty="0"/>
          </a:p>
        </p:txBody>
      </p:sp>
    </p:spTree>
    <p:extLst>
      <p:ext uri="{BB962C8B-B14F-4D97-AF65-F5344CB8AC3E}">
        <p14:creationId xmlns:p14="http://schemas.microsoft.com/office/powerpoint/2010/main" val="357401304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939373" y="1972703"/>
            <a:ext cx="3992732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589212" y="2548966"/>
            <a:ext cx="4342893" cy="3354060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7506629" y="1969475"/>
            <a:ext cx="3999001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7166957" y="2545738"/>
            <a:ext cx="4338674" cy="3354060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1CC2BE-6A0F-4071-BFB7-8FB97E7BF62D}" type="datetimeFigureOut">
              <a:rPr lang="en-SG" smtClean="0"/>
              <a:t>4/4/2026</a:t>
            </a:fld>
            <a:endParaRPr lang="en-SG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 dirty="0"/>
          </a:p>
        </p:txBody>
      </p:sp>
      <p:sp>
        <p:nvSpPr>
          <p:cNvPr id="12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en-SG" dirty="0"/>
          </a:p>
        </p:txBody>
      </p:sp>
      <p:sp>
        <p:nvSpPr>
          <p:cNvPr id="13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787782"/>
            <a:ext cx="779767" cy="365125"/>
          </a:xfrm>
        </p:spPr>
        <p:txBody>
          <a:bodyPr/>
          <a:lstStyle/>
          <a:p>
            <a:fld id="{5804B0EE-DF70-4A1D-B353-9C9AA3FEA6B3}" type="slidenum">
              <a:rPr lang="en-SG" smtClean="0"/>
              <a:t>‹#›</a:t>
            </a:fld>
            <a:endParaRPr lang="en-SG" dirty="0"/>
          </a:p>
        </p:txBody>
      </p:sp>
    </p:spTree>
    <p:extLst>
      <p:ext uri="{BB962C8B-B14F-4D97-AF65-F5344CB8AC3E}">
        <p14:creationId xmlns:p14="http://schemas.microsoft.com/office/powerpoint/2010/main" val="362708287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1CC2BE-6A0F-4071-BFB7-8FB97E7BF62D}" type="datetimeFigureOut">
              <a:rPr lang="en-SG" smtClean="0"/>
              <a:t>4/4/2026</a:t>
            </a:fld>
            <a:endParaRPr lang="en-SG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 dirty="0"/>
          </a:p>
        </p:txBody>
      </p:sp>
      <p:sp>
        <p:nvSpPr>
          <p:cNvPr id="7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en-SG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04B0EE-DF70-4A1D-B353-9C9AA3FEA6B3}" type="slidenum">
              <a:rPr lang="en-SG" smtClean="0"/>
              <a:t>‹#›</a:t>
            </a:fld>
            <a:endParaRPr lang="en-SG" dirty="0"/>
          </a:p>
        </p:txBody>
      </p:sp>
    </p:spTree>
    <p:extLst>
      <p:ext uri="{BB962C8B-B14F-4D97-AF65-F5344CB8AC3E}">
        <p14:creationId xmlns:p14="http://schemas.microsoft.com/office/powerpoint/2010/main" val="238488216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1CC2BE-6A0F-4071-BFB7-8FB97E7BF62D}" type="datetimeFigureOut">
              <a:rPr lang="en-SG" smtClean="0"/>
              <a:t>4/4/2026</a:t>
            </a:fld>
            <a:endParaRPr lang="en-SG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 dirty="0"/>
          </a:p>
        </p:txBody>
      </p:sp>
      <p:sp>
        <p:nvSpPr>
          <p:cNvPr id="6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en-SG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04B0EE-DF70-4A1D-B353-9C9AA3FEA6B3}" type="slidenum">
              <a:rPr lang="en-SG" smtClean="0"/>
              <a:t>‹#›</a:t>
            </a:fld>
            <a:endParaRPr lang="en-SG" dirty="0"/>
          </a:p>
        </p:txBody>
      </p:sp>
    </p:spTree>
    <p:extLst>
      <p:ext uri="{BB962C8B-B14F-4D97-AF65-F5344CB8AC3E}">
        <p14:creationId xmlns:p14="http://schemas.microsoft.com/office/powerpoint/2010/main" val="139704404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446088"/>
            <a:ext cx="3505199" cy="976312"/>
          </a:xfrm>
        </p:spPr>
        <p:txBody>
          <a:bodyPr anchor="b"/>
          <a:lstStyle>
            <a:lvl1pPr algn="l">
              <a:defRPr sz="20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323012" y="446088"/>
            <a:ext cx="5181600" cy="5414963"/>
          </a:xfrm>
        </p:spPr>
        <p:txBody>
          <a:bodyPr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2" y="1598613"/>
            <a:ext cx="3505199" cy="4262436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1CC2BE-6A0F-4071-BFB7-8FB97E7BF62D}" type="datetimeFigureOut">
              <a:rPr lang="en-SG" smtClean="0"/>
              <a:t>4/4/2026</a:t>
            </a:fld>
            <a:endParaRPr lang="en-SG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en-SG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04B0EE-DF70-4A1D-B353-9C9AA3FEA6B3}" type="slidenum">
              <a:rPr lang="en-SG" smtClean="0"/>
              <a:t>‹#›</a:t>
            </a:fld>
            <a:endParaRPr lang="en-SG" dirty="0"/>
          </a:p>
        </p:txBody>
      </p:sp>
    </p:spTree>
    <p:extLst>
      <p:ext uri="{BB962C8B-B14F-4D97-AF65-F5344CB8AC3E}">
        <p14:creationId xmlns:p14="http://schemas.microsoft.com/office/powerpoint/2010/main" val="68231116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3" y="4800600"/>
            <a:ext cx="8915400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589212" y="634965"/>
            <a:ext cx="8915400" cy="3854970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367338"/>
            <a:ext cx="8915400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1CC2BE-6A0F-4071-BFB7-8FB97E7BF62D}" type="datetimeFigureOut">
              <a:rPr lang="en-SG" smtClean="0"/>
              <a:t>4/4/2026</a:t>
            </a:fld>
            <a:endParaRPr lang="en-SG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en-SG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5804B0EE-DF70-4A1D-B353-9C9AA3FEA6B3}" type="slidenum">
              <a:rPr lang="en-SG" smtClean="0"/>
              <a:t>‹#›</a:t>
            </a:fld>
            <a:endParaRPr lang="en-SG" dirty="0"/>
          </a:p>
        </p:txBody>
      </p:sp>
    </p:spTree>
    <p:extLst>
      <p:ext uri="{BB962C8B-B14F-4D97-AF65-F5344CB8AC3E}">
        <p14:creationId xmlns:p14="http://schemas.microsoft.com/office/powerpoint/2010/main" val="242766935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609600"/>
            <a:ext cx="8915399" cy="311704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4354046"/>
            <a:ext cx="8915399" cy="1555864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1CC2BE-6A0F-4071-BFB7-8FB97E7BF62D}" type="datetimeFigureOut">
              <a:rPr lang="en-SG" smtClean="0"/>
              <a:t>4/4/2026</a:t>
            </a:fld>
            <a:endParaRPr lang="en-SG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en-SG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5804B0EE-DF70-4A1D-B353-9C9AA3FEA6B3}" type="slidenum">
              <a:rPr lang="en-SG" smtClean="0"/>
              <a:t>‹#›</a:t>
            </a:fld>
            <a:endParaRPr lang="en-SG" dirty="0"/>
          </a:p>
        </p:txBody>
      </p:sp>
    </p:spTree>
    <p:extLst>
      <p:ext uri="{BB962C8B-B14F-4D97-AF65-F5344CB8AC3E}">
        <p14:creationId xmlns:p14="http://schemas.microsoft.com/office/powerpoint/2010/main" val="39043748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49949" y="609600"/>
            <a:ext cx="8393926" cy="289560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3275012" y="3505200"/>
            <a:ext cx="753655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4354046"/>
            <a:ext cx="8915399" cy="1555864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1CC2BE-6A0F-4071-BFB7-8FB97E7BF62D}" type="datetimeFigureOut">
              <a:rPr lang="en-SG" smtClean="0"/>
              <a:t>4/4/2026</a:t>
            </a:fld>
            <a:endParaRPr lang="en-SG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 dirty="0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en-SG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5804B0EE-DF70-4A1D-B353-9C9AA3FEA6B3}" type="slidenum">
              <a:rPr lang="en-SG" smtClean="0"/>
              <a:t>‹#›</a:t>
            </a:fld>
            <a:endParaRPr lang="en-SG" dirty="0"/>
          </a:p>
        </p:txBody>
      </p:sp>
      <p:sp>
        <p:nvSpPr>
          <p:cNvPr id="14" name="TextBox 13"/>
          <p:cNvSpPr txBox="1"/>
          <p:nvPr/>
        </p:nvSpPr>
        <p:spPr>
          <a:xfrm>
            <a:off x="2467652" y="648005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114852" y="290530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91545455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3" y="2438400"/>
            <a:ext cx="8915400" cy="2724845"/>
          </a:xfrm>
        </p:spPr>
        <p:txBody>
          <a:bodyPr anchor="b">
            <a:normAutofit/>
          </a:bodyPr>
          <a:lstStyle>
            <a:lvl1pPr algn="l">
              <a:defRPr sz="4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1CC2BE-6A0F-4071-BFB7-8FB97E7BF62D}" type="datetimeFigureOut">
              <a:rPr lang="en-SG" smtClean="0"/>
              <a:t>4/4/2026</a:t>
            </a:fld>
            <a:endParaRPr lang="en-SG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en-SG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5804B0EE-DF70-4A1D-B353-9C9AA3FEA6B3}" type="slidenum">
              <a:rPr lang="en-SG" smtClean="0"/>
              <a:t>‹#›</a:t>
            </a:fld>
            <a:endParaRPr lang="en-SG" dirty="0"/>
          </a:p>
        </p:txBody>
      </p:sp>
    </p:spTree>
    <p:extLst>
      <p:ext uri="{BB962C8B-B14F-4D97-AF65-F5344CB8AC3E}">
        <p14:creationId xmlns:p14="http://schemas.microsoft.com/office/powerpoint/2010/main" val="94412508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"/>
          <p:cNvSpPr>
            <a:spLocks noGrp="1"/>
          </p:cNvSpPr>
          <p:nvPr>
            <p:ph type="title"/>
          </p:nvPr>
        </p:nvSpPr>
        <p:spPr>
          <a:xfrm>
            <a:off x="2849949" y="609600"/>
            <a:ext cx="8393926" cy="289560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589212" y="4343400"/>
            <a:ext cx="8915400" cy="83820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1CC2BE-6A0F-4071-BFB7-8FB97E7BF62D}" type="datetimeFigureOut">
              <a:rPr lang="en-SG" smtClean="0"/>
              <a:t>4/4/2026</a:t>
            </a:fld>
            <a:endParaRPr lang="en-SG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 dirty="0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en-SG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5804B0EE-DF70-4A1D-B353-9C9AA3FEA6B3}" type="slidenum">
              <a:rPr lang="en-SG" smtClean="0"/>
              <a:t>‹#›</a:t>
            </a:fld>
            <a:endParaRPr lang="en-SG" dirty="0"/>
          </a:p>
        </p:txBody>
      </p:sp>
      <p:sp>
        <p:nvSpPr>
          <p:cNvPr id="17" name="TextBox 16"/>
          <p:cNvSpPr txBox="1"/>
          <p:nvPr/>
        </p:nvSpPr>
        <p:spPr>
          <a:xfrm>
            <a:off x="2467652" y="648005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114852" y="290530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836332833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627407"/>
            <a:ext cx="8915399" cy="2880020"/>
          </a:xfrm>
        </p:spPr>
        <p:txBody>
          <a:bodyPr anchor="ctr">
            <a:normAutofit/>
          </a:bodyPr>
          <a:lstStyle>
            <a:lvl1pPr algn="l">
              <a:defRPr sz="4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589212" y="4343400"/>
            <a:ext cx="8915400" cy="83820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1CC2BE-6A0F-4071-BFB7-8FB97E7BF62D}" type="datetimeFigureOut">
              <a:rPr lang="en-SG" smtClean="0"/>
              <a:t>4/4/2026</a:t>
            </a:fld>
            <a:endParaRPr lang="en-SG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en-SG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5804B0EE-DF70-4A1D-B353-9C9AA3FEA6B3}" type="slidenum">
              <a:rPr lang="en-SG" smtClean="0"/>
              <a:t>‹#›</a:t>
            </a:fld>
            <a:endParaRPr lang="en-SG" dirty="0"/>
          </a:p>
        </p:txBody>
      </p:sp>
    </p:spTree>
    <p:extLst>
      <p:ext uri="{BB962C8B-B14F-4D97-AF65-F5344CB8AC3E}">
        <p14:creationId xmlns:p14="http://schemas.microsoft.com/office/powerpoint/2010/main" val="1399218083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1CC2BE-6A0F-4071-BFB7-8FB97E7BF62D}" type="datetimeFigureOut">
              <a:rPr lang="en-SG" smtClean="0"/>
              <a:t>4/4/2026</a:t>
            </a:fld>
            <a:endParaRPr lang="en-SG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 dirty="0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en-SG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04B0EE-DF70-4A1D-B353-9C9AA3FEA6B3}" type="slidenum">
              <a:rPr lang="en-SG" smtClean="0"/>
              <a:t>‹#›</a:t>
            </a:fld>
            <a:endParaRPr lang="en-SG" dirty="0"/>
          </a:p>
        </p:txBody>
      </p:sp>
    </p:spTree>
    <p:extLst>
      <p:ext uri="{BB962C8B-B14F-4D97-AF65-F5344CB8AC3E}">
        <p14:creationId xmlns:p14="http://schemas.microsoft.com/office/powerpoint/2010/main" val="477842551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294812" y="627405"/>
            <a:ext cx="2207601" cy="5283817"/>
          </a:xfrm>
        </p:spPr>
        <p:txBody>
          <a:bodyPr vert="eaVert" anchor="ctr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589212" y="627405"/>
            <a:ext cx="6477000" cy="5283817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1CC2BE-6A0F-4071-BFB7-8FB97E7BF62D}" type="datetimeFigureOut">
              <a:rPr lang="en-SG" smtClean="0"/>
              <a:t>4/4/2026</a:t>
            </a:fld>
            <a:endParaRPr lang="en-SG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 dirty="0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en-SG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04B0EE-DF70-4A1D-B353-9C9AA3FEA6B3}" type="slidenum">
              <a:rPr lang="en-SG" smtClean="0"/>
              <a:t>‹#›</a:t>
            </a:fld>
            <a:endParaRPr lang="en-SG" dirty="0"/>
          </a:p>
        </p:txBody>
      </p:sp>
    </p:spTree>
    <p:extLst>
      <p:ext uri="{BB962C8B-B14F-4D97-AF65-F5344CB8AC3E}">
        <p14:creationId xmlns:p14="http://schemas.microsoft.com/office/powerpoint/2010/main" val="3810676561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Content Placeholder 2"/>
          <p:cNvSpPr>
            <a:spLocks noGrp="1"/>
          </p:cNvSpPr>
          <p:nvPr>
            <p:ph sz="quarter" idx="13"/>
          </p:nvPr>
        </p:nvSpPr>
        <p:spPr>
          <a:xfrm>
            <a:off x="913774" y="2367092"/>
            <a:ext cx="10363826" cy="342410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1CC2BE-6A0F-4071-BFB7-8FB97E7BF62D}" type="datetimeFigureOut">
              <a:rPr lang="en-SG" smtClean="0"/>
              <a:t>4/4/2026</a:t>
            </a:fld>
            <a:endParaRPr lang="en-SG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04B0EE-DF70-4A1D-B353-9C9AA3FEA6B3}" type="slidenum">
              <a:rPr lang="en-SG" smtClean="0"/>
              <a:t>‹#›</a:t>
            </a:fld>
            <a:endParaRPr lang="en-SG" dirty="0"/>
          </a:p>
        </p:txBody>
      </p:sp>
    </p:spTree>
    <p:extLst>
      <p:ext uri="{BB962C8B-B14F-4D97-AF65-F5344CB8AC3E}">
        <p14:creationId xmlns:p14="http://schemas.microsoft.com/office/powerpoint/2010/main" val="310415331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" name="Group 22"/>
          <p:cNvGrpSpPr/>
          <p:nvPr/>
        </p:nvGrpSpPr>
        <p:grpSpPr>
          <a:xfrm>
            <a:off x="1" y="228600"/>
            <a:ext cx="2851516" cy="6638628"/>
            <a:chOff x="2487613" y="285750"/>
            <a:chExt cx="2428875" cy="5654676"/>
          </a:xfrm>
        </p:grpSpPr>
        <p:sp>
          <p:nvSpPr>
            <p:cNvPr id="24" name="Freeform 11"/>
            <p:cNvSpPr/>
            <p:nvPr/>
          </p:nvSpPr>
          <p:spPr bwMode="auto">
            <a:xfrm>
              <a:off x="2487613" y="2284413"/>
              <a:ext cx="85725" cy="533400"/>
            </a:xfrm>
            <a:custGeom>
              <a:avLst/>
              <a:gdLst/>
              <a:ahLst/>
              <a:cxnLst/>
              <a:rect l="0" t="0" r="r" b="b"/>
              <a:pathLst>
                <a:path w="22" h="136">
                  <a:moveTo>
                    <a:pt x="22" y="136"/>
                  </a:moveTo>
                  <a:cubicBezTo>
                    <a:pt x="20" y="117"/>
                    <a:pt x="19" y="99"/>
                    <a:pt x="17" y="80"/>
                  </a:cubicBezTo>
                  <a:cubicBezTo>
                    <a:pt x="11" y="54"/>
                    <a:pt x="6" y="27"/>
                    <a:pt x="0" y="0"/>
                  </a:cubicBezTo>
                  <a:cubicBezTo>
                    <a:pt x="0" y="35"/>
                    <a:pt x="0" y="35"/>
                    <a:pt x="0" y="35"/>
                  </a:cubicBezTo>
                  <a:cubicBezTo>
                    <a:pt x="6" y="64"/>
                    <a:pt x="13" y="94"/>
                    <a:pt x="20" y="124"/>
                  </a:cubicBezTo>
                  <a:cubicBezTo>
                    <a:pt x="20" y="128"/>
                    <a:pt x="21" y="132"/>
                    <a:pt x="22" y="136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SG" dirty="0"/>
            </a:p>
          </p:txBody>
        </p:sp>
        <p:sp>
          <p:nvSpPr>
            <p:cNvPr id="25" name="Freeform 12"/>
            <p:cNvSpPr/>
            <p:nvPr/>
          </p:nvSpPr>
          <p:spPr bwMode="auto">
            <a:xfrm>
              <a:off x="2597151" y="2779713"/>
              <a:ext cx="550863" cy="1978025"/>
            </a:xfrm>
            <a:custGeom>
              <a:avLst/>
              <a:gdLst/>
              <a:ahLst/>
              <a:cxnLst/>
              <a:rect l="0" t="0" r="r" b="b"/>
              <a:pathLst>
                <a:path w="140" h="504">
                  <a:moveTo>
                    <a:pt x="86" y="350"/>
                  </a:moveTo>
                  <a:cubicBezTo>
                    <a:pt x="103" y="402"/>
                    <a:pt x="120" y="453"/>
                    <a:pt x="139" y="504"/>
                  </a:cubicBezTo>
                  <a:cubicBezTo>
                    <a:pt x="139" y="495"/>
                    <a:pt x="139" y="487"/>
                    <a:pt x="140" y="478"/>
                  </a:cubicBezTo>
                  <a:cubicBezTo>
                    <a:pt x="124" y="435"/>
                    <a:pt x="109" y="391"/>
                    <a:pt x="95" y="347"/>
                  </a:cubicBezTo>
                  <a:cubicBezTo>
                    <a:pt x="58" y="233"/>
                    <a:pt x="27" y="117"/>
                    <a:pt x="0" y="0"/>
                  </a:cubicBezTo>
                  <a:cubicBezTo>
                    <a:pt x="2" y="20"/>
                    <a:pt x="4" y="41"/>
                    <a:pt x="6" y="61"/>
                  </a:cubicBezTo>
                  <a:cubicBezTo>
                    <a:pt x="30" y="158"/>
                    <a:pt x="56" y="255"/>
                    <a:pt x="86" y="35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SG" dirty="0"/>
            </a:p>
          </p:txBody>
        </p:sp>
        <p:sp>
          <p:nvSpPr>
            <p:cNvPr id="26" name="Freeform 13"/>
            <p:cNvSpPr/>
            <p:nvPr/>
          </p:nvSpPr>
          <p:spPr bwMode="auto">
            <a:xfrm>
              <a:off x="3175001" y="4730750"/>
              <a:ext cx="519113" cy="1209675"/>
            </a:xfrm>
            <a:custGeom>
              <a:avLst/>
              <a:gdLst/>
              <a:ahLst/>
              <a:cxnLst/>
              <a:rect l="0" t="0" r="r" b="b"/>
              <a:pathLst>
                <a:path w="132" h="308">
                  <a:moveTo>
                    <a:pt x="8" y="22"/>
                  </a:moveTo>
                  <a:cubicBezTo>
                    <a:pt x="5" y="15"/>
                    <a:pt x="2" y="8"/>
                    <a:pt x="0" y="0"/>
                  </a:cubicBezTo>
                  <a:cubicBezTo>
                    <a:pt x="0" y="10"/>
                    <a:pt x="0" y="19"/>
                    <a:pt x="0" y="29"/>
                  </a:cubicBezTo>
                  <a:cubicBezTo>
                    <a:pt x="21" y="85"/>
                    <a:pt x="44" y="140"/>
                    <a:pt x="68" y="194"/>
                  </a:cubicBezTo>
                  <a:cubicBezTo>
                    <a:pt x="85" y="232"/>
                    <a:pt x="104" y="270"/>
                    <a:pt x="123" y="308"/>
                  </a:cubicBezTo>
                  <a:cubicBezTo>
                    <a:pt x="132" y="308"/>
                    <a:pt x="132" y="308"/>
                    <a:pt x="132" y="308"/>
                  </a:cubicBezTo>
                  <a:cubicBezTo>
                    <a:pt x="113" y="269"/>
                    <a:pt x="94" y="230"/>
                    <a:pt x="77" y="190"/>
                  </a:cubicBezTo>
                  <a:cubicBezTo>
                    <a:pt x="52" y="135"/>
                    <a:pt x="29" y="79"/>
                    <a:pt x="8" y="22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SG" dirty="0"/>
            </a:p>
          </p:txBody>
        </p:sp>
        <p:sp>
          <p:nvSpPr>
            <p:cNvPr id="27" name="Freeform 14"/>
            <p:cNvSpPr/>
            <p:nvPr/>
          </p:nvSpPr>
          <p:spPr bwMode="auto">
            <a:xfrm>
              <a:off x="3305176" y="5630863"/>
              <a:ext cx="146050" cy="309563"/>
            </a:xfrm>
            <a:custGeom>
              <a:avLst/>
              <a:gdLst/>
              <a:ahLst/>
              <a:cxnLst/>
              <a:rect l="0" t="0" r="r" b="b"/>
              <a:pathLst>
                <a:path w="37" h="79">
                  <a:moveTo>
                    <a:pt x="28" y="79"/>
                  </a:moveTo>
                  <a:cubicBezTo>
                    <a:pt x="37" y="79"/>
                    <a:pt x="37" y="79"/>
                    <a:pt x="37" y="79"/>
                  </a:cubicBezTo>
                  <a:cubicBezTo>
                    <a:pt x="24" y="53"/>
                    <a:pt x="12" y="27"/>
                    <a:pt x="0" y="0"/>
                  </a:cubicBezTo>
                  <a:cubicBezTo>
                    <a:pt x="8" y="27"/>
                    <a:pt x="17" y="53"/>
                    <a:pt x="28" y="79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SG" dirty="0"/>
            </a:p>
          </p:txBody>
        </p:sp>
        <p:sp>
          <p:nvSpPr>
            <p:cNvPr id="28" name="Freeform 15"/>
            <p:cNvSpPr/>
            <p:nvPr/>
          </p:nvSpPr>
          <p:spPr bwMode="auto">
            <a:xfrm>
              <a:off x="2573338" y="2817813"/>
              <a:ext cx="700088" cy="2835275"/>
            </a:xfrm>
            <a:custGeom>
              <a:avLst/>
              <a:gdLst/>
              <a:ahLst/>
              <a:cxnLst/>
              <a:rect l="0" t="0" r="r" b="b"/>
              <a:pathLst>
                <a:path w="178" h="722">
                  <a:moveTo>
                    <a:pt x="162" y="660"/>
                  </a:moveTo>
                  <a:cubicBezTo>
                    <a:pt x="145" y="618"/>
                    <a:pt x="130" y="576"/>
                    <a:pt x="116" y="534"/>
                  </a:cubicBezTo>
                  <a:cubicBezTo>
                    <a:pt x="84" y="437"/>
                    <a:pt x="59" y="337"/>
                    <a:pt x="40" y="236"/>
                  </a:cubicBezTo>
                  <a:cubicBezTo>
                    <a:pt x="29" y="175"/>
                    <a:pt x="20" y="113"/>
                    <a:pt x="12" y="51"/>
                  </a:cubicBezTo>
                  <a:cubicBezTo>
                    <a:pt x="8" y="34"/>
                    <a:pt x="4" y="17"/>
                    <a:pt x="0" y="0"/>
                  </a:cubicBezTo>
                  <a:cubicBezTo>
                    <a:pt x="8" y="79"/>
                    <a:pt x="19" y="159"/>
                    <a:pt x="33" y="237"/>
                  </a:cubicBezTo>
                  <a:cubicBezTo>
                    <a:pt x="51" y="339"/>
                    <a:pt x="76" y="439"/>
                    <a:pt x="107" y="537"/>
                  </a:cubicBezTo>
                  <a:cubicBezTo>
                    <a:pt x="123" y="586"/>
                    <a:pt x="141" y="634"/>
                    <a:pt x="160" y="681"/>
                  </a:cubicBezTo>
                  <a:cubicBezTo>
                    <a:pt x="166" y="695"/>
                    <a:pt x="172" y="708"/>
                    <a:pt x="178" y="722"/>
                  </a:cubicBezTo>
                  <a:cubicBezTo>
                    <a:pt x="176" y="717"/>
                    <a:pt x="175" y="713"/>
                    <a:pt x="174" y="708"/>
                  </a:cubicBezTo>
                  <a:cubicBezTo>
                    <a:pt x="169" y="692"/>
                    <a:pt x="165" y="676"/>
                    <a:pt x="162" y="66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SG" dirty="0"/>
            </a:p>
          </p:txBody>
        </p:sp>
        <p:sp>
          <p:nvSpPr>
            <p:cNvPr id="29" name="Freeform 16"/>
            <p:cNvSpPr/>
            <p:nvPr/>
          </p:nvSpPr>
          <p:spPr bwMode="auto">
            <a:xfrm>
              <a:off x="2506663" y="285750"/>
              <a:ext cx="90488" cy="2493963"/>
            </a:xfrm>
            <a:custGeom>
              <a:avLst/>
              <a:gdLst/>
              <a:ahLst/>
              <a:cxnLst/>
              <a:rect l="0" t="0" r="r" b="b"/>
              <a:pathLst>
                <a:path w="23" h="635">
                  <a:moveTo>
                    <a:pt x="11" y="577"/>
                  </a:moveTo>
                  <a:cubicBezTo>
                    <a:pt x="12" y="581"/>
                    <a:pt x="12" y="585"/>
                    <a:pt x="12" y="589"/>
                  </a:cubicBezTo>
                  <a:cubicBezTo>
                    <a:pt x="15" y="603"/>
                    <a:pt x="19" y="617"/>
                    <a:pt x="22" y="632"/>
                  </a:cubicBezTo>
                  <a:cubicBezTo>
                    <a:pt x="22" y="633"/>
                    <a:pt x="22" y="634"/>
                    <a:pt x="23" y="635"/>
                  </a:cubicBezTo>
                  <a:cubicBezTo>
                    <a:pt x="21" y="615"/>
                    <a:pt x="19" y="596"/>
                    <a:pt x="17" y="576"/>
                  </a:cubicBezTo>
                  <a:cubicBezTo>
                    <a:pt x="9" y="474"/>
                    <a:pt x="5" y="372"/>
                    <a:pt x="5" y="269"/>
                  </a:cubicBezTo>
                  <a:cubicBezTo>
                    <a:pt x="6" y="179"/>
                    <a:pt x="9" y="90"/>
                    <a:pt x="15" y="0"/>
                  </a:cubicBezTo>
                  <a:cubicBezTo>
                    <a:pt x="12" y="0"/>
                    <a:pt x="12" y="0"/>
                    <a:pt x="12" y="0"/>
                  </a:cubicBezTo>
                  <a:cubicBezTo>
                    <a:pt x="5" y="89"/>
                    <a:pt x="2" y="179"/>
                    <a:pt x="1" y="269"/>
                  </a:cubicBezTo>
                  <a:cubicBezTo>
                    <a:pt x="0" y="372"/>
                    <a:pt x="3" y="474"/>
                    <a:pt x="11" y="577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SG" dirty="0"/>
            </a:p>
          </p:txBody>
        </p:sp>
        <p:sp>
          <p:nvSpPr>
            <p:cNvPr id="30" name="Freeform 17"/>
            <p:cNvSpPr/>
            <p:nvPr/>
          </p:nvSpPr>
          <p:spPr bwMode="auto">
            <a:xfrm>
              <a:off x="2554288" y="2598738"/>
              <a:ext cx="66675" cy="420688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0" y="0"/>
                  </a:moveTo>
                  <a:cubicBezTo>
                    <a:pt x="2" y="19"/>
                    <a:pt x="3" y="37"/>
                    <a:pt x="5" y="56"/>
                  </a:cubicBezTo>
                  <a:cubicBezTo>
                    <a:pt x="9" y="73"/>
                    <a:pt x="13" y="90"/>
                    <a:pt x="17" y="107"/>
                  </a:cubicBezTo>
                  <a:cubicBezTo>
                    <a:pt x="15" y="87"/>
                    <a:pt x="13" y="66"/>
                    <a:pt x="11" y="46"/>
                  </a:cubicBezTo>
                  <a:cubicBezTo>
                    <a:pt x="10" y="45"/>
                    <a:pt x="10" y="44"/>
                    <a:pt x="10" y="43"/>
                  </a:cubicBezTo>
                  <a:cubicBezTo>
                    <a:pt x="7" y="28"/>
                    <a:pt x="3" y="1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SG" dirty="0"/>
            </a:p>
          </p:txBody>
        </p:sp>
        <p:sp>
          <p:nvSpPr>
            <p:cNvPr id="31" name="Freeform 18"/>
            <p:cNvSpPr/>
            <p:nvPr/>
          </p:nvSpPr>
          <p:spPr bwMode="auto">
            <a:xfrm>
              <a:off x="3143251" y="4757738"/>
              <a:ext cx="161925" cy="873125"/>
            </a:xfrm>
            <a:custGeom>
              <a:avLst/>
              <a:gdLst/>
              <a:ahLst/>
              <a:cxnLst/>
              <a:rect l="0" t="0" r="r" b="b"/>
              <a:pathLst>
                <a:path w="41" h="222">
                  <a:moveTo>
                    <a:pt x="0" y="0"/>
                  </a:moveTo>
                  <a:cubicBezTo>
                    <a:pt x="0" y="31"/>
                    <a:pt x="2" y="62"/>
                    <a:pt x="5" y="93"/>
                  </a:cubicBezTo>
                  <a:cubicBezTo>
                    <a:pt x="8" y="117"/>
                    <a:pt x="12" y="142"/>
                    <a:pt x="17" y="166"/>
                  </a:cubicBezTo>
                  <a:cubicBezTo>
                    <a:pt x="19" y="172"/>
                    <a:pt x="22" y="178"/>
                    <a:pt x="24" y="184"/>
                  </a:cubicBezTo>
                  <a:cubicBezTo>
                    <a:pt x="30" y="197"/>
                    <a:pt x="35" y="209"/>
                    <a:pt x="41" y="222"/>
                  </a:cubicBezTo>
                  <a:cubicBezTo>
                    <a:pt x="40" y="219"/>
                    <a:pt x="39" y="215"/>
                    <a:pt x="38" y="212"/>
                  </a:cubicBezTo>
                  <a:cubicBezTo>
                    <a:pt x="26" y="172"/>
                    <a:pt x="18" y="132"/>
                    <a:pt x="13" y="92"/>
                  </a:cubicBezTo>
                  <a:cubicBezTo>
                    <a:pt x="11" y="68"/>
                    <a:pt x="9" y="45"/>
                    <a:pt x="8" y="22"/>
                  </a:cubicBezTo>
                  <a:cubicBezTo>
                    <a:pt x="8" y="21"/>
                    <a:pt x="7" y="20"/>
                    <a:pt x="7" y="18"/>
                  </a:cubicBezTo>
                  <a:cubicBezTo>
                    <a:pt x="5" y="12"/>
                    <a:pt x="2" y="6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SG" dirty="0"/>
            </a:p>
          </p:txBody>
        </p:sp>
        <p:sp>
          <p:nvSpPr>
            <p:cNvPr id="32" name="Freeform 19"/>
            <p:cNvSpPr/>
            <p:nvPr/>
          </p:nvSpPr>
          <p:spPr bwMode="auto">
            <a:xfrm>
              <a:off x="3148013" y="1282700"/>
              <a:ext cx="1768475" cy="3448050"/>
            </a:xfrm>
            <a:custGeom>
              <a:avLst/>
              <a:gdLst/>
              <a:ahLst/>
              <a:cxnLst/>
              <a:rect l="0" t="0" r="r" b="b"/>
              <a:pathLst>
                <a:path w="450" h="878">
                  <a:moveTo>
                    <a:pt x="7" y="854"/>
                  </a:moveTo>
                  <a:cubicBezTo>
                    <a:pt x="10" y="772"/>
                    <a:pt x="26" y="691"/>
                    <a:pt x="50" y="613"/>
                  </a:cubicBezTo>
                  <a:cubicBezTo>
                    <a:pt x="75" y="535"/>
                    <a:pt x="109" y="460"/>
                    <a:pt x="149" y="388"/>
                  </a:cubicBezTo>
                  <a:cubicBezTo>
                    <a:pt x="189" y="316"/>
                    <a:pt x="235" y="248"/>
                    <a:pt x="285" y="183"/>
                  </a:cubicBezTo>
                  <a:cubicBezTo>
                    <a:pt x="310" y="151"/>
                    <a:pt x="337" y="119"/>
                    <a:pt x="364" y="89"/>
                  </a:cubicBezTo>
                  <a:cubicBezTo>
                    <a:pt x="378" y="74"/>
                    <a:pt x="392" y="58"/>
                    <a:pt x="406" y="44"/>
                  </a:cubicBezTo>
                  <a:cubicBezTo>
                    <a:pt x="421" y="29"/>
                    <a:pt x="435" y="15"/>
                    <a:pt x="450" y="1"/>
                  </a:cubicBezTo>
                  <a:cubicBezTo>
                    <a:pt x="450" y="0"/>
                    <a:pt x="450" y="0"/>
                    <a:pt x="450" y="0"/>
                  </a:cubicBezTo>
                  <a:cubicBezTo>
                    <a:pt x="434" y="14"/>
                    <a:pt x="420" y="28"/>
                    <a:pt x="405" y="43"/>
                  </a:cubicBezTo>
                  <a:cubicBezTo>
                    <a:pt x="391" y="57"/>
                    <a:pt x="377" y="72"/>
                    <a:pt x="363" y="88"/>
                  </a:cubicBezTo>
                  <a:cubicBezTo>
                    <a:pt x="335" y="118"/>
                    <a:pt x="308" y="149"/>
                    <a:pt x="283" y="181"/>
                  </a:cubicBezTo>
                  <a:cubicBezTo>
                    <a:pt x="232" y="246"/>
                    <a:pt x="185" y="314"/>
                    <a:pt x="145" y="386"/>
                  </a:cubicBezTo>
                  <a:cubicBezTo>
                    <a:pt x="104" y="457"/>
                    <a:pt x="70" y="533"/>
                    <a:pt x="45" y="611"/>
                  </a:cubicBezTo>
                  <a:cubicBezTo>
                    <a:pt x="19" y="690"/>
                    <a:pt x="3" y="771"/>
                    <a:pt x="0" y="854"/>
                  </a:cubicBezTo>
                  <a:cubicBezTo>
                    <a:pt x="0" y="856"/>
                    <a:pt x="0" y="857"/>
                    <a:pt x="0" y="859"/>
                  </a:cubicBezTo>
                  <a:cubicBezTo>
                    <a:pt x="2" y="865"/>
                    <a:pt x="4" y="872"/>
                    <a:pt x="7" y="878"/>
                  </a:cubicBezTo>
                  <a:cubicBezTo>
                    <a:pt x="7" y="870"/>
                    <a:pt x="7" y="862"/>
                    <a:pt x="7" y="85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SG" dirty="0"/>
            </a:p>
          </p:txBody>
        </p:sp>
        <p:sp>
          <p:nvSpPr>
            <p:cNvPr id="33" name="Freeform 20"/>
            <p:cNvSpPr/>
            <p:nvPr/>
          </p:nvSpPr>
          <p:spPr bwMode="auto">
            <a:xfrm>
              <a:off x="3273426" y="5653088"/>
              <a:ext cx="138113" cy="287338"/>
            </a:xfrm>
            <a:custGeom>
              <a:avLst/>
              <a:gdLst/>
              <a:ahLst/>
              <a:cxnLst/>
              <a:rect l="0" t="0" r="r" b="b"/>
              <a:pathLst>
                <a:path w="35" h="73">
                  <a:moveTo>
                    <a:pt x="0" y="0"/>
                  </a:moveTo>
                  <a:cubicBezTo>
                    <a:pt x="7" y="24"/>
                    <a:pt x="16" y="49"/>
                    <a:pt x="26" y="73"/>
                  </a:cubicBezTo>
                  <a:cubicBezTo>
                    <a:pt x="35" y="73"/>
                    <a:pt x="35" y="73"/>
                    <a:pt x="35" y="73"/>
                  </a:cubicBezTo>
                  <a:cubicBezTo>
                    <a:pt x="23" y="49"/>
                    <a:pt x="11" y="2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SG" dirty="0"/>
            </a:p>
          </p:txBody>
        </p:sp>
        <p:sp>
          <p:nvSpPr>
            <p:cNvPr id="34" name="Freeform 21"/>
            <p:cNvSpPr/>
            <p:nvPr/>
          </p:nvSpPr>
          <p:spPr bwMode="auto">
            <a:xfrm>
              <a:off x="3143251" y="4656138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7" y="44"/>
                  </a:moveTo>
                  <a:cubicBezTo>
                    <a:pt x="7" y="46"/>
                    <a:pt x="8" y="47"/>
                    <a:pt x="8" y="48"/>
                  </a:cubicBezTo>
                  <a:cubicBezTo>
                    <a:pt x="8" y="38"/>
                    <a:pt x="8" y="29"/>
                    <a:pt x="8" y="19"/>
                  </a:cubicBezTo>
                  <a:cubicBezTo>
                    <a:pt x="5" y="13"/>
                    <a:pt x="3" y="6"/>
                    <a:pt x="1" y="0"/>
                  </a:cubicBezTo>
                  <a:cubicBezTo>
                    <a:pt x="0" y="9"/>
                    <a:pt x="0" y="17"/>
                    <a:pt x="0" y="26"/>
                  </a:cubicBezTo>
                  <a:cubicBezTo>
                    <a:pt x="2" y="32"/>
                    <a:pt x="5" y="38"/>
                    <a:pt x="7" y="4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SG" dirty="0"/>
            </a:p>
          </p:txBody>
        </p:sp>
        <p:sp>
          <p:nvSpPr>
            <p:cNvPr id="35" name="Freeform 22"/>
            <p:cNvSpPr/>
            <p:nvPr/>
          </p:nvSpPr>
          <p:spPr bwMode="auto">
            <a:xfrm>
              <a:off x="3211513" y="5410200"/>
              <a:ext cx="203200" cy="530225"/>
            </a:xfrm>
            <a:custGeom>
              <a:avLst/>
              <a:gdLst/>
              <a:ahLst/>
              <a:cxnLst/>
              <a:rect l="0" t="0" r="r" b="b"/>
              <a:pathLst>
                <a:path w="52" h="135">
                  <a:moveTo>
                    <a:pt x="7" y="18"/>
                  </a:moveTo>
                  <a:cubicBezTo>
                    <a:pt x="5" y="12"/>
                    <a:pt x="2" y="6"/>
                    <a:pt x="0" y="0"/>
                  </a:cubicBezTo>
                  <a:cubicBezTo>
                    <a:pt x="3" y="16"/>
                    <a:pt x="7" y="32"/>
                    <a:pt x="12" y="48"/>
                  </a:cubicBezTo>
                  <a:cubicBezTo>
                    <a:pt x="13" y="53"/>
                    <a:pt x="14" y="57"/>
                    <a:pt x="16" y="62"/>
                  </a:cubicBezTo>
                  <a:cubicBezTo>
                    <a:pt x="27" y="86"/>
                    <a:pt x="39" y="111"/>
                    <a:pt x="51" y="135"/>
                  </a:cubicBezTo>
                  <a:cubicBezTo>
                    <a:pt x="52" y="135"/>
                    <a:pt x="52" y="135"/>
                    <a:pt x="52" y="135"/>
                  </a:cubicBezTo>
                  <a:cubicBezTo>
                    <a:pt x="41" y="109"/>
                    <a:pt x="32" y="83"/>
                    <a:pt x="24" y="56"/>
                  </a:cubicBezTo>
                  <a:cubicBezTo>
                    <a:pt x="18" y="43"/>
                    <a:pt x="13" y="31"/>
                    <a:pt x="7" y="18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SG" dirty="0"/>
            </a:p>
          </p:txBody>
        </p:sp>
      </p:grpSp>
      <p:grpSp>
        <p:nvGrpSpPr>
          <p:cNvPr id="10" name="Group 9"/>
          <p:cNvGrpSpPr/>
          <p:nvPr/>
        </p:nvGrpSpPr>
        <p:grpSpPr>
          <a:xfrm>
            <a:off x="27221" y="-786"/>
            <a:ext cx="2356674" cy="6854039"/>
            <a:chOff x="6627813" y="194833"/>
            <a:chExt cx="1952625" cy="5678918"/>
          </a:xfrm>
        </p:grpSpPr>
        <p:sp>
          <p:nvSpPr>
            <p:cNvPr id="11" name="Freeform 27"/>
            <p:cNvSpPr/>
            <p:nvPr/>
          </p:nvSpPr>
          <p:spPr bwMode="auto">
            <a:xfrm>
              <a:off x="6627813" y="194833"/>
              <a:ext cx="409575" cy="3646488"/>
            </a:xfrm>
            <a:custGeom>
              <a:avLst/>
              <a:gdLst/>
              <a:ahLst/>
              <a:cxnLst/>
              <a:rect l="0" t="0" r="r" b="b"/>
              <a:pathLst>
                <a:path w="103" h="920">
                  <a:moveTo>
                    <a:pt x="7" y="210"/>
                  </a:moveTo>
                  <a:cubicBezTo>
                    <a:pt x="11" y="288"/>
                    <a:pt x="17" y="367"/>
                    <a:pt x="26" y="445"/>
                  </a:cubicBezTo>
                  <a:cubicBezTo>
                    <a:pt x="34" y="523"/>
                    <a:pt x="44" y="601"/>
                    <a:pt x="57" y="679"/>
                  </a:cubicBezTo>
                  <a:cubicBezTo>
                    <a:pt x="69" y="757"/>
                    <a:pt x="84" y="834"/>
                    <a:pt x="101" y="911"/>
                  </a:cubicBezTo>
                  <a:cubicBezTo>
                    <a:pt x="102" y="914"/>
                    <a:pt x="103" y="917"/>
                    <a:pt x="103" y="920"/>
                  </a:cubicBezTo>
                  <a:cubicBezTo>
                    <a:pt x="102" y="905"/>
                    <a:pt x="100" y="889"/>
                    <a:pt x="99" y="874"/>
                  </a:cubicBezTo>
                  <a:cubicBezTo>
                    <a:pt x="99" y="871"/>
                    <a:pt x="99" y="868"/>
                    <a:pt x="99" y="866"/>
                  </a:cubicBezTo>
                  <a:cubicBezTo>
                    <a:pt x="85" y="803"/>
                    <a:pt x="73" y="741"/>
                    <a:pt x="63" y="678"/>
                  </a:cubicBezTo>
                  <a:cubicBezTo>
                    <a:pt x="50" y="600"/>
                    <a:pt x="39" y="523"/>
                    <a:pt x="30" y="444"/>
                  </a:cubicBezTo>
                  <a:cubicBezTo>
                    <a:pt x="21" y="366"/>
                    <a:pt x="14" y="288"/>
                    <a:pt x="9" y="209"/>
                  </a:cubicBezTo>
                  <a:cubicBezTo>
                    <a:pt x="7" y="170"/>
                    <a:pt x="5" y="131"/>
                    <a:pt x="3" y="92"/>
                  </a:cubicBezTo>
                  <a:cubicBezTo>
                    <a:pt x="2" y="61"/>
                    <a:pt x="1" y="31"/>
                    <a:pt x="1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1"/>
                    <a:pt x="1" y="61"/>
                    <a:pt x="1" y="92"/>
                  </a:cubicBezTo>
                  <a:cubicBezTo>
                    <a:pt x="3" y="131"/>
                    <a:pt x="4" y="170"/>
                    <a:pt x="7" y="21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n-SG" dirty="0"/>
            </a:p>
          </p:txBody>
        </p:sp>
        <p:sp>
          <p:nvSpPr>
            <p:cNvPr id="12" name="Freeform 28"/>
            <p:cNvSpPr/>
            <p:nvPr/>
          </p:nvSpPr>
          <p:spPr bwMode="auto">
            <a:xfrm>
              <a:off x="7061201" y="3771900"/>
              <a:ext cx="350838" cy="1309688"/>
            </a:xfrm>
            <a:custGeom>
              <a:avLst/>
              <a:gdLst/>
              <a:ahLst/>
              <a:cxnLst/>
              <a:rect l="0" t="0" r="r" b="b"/>
              <a:pathLst>
                <a:path w="88" h="330">
                  <a:moveTo>
                    <a:pt x="53" y="229"/>
                  </a:moveTo>
                  <a:cubicBezTo>
                    <a:pt x="64" y="263"/>
                    <a:pt x="75" y="297"/>
                    <a:pt x="88" y="330"/>
                  </a:cubicBezTo>
                  <a:cubicBezTo>
                    <a:pt x="88" y="323"/>
                    <a:pt x="88" y="315"/>
                    <a:pt x="88" y="308"/>
                  </a:cubicBezTo>
                  <a:cubicBezTo>
                    <a:pt x="88" y="307"/>
                    <a:pt x="88" y="305"/>
                    <a:pt x="88" y="304"/>
                  </a:cubicBezTo>
                  <a:cubicBezTo>
                    <a:pt x="79" y="278"/>
                    <a:pt x="70" y="252"/>
                    <a:pt x="62" y="226"/>
                  </a:cubicBezTo>
                  <a:cubicBezTo>
                    <a:pt x="38" y="152"/>
                    <a:pt x="17" y="76"/>
                    <a:pt x="0" y="0"/>
                  </a:cubicBezTo>
                  <a:cubicBezTo>
                    <a:pt x="2" y="21"/>
                    <a:pt x="4" y="42"/>
                    <a:pt x="7" y="63"/>
                  </a:cubicBezTo>
                  <a:cubicBezTo>
                    <a:pt x="21" y="119"/>
                    <a:pt x="36" y="174"/>
                    <a:pt x="53" y="22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n-SG" dirty="0"/>
            </a:p>
          </p:txBody>
        </p:sp>
        <p:sp>
          <p:nvSpPr>
            <p:cNvPr id="13" name="Freeform 29"/>
            <p:cNvSpPr/>
            <p:nvPr/>
          </p:nvSpPr>
          <p:spPr bwMode="auto">
            <a:xfrm>
              <a:off x="7439026" y="5053013"/>
              <a:ext cx="357188" cy="820738"/>
            </a:xfrm>
            <a:custGeom>
              <a:avLst/>
              <a:gdLst/>
              <a:ahLst/>
              <a:cxnLst/>
              <a:rect l="0" t="0" r="r" b="b"/>
              <a:pathLst>
                <a:path w="90" h="207">
                  <a:moveTo>
                    <a:pt x="6" y="15"/>
                  </a:moveTo>
                  <a:cubicBezTo>
                    <a:pt x="4" y="10"/>
                    <a:pt x="2" y="5"/>
                    <a:pt x="0" y="0"/>
                  </a:cubicBezTo>
                  <a:cubicBezTo>
                    <a:pt x="0" y="9"/>
                    <a:pt x="0" y="19"/>
                    <a:pt x="1" y="29"/>
                  </a:cubicBezTo>
                  <a:cubicBezTo>
                    <a:pt x="14" y="62"/>
                    <a:pt x="27" y="95"/>
                    <a:pt x="42" y="127"/>
                  </a:cubicBezTo>
                  <a:cubicBezTo>
                    <a:pt x="54" y="154"/>
                    <a:pt x="67" y="181"/>
                    <a:pt x="80" y="207"/>
                  </a:cubicBezTo>
                  <a:cubicBezTo>
                    <a:pt x="90" y="207"/>
                    <a:pt x="90" y="207"/>
                    <a:pt x="90" y="207"/>
                  </a:cubicBezTo>
                  <a:cubicBezTo>
                    <a:pt x="76" y="180"/>
                    <a:pt x="63" y="152"/>
                    <a:pt x="50" y="123"/>
                  </a:cubicBezTo>
                  <a:cubicBezTo>
                    <a:pt x="34" y="88"/>
                    <a:pt x="20" y="51"/>
                    <a:pt x="6" y="15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n-SG" dirty="0"/>
            </a:p>
          </p:txBody>
        </p:sp>
        <p:sp>
          <p:nvSpPr>
            <p:cNvPr id="14" name="Freeform 30"/>
            <p:cNvSpPr/>
            <p:nvPr/>
          </p:nvSpPr>
          <p:spPr bwMode="auto">
            <a:xfrm>
              <a:off x="7037388" y="3811588"/>
              <a:ext cx="457200" cy="1852613"/>
            </a:xfrm>
            <a:custGeom>
              <a:avLst/>
              <a:gdLst/>
              <a:ahLst/>
              <a:cxnLst/>
              <a:rect l="0" t="0" r="r" b="b"/>
              <a:pathLst>
                <a:path w="115" h="467">
                  <a:moveTo>
                    <a:pt x="101" y="409"/>
                  </a:moveTo>
                  <a:cubicBezTo>
                    <a:pt x="93" y="388"/>
                    <a:pt x="85" y="366"/>
                    <a:pt x="78" y="344"/>
                  </a:cubicBezTo>
                  <a:cubicBezTo>
                    <a:pt x="57" y="281"/>
                    <a:pt x="41" y="216"/>
                    <a:pt x="29" y="151"/>
                  </a:cubicBezTo>
                  <a:cubicBezTo>
                    <a:pt x="22" y="119"/>
                    <a:pt x="17" y="86"/>
                    <a:pt x="13" y="53"/>
                  </a:cubicBezTo>
                  <a:cubicBezTo>
                    <a:pt x="9" y="35"/>
                    <a:pt x="4" y="18"/>
                    <a:pt x="0" y="0"/>
                  </a:cubicBezTo>
                  <a:cubicBezTo>
                    <a:pt x="5" y="51"/>
                    <a:pt x="12" y="102"/>
                    <a:pt x="21" y="152"/>
                  </a:cubicBezTo>
                  <a:cubicBezTo>
                    <a:pt x="33" y="218"/>
                    <a:pt x="49" y="283"/>
                    <a:pt x="69" y="347"/>
                  </a:cubicBezTo>
                  <a:cubicBezTo>
                    <a:pt x="79" y="378"/>
                    <a:pt x="90" y="410"/>
                    <a:pt x="103" y="441"/>
                  </a:cubicBezTo>
                  <a:cubicBezTo>
                    <a:pt x="107" y="449"/>
                    <a:pt x="111" y="458"/>
                    <a:pt x="115" y="467"/>
                  </a:cubicBezTo>
                  <a:cubicBezTo>
                    <a:pt x="114" y="464"/>
                    <a:pt x="113" y="461"/>
                    <a:pt x="112" y="458"/>
                  </a:cubicBezTo>
                  <a:cubicBezTo>
                    <a:pt x="108" y="442"/>
                    <a:pt x="104" y="425"/>
                    <a:pt x="101" y="40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n-SG" dirty="0"/>
            </a:p>
          </p:txBody>
        </p:sp>
        <p:sp>
          <p:nvSpPr>
            <p:cNvPr id="15" name="Freeform 31"/>
            <p:cNvSpPr/>
            <p:nvPr/>
          </p:nvSpPr>
          <p:spPr bwMode="auto">
            <a:xfrm>
              <a:off x="6992938" y="1263650"/>
              <a:ext cx="144463" cy="2508250"/>
            </a:xfrm>
            <a:custGeom>
              <a:avLst/>
              <a:gdLst/>
              <a:ahLst/>
              <a:cxnLst/>
              <a:rect l="0" t="0" r="r" b="b"/>
              <a:pathLst>
                <a:path w="36" h="633">
                  <a:moveTo>
                    <a:pt x="17" y="633"/>
                  </a:moveTo>
                  <a:cubicBezTo>
                    <a:pt x="15" y="621"/>
                    <a:pt x="14" y="609"/>
                    <a:pt x="13" y="597"/>
                  </a:cubicBezTo>
                  <a:cubicBezTo>
                    <a:pt x="8" y="530"/>
                    <a:pt x="5" y="464"/>
                    <a:pt x="5" y="398"/>
                  </a:cubicBezTo>
                  <a:cubicBezTo>
                    <a:pt x="5" y="331"/>
                    <a:pt x="8" y="265"/>
                    <a:pt x="13" y="198"/>
                  </a:cubicBezTo>
                  <a:cubicBezTo>
                    <a:pt x="15" y="165"/>
                    <a:pt x="18" y="132"/>
                    <a:pt x="22" y="99"/>
                  </a:cubicBezTo>
                  <a:cubicBezTo>
                    <a:pt x="26" y="66"/>
                    <a:pt x="30" y="33"/>
                    <a:pt x="36" y="0"/>
                  </a:cubicBezTo>
                  <a:cubicBezTo>
                    <a:pt x="35" y="0"/>
                    <a:pt x="35" y="0"/>
                    <a:pt x="35" y="0"/>
                  </a:cubicBezTo>
                  <a:cubicBezTo>
                    <a:pt x="29" y="33"/>
                    <a:pt x="24" y="66"/>
                    <a:pt x="20" y="99"/>
                  </a:cubicBezTo>
                  <a:cubicBezTo>
                    <a:pt x="16" y="132"/>
                    <a:pt x="13" y="165"/>
                    <a:pt x="10" y="198"/>
                  </a:cubicBezTo>
                  <a:cubicBezTo>
                    <a:pt x="4" y="264"/>
                    <a:pt x="1" y="331"/>
                    <a:pt x="1" y="398"/>
                  </a:cubicBezTo>
                  <a:cubicBezTo>
                    <a:pt x="0" y="461"/>
                    <a:pt x="2" y="525"/>
                    <a:pt x="7" y="589"/>
                  </a:cubicBezTo>
                  <a:cubicBezTo>
                    <a:pt x="10" y="603"/>
                    <a:pt x="13" y="618"/>
                    <a:pt x="16" y="632"/>
                  </a:cubicBezTo>
                  <a:cubicBezTo>
                    <a:pt x="16" y="632"/>
                    <a:pt x="17" y="633"/>
                    <a:pt x="17" y="63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n-SG" dirty="0"/>
            </a:p>
          </p:txBody>
        </p:sp>
        <p:sp>
          <p:nvSpPr>
            <p:cNvPr id="16" name="Freeform 32"/>
            <p:cNvSpPr/>
            <p:nvPr/>
          </p:nvSpPr>
          <p:spPr bwMode="auto">
            <a:xfrm>
              <a:off x="7526338" y="5640388"/>
              <a:ext cx="111125" cy="233363"/>
            </a:xfrm>
            <a:custGeom>
              <a:avLst/>
              <a:gdLst/>
              <a:ahLst/>
              <a:cxnLst/>
              <a:rect l="0" t="0" r="r" b="b"/>
              <a:pathLst>
                <a:path w="28" h="59">
                  <a:moveTo>
                    <a:pt x="22" y="59"/>
                  </a:moveTo>
                  <a:cubicBezTo>
                    <a:pt x="28" y="59"/>
                    <a:pt x="28" y="59"/>
                    <a:pt x="28" y="59"/>
                  </a:cubicBezTo>
                  <a:cubicBezTo>
                    <a:pt x="18" y="40"/>
                    <a:pt x="9" y="20"/>
                    <a:pt x="0" y="0"/>
                  </a:cubicBezTo>
                  <a:cubicBezTo>
                    <a:pt x="6" y="20"/>
                    <a:pt x="13" y="40"/>
                    <a:pt x="22" y="5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n-SG" dirty="0"/>
            </a:p>
          </p:txBody>
        </p:sp>
        <p:sp>
          <p:nvSpPr>
            <p:cNvPr id="17" name="Freeform 33"/>
            <p:cNvSpPr/>
            <p:nvPr/>
          </p:nvSpPr>
          <p:spPr bwMode="auto">
            <a:xfrm>
              <a:off x="7021513" y="3598863"/>
              <a:ext cx="68263" cy="423863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4" y="54"/>
                  </a:moveTo>
                  <a:cubicBezTo>
                    <a:pt x="8" y="72"/>
                    <a:pt x="13" y="89"/>
                    <a:pt x="17" y="107"/>
                  </a:cubicBezTo>
                  <a:cubicBezTo>
                    <a:pt x="14" y="86"/>
                    <a:pt x="12" y="65"/>
                    <a:pt x="10" y="44"/>
                  </a:cubicBezTo>
                  <a:cubicBezTo>
                    <a:pt x="10" y="44"/>
                    <a:pt x="9" y="43"/>
                    <a:pt x="9" y="43"/>
                  </a:cubicBezTo>
                  <a:cubicBezTo>
                    <a:pt x="6" y="29"/>
                    <a:pt x="3" y="14"/>
                    <a:pt x="0" y="0"/>
                  </a:cubicBezTo>
                  <a:cubicBezTo>
                    <a:pt x="0" y="2"/>
                    <a:pt x="0" y="5"/>
                    <a:pt x="0" y="8"/>
                  </a:cubicBezTo>
                  <a:cubicBezTo>
                    <a:pt x="1" y="23"/>
                    <a:pt x="3" y="39"/>
                    <a:pt x="4" y="54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n-SG" dirty="0"/>
            </a:p>
          </p:txBody>
        </p:sp>
        <p:sp>
          <p:nvSpPr>
            <p:cNvPr id="18" name="Freeform 34"/>
            <p:cNvSpPr/>
            <p:nvPr/>
          </p:nvSpPr>
          <p:spPr bwMode="auto">
            <a:xfrm>
              <a:off x="7412038" y="2801938"/>
              <a:ext cx="1168400" cy="2251075"/>
            </a:xfrm>
            <a:custGeom>
              <a:avLst/>
              <a:gdLst/>
              <a:ahLst/>
              <a:cxnLst/>
              <a:rect l="0" t="0" r="r" b="b"/>
              <a:pathLst>
                <a:path w="294" h="568">
                  <a:moveTo>
                    <a:pt x="8" y="553"/>
                  </a:moveTo>
                  <a:cubicBezTo>
                    <a:pt x="9" y="501"/>
                    <a:pt x="19" y="448"/>
                    <a:pt x="35" y="397"/>
                  </a:cubicBezTo>
                  <a:cubicBezTo>
                    <a:pt x="51" y="347"/>
                    <a:pt x="73" y="298"/>
                    <a:pt x="99" y="252"/>
                  </a:cubicBezTo>
                  <a:cubicBezTo>
                    <a:pt x="124" y="205"/>
                    <a:pt x="154" y="161"/>
                    <a:pt x="187" y="119"/>
                  </a:cubicBezTo>
                  <a:cubicBezTo>
                    <a:pt x="203" y="98"/>
                    <a:pt x="220" y="77"/>
                    <a:pt x="238" y="58"/>
                  </a:cubicBezTo>
                  <a:cubicBezTo>
                    <a:pt x="247" y="48"/>
                    <a:pt x="256" y="38"/>
                    <a:pt x="265" y="28"/>
                  </a:cubicBezTo>
                  <a:cubicBezTo>
                    <a:pt x="274" y="19"/>
                    <a:pt x="284" y="9"/>
                    <a:pt x="294" y="0"/>
                  </a:cubicBezTo>
                  <a:cubicBezTo>
                    <a:pt x="293" y="0"/>
                    <a:pt x="293" y="0"/>
                    <a:pt x="293" y="0"/>
                  </a:cubicBezTo>
                  <a:cubicBezTo>
                    <a:pt x="283" y="9"/>
                    <a:pt x="273" y="18"/>
                    <a:pt x="264" y="27"/>
                  </a:cubicBezTo>
                  <a:cubicBezTo>
                    <a:pt x="255" y="37"/>
                    <a:pt x="246" y="47"/>
                    <a:pt x="237" y="56"/>
                  </a:cubicBezTo>
                  <a:cubicBezTo>
                    <a:pt x="218" y="76"/>
                    <a:pt x="201" y="96"/>
                    <a:pt x="185" y="117"/>
                  </a:cubicBezTo>
                  <a:cubicBezTo>
                    <a:pt x="151" y="159"/>
                    <a:pt x="121" y="203"/>
                    <a:pt x="95" y="249"/>
                  </a:cubicBezTo>
                  <a:cubicBezTo>
                    <a:pt x="68" y="296"/>
                    <a:pt x="46" y="345"/>
                    <a:pt x="30" y="396"/>
                  </a:cubicBezTo>
                  <a:cubicBezTo>
                    <a:pt x="13" y="445"/>
                    <a:pt x="3" y="497"/>
                    <a:pt x="0" y="549"/>
                  </a:cubicBezTo>
                  <a:cubicBezTo>
                    <a:pt x="3" y="555"/>
                    <a:pt x="5" y="561"/>
                    <a:pt x="7" y="568"/>
                  </a:cubicBezTo>
                  <a:cubicBezTo>
                    <a:pt x="7" y="563"/>
                    <a:pt x="7" y="558"/>
                    <a:pt x="8" y="55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n-SG" dirty="0"/>
            </a:p>
          </p:txBody>
        </p:sp>
        <p:sp>
          <p:nvSpPr>
            <p:cNvPr id="19" name="Freeform 35"/>
            <p:cNvSpPr/>
            <p:nvPr/>
          </p:nvSpPr>
          <p:spPr bwMode="auto">
            <a:xfrm>
              <a:off x="7494588" y="5664200"/>
              <a:ext cx="100013" cy="209550"/>
            </a:xfrm>
            <a:custGeom>
              <a:avLst/>
              <a:gdLst/>
              <a:ahLst/>
              <a:cxnLst/>
              <a:rect l="0" t="0" r="r" b="b"/>
              <a:pathLst>
                <a:path w="25" h="53">
                  <a:moveTo>
                    <a:pt x="0" y="0"/>
                  </a:moveTo>
                  <a:cubicBezTo>
                    <a:pt x="5" y="18"/>
                    <a:pt x="12" y="36"/>
                    <a:pt x="19" y="53"/>
                  </a:cubicBezTo>
                  <a:cubicBezTo>
                    <a:pt x="25" y="53"/>
                    <a:pt x="25" y="53"/>
                    <a:pt x="25" y="53"/>
                  </a:cubicBezTo>
                  <a:cubicBezTo>
                    <a:pt x="16" y="36"/>
                    <a:pt x="8" y="18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n-SG" dirty="0"/>
            </a:p>
          </p:txBody>
        </p:sp>
        <p:sp>
          <p:nvSpPr>
            <p:cNvPr id="20" name="Freeform 36"/>
            <p:cNvSpPr/>
            <p:nvPr/>
          </p:nvSpPr>
          <p:spPr bwMode="auto">
            <a:xfrm>
              <a:off x="7412038" y="5081588"/>
              <a:ext cx="114300" cy="558800"/>
            </a:xfrm>
            <a:custGeom>
              <a:avLst/>
              <a:gdLst/>
              <a:ahLst/>
              <a:cxnLst/>
              <a:rect l="0" t="0" r="r" b="b"/>
              <a:pathLst>
                <a:path w="29" h="141">
                  <a:moveTo>
                    <a:pt x="0" y="0"/>
                  </a:moveTo>
                  <a:cubicBezTo>
                    <a:pt x="0" y="30"/>
                    <a:pt x="2" y="60"/>
                    <a:pt x="7" y="89"/>
                  </a:cubicBezTo>
                  <a:cubicBezTo>
                    <a:pt x="11" y="98"/>
                    <a:pt x="14" y="108"/>
                    <a:pt x="18" y="117"/>
                  </a:cubicBezTo>
                  <a:cubicBezTo>
                    <a:pt x="22" y="125"/>
                    <a:pt x="25" y="133"/>
                    <a:pt x="29" y="141"/>
                  </a:cubicBezTo>
                  <a:cubicBezTo>
                    <a:pt x="28" y="139"/>
                    <a:pt x="28" y="137"/>
                    <a:pt x="27" y="135"/>
                  </a:cubicBezTo>
                  <a:cubicBezTo>
                    <a:pt x="16" y="98"/>
                    <a:pt x="10" y="60"/>
                    <a:pt x="8" y="22"/>
                  </a:cubicBezTo>
                  <a:cubicBezTo>
                    <a:pt x="7" y="18"/>
                    <a:pt x="5" y="15"/>
                    <a:pt x="4" y="11"/>
                  </a:cubicBezTo>
                  <a:cubicBezTo>
                    <a:pt x="2" y="7"/>
                    <a:pt x="1" y="3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n-SG" dirty="0"/>
            </a:p>
          </p:txBody>
        </p:sp>
        <p:sp>
          <p:nvSpPr>
            <p:cNvPr id="21" name="Freeform 37"/>
            <p:cNvSpPr/>
            <p:nvPr/>
          </p:nvSpPr>
          <p:spPr bwMode="auto">
            <a:xfrm>
              <a:off x="7412038" y="4978400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0" y="26"/>
                  </a:moveTo>
                  <a:cubicBezTo>
                    <a:pt x="1" y="29"/>
                    <a:pt x="2" y="33"/>
                    <a:pt x="4" y="37"/>
                  </a:cubicBezTo>
                  <a:cubicBezTo>
                    <a:pt x="5" y="41"/>
                    <a:pt x="7" y="44"/>
                    <a:pt x="8" y="48"/>
                  </a:cubicBezTo>
                  <a:cubicBezTo>
                    <a:pt x="7" y="38"/>
                    <a:pt x="7" y="28"/>
                    <a:pt x="7" y="19"/>
                  </a:cubicBezTo>
                  <a:cubicBezTo>
                    <a:pt x="5" y="12"/>
                    <a:pt x="3" y="6"/>
                    <a:pt x="0" y="0"/>
                  </a:cubicBezTo>
                  <a:cubicBezTo>
                    <a:pt x="0" y="1"/>
                    <a:pt x="0" y="3"/>
                    <a:pt x="0" y="4"/>
                  </a:cubicBezTo>
                  <a:cubicBezTo>
                    <a:pt x="0" y="11"/>
                    <a:pt x="0" y="19"/>
                    <a:pt x="0" y="26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n-SG" dirty="0"/>
            </a:p>
          </p:txBody>
        </p:sp>
        <p:sp>
          <p:nvSpPr>
            <p:cNvPr id="22" name="Freeform 38"/>
            <p:cNvSpPr/>
            <p:nvPr/>
          </p:nvSpPr>
          <p:spPr bwMode="auto">
            <a:xfrm>
              <a:off x="7439026" y="5434013"/>
              <a:ext cx="174625" cy="439738"/>
            </a:xfrm>
            <a:custGeom>
              <a:avLst/>
              <a:gdLst/>
              <a:ahLst/>
              <a:cxnLst/>
              <a:rect l="0" t="0" r="r" b="b"/>
              <a:pathLst>
                <a:path w="44" h="111">
                  <a:moveTo>
                    <a:pt x="11" y="28"/>
                  </a:moveTo>
                  <a:cubicBezTo>
                    <a:pt x="7" y="19"/>
                    <a:pt x="4" y="9"/>
                    <a:pt x="0" y="0"/>
                  </a:cubicBezTo>
                  <a:cubicBezTo>
                    <a:pt x="3" y="16"/>
                    <a:pt x="7" y="33"/>
                    <a:pt x="11" y="49"/>
                  </a:cubicBezTo>
                  <a:cubicBezTo>
                    <a:pt x="12" y="52"/>
                    <a:pt x="13" y="55"/>
                    <a:pt x="14" y="58"/>
                  </a:cubicBezTo>
                  <a:cubicBezTo>
                    <a:pt x="22" y="76"/>
                    <a:pt x="30" y="94"/>
                    <a:pt x="39" y="111"/>
                  </a:cubicBezTo>
                  <a:cubicBezTo>
                    <a:pt x="44" y="111"/>
                    <a:pt x="44" y="111"/>
                    <a:pt x="44" y="111"/>
                  </a:cubicBezTo>
                  <a:cubicBezTo>
                    <a:pt x="35" y="92"/>
                    <a:pt x="28" y="72"/>
                    <a:pt x="22" y="52"/>
                  </a:cubicBezTo>
                  <a:cubicBezTo>
                    <a:pt x="18" y="44"/>
                    <a:pt x="15" y="36"/>
                    <a:pt x="11" y="28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n-SG" dirty="0"/>
            </a:p>
          </p:txBody>
        </p:sp>
      </p:grpSp>
      <p:sp>
        <p:nvSpPr>
          <p:cNvPr id="7" name="Rectangle 6"/>
          <p:cNvSpPr/>
          <p:nvPr/>
        </p:nvSpPr>
        <p:spPr>
          <a:xfrm>
            <a:off x="0" y="0"/>
            <a:ext cx="182880" cy="6858000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SG" dirty="0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592924" y="624110"/>
            <a:ext cx="8911687" cy="128089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2133600"/>
            <a:ext cx="8915400" cy="38862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361612" y="6130437"/>
            <a:ext cx="1146283" cy="37039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A1CC2BE-6A0F-4071-BFB7-8FB97E7BF62D}" type="datetimeFigureOut">
              <a:rPr lang="en-SG" smtClean="0"/>
              <a:t>4/4/2026</a:t>
            </a:fld>
            <a:endParaRPr lang="en-SG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589212" y="6135808"/>
            <a:ext cx="76199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SG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531812" y="787782"/>
            <a:ext cx="77976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000">
                <a:solidFill>
                  <a:srgbClr val="FEFFFF"/>
                </a:solidFill>
              </a:defRPr>
            </a:lvl1pPr>
          </a:lstStyle>
          <a:p>
            <a:fld id="{5804B0EE-DF70-4A1D-B353-9C9AA3FEA6B3}" type="slidenum">
              <a:rPr lang="en-SG" smtClean="0"/>
              <a:t>‹#›</a:t>
            </a:fld>
            <a:endParaRPr lang="en-SG" dirty="0"/>
          </a:p>
        </p:txBody>
      </p:sp>
    </p:spTree>
    <p:extLst>
      <p:ext uri="{BB962C8B-B14F-4D97-AF65-F5344CB8AC3E}">
        <p14:creationId xmlns:p14="http://schemas.microsoft.com/office/powerpoint/2010/main" val="386724013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9" r:id="rId1"/>
    <p:sldLayoutId id="2147483680" r:id="rId2"/>
    <p:sldLayoutId id="2147483681" r:id="rId3"/>
    <p:sldLayoutId id="2147483682" r:id="rId4"/>
    <p:sldLayoutId id="2147483683" r:id="rId5"/>
    <p:sldLayoutId id="2147483684" r:id="rId6"/>
    <p:sldLayoutId id="2147483685" r:id="rId7"/>
    <p:sldLayoutId id="2147483686" r:id="rId8"/>
    <p:sldLayoutId id="2147483687" r:id="rId9"/>
    <p:sldLayoutId id="2147483688" r:id="rId10"/>
    <p:sldLayoutId id="2147483689" r:id="rId11"/>
    <p:sldLayoutId id="2147483690" r:id="rId12"/>
    <p:sldLayoutId id="2147483691" r:id="rId13"/>
    <p:sldLayoutId id="2147483692" r:id="rId14"/>
    <p:sldLayoutId id="2147483693" r:id="rId15"/>
    <p:sldLayoutId id="2147483694" r:id="rId16"/>
    <p:sldLayoutId id="2147483695" r:id="rId17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tx1">
              <a:lumMod val="85000"/>
              <a:lumOff val="15000"/>
            </a:schemeClr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17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2.xml"/><Relationship Id="rId7" Type="http://schemas.microsoft.com/office/2007/relationships/diagramDrawing" Target="../diagrams/drawing2.xm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7.xml"/><Relationship Id="rId6" Type="http://schemas.openxmlformats.org/officeDocument/2006/relationships/diagramColors" Target="../diagrams/colors2.xml"/><Relationship Id="rId5" Type="http://schemas.openxmlformats.org/officeDocument/2006/relationships/diagramQuickStyle" Target="../diagrams/quickStyle2.xml"/><Relationship Id="rId4" Type="http://schemas.openxmlformats.org/officeDocument/2006/relationships/diagramLayout" Target="../diagrams/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.xml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17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4.xml"/><Relationship Id="rId2" Type="http://schemas.openxmlformats.org/officeDocument/2006/relationships/diagramData" Target="../diagrams/data4.xml"/><Relationship Id="rId1" Type="http://schemas.openxmlformats.org/officeDocument/2006/relationships/slideLayout" Target="../slideLayouts/slideLayout17.xml"/><Relationship Id="rId6" Type="http://schemas.microsoft.com/office/2007/relationships/diagramDrawing" Target="../diagrams/drawing4.xml"/><Relationship Id="rId5" Type="http://schemas.openxmlformats.org/officeDocument/2006/relationships/diagramColors" Target="../diagrams/colors4.xml"/><Relationship Id="rId4" Type="http://schemas.openxmlformats.org/officeDocument/2006/relationships/diagramQuickStyle" Target="../diagrams/quickStyle4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5.xml"/><Relationship Id="rId2" Type="http://schemas.openxmlformats.org/officeDocument/2006/relationships/diagramData" Target="../diagrams/data5.xml"/><Relationship Id="rId1" Type="http://schemas.openxmlformats.org/officeDocument/2006/relationships/slideLayout" Target="../slideLayouts/slideLayout17.xml"/><Relationship Id="rId6" Type="http://schemas.microsoft.com/office/2007/relationships/diagramDrawing" Target="../diagrams/drawing5.xml"/><Relationship Id="rId5" Type="http://schemas.openxmlformats.org/officeDocument/2006/relationships/diagramColors" Target="../diagrams/colors5.xml"/><Relationship Id="rId4" Type="http://schemas.openxmlformats.org/officeDocument/2006/relationships/diagramQuickStyle" Target="../diagrams/quickStyle5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6.xml"/><Relationship Id="rId2" Type="http://schemas.openxmlformats.org/officeDocument/2006/relationships/diagramData" Target="../diagrams/data6.xml"/><Relationship Id="rId1" Type="http://schemas.openxmlformats.org/officeDocument/2006/relationships/slideLayout" Target="../slideLayouts/slideLayout17.xml"/><Relationship Id="rId6" Type="http://schemas.microsoft.com/office/2007/relationships/diagramDrawing" Target="../diagrams/drawing6.xml"/><Relationship Id="rId5" Type="http://schemas.openxmlformats.org/officeDocument/2006/relationships/diagramColors" Target="../diagrams/colors6.xml"/><Relationship Id="rId4" Type="http://schemas.openxmlformats.org/officeDocument/2006/relationships/diagramQuickStyle" Target="../diagrams/quickStyl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6DD8EE-4A4E-AE1D-1443-D9E6D755C6C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589213" y="2514600"/>
            <a:ext cx="8229475" cy="2262781"/>
          </a:xfrm>
        </p:spPr>
        <p:txBody>
          <a:bodyPr>
            <a:normAutofit/>
          </a:bodyPr>
          <a:lstStyle/>
          <a:p>
            <a:r>
              <a:rPr lang="en-SG" sz="4000" b="1" i="1" dirty="0"/>
              <a:t>Marketing Incrementality via A/B Testing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5212E8D-C4DD-0399-1AF7-039FA531AEFF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r>
              <a:rPr lang="en-SG" sz="1600" i="1" dirty="0"/>
              <a:t>Hillstrom Email Marketing Dataset – Experimentation for Marketing ROI and Budget Decisions</a:t>
            </a:r>
          </a:p>
        </p:txBody>
      </p:sp>
    </p:spTree>
    <p:extLst>
      <p:ext uri="{BB962C8B-B14F-4D97-AF65-F5344CB8AC3E}">
        <p14:creationId xmlns:p14="http://schemas.microsoft.com/office/powerpoint/2010/main" val="384112130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05C3591-7E63-307E-B3E5-2FBF7C7FA3D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C68D22-B4F1-D7DF-1D28-A2A8642159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92924" y="624110"/>
            <a:ext cx="8911687" cy="690982"/>
          </a:xfrm>
        </p:spPr>
        <p:txBody>
          <a:bodyPr/>
          <a:lstStyle/>
          <a:p>
            <a:r>
              <a:rPr lang="en-SG" dirty="0"/>
              <a:t>Business &amp; Dataset Context</a:t>
            </a:r>
          </a:p>
        </p:txBody>
      </p:sp>
      <p:graphicFrame>
        <p:nvGraphicFramePr>
          <p:cNvPr id="6" name="Content Placeholder 5">
            <a:extLst>
              <a:ext uri="{FF2B5EF4-FFF2-40B4-BE49-F238E27FC236}">
                <a16:creationId xmlns:a16="http://schemas.microsoft.com/office/drawing/2014/main" id="{DEB09708-EB53-E9B6-4347-131B3EC84CA2}"/>
              </a:ext>
            </a:extLst>
          </p:cNvPr>
          <p:cNvGraphicFramePr>
            <a:graphicFrameLocks noGrp="1"/>
          </p:cNvGraphicFramePr>
          <p:nvPr>
            <p:ph sz="quarter" idx="13"/>
            <p:extLst>
              <p:ext uri="{D42A27DB-BD31-4B8C-83A1-F6EECF244321}">
                <p14:modId xmlns:p14="http://schemas.microsoft.com/office/powerpoint/2010/main" val="1151291725"/>
              </p:ext>
            </p:extLst>
          </p:nvPr>
        </p:nvGraphicFramePr>
        <p:xfrm>
          <a:off x="1532937" y="1163549"/>
          <a:ext cx="9126127" cy="529119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FB2885B-0ED2-D45F-751D-9628292BBE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698789" y="6544638"/>
            <a:ext cx="1164404" cy="313362"/>
          </a:xfrm>
          <a:solidFill>
            <a:srgbClr val="A53010">
              <a:alpha val="74902"/>
            </a:srgbClr>
          </a:solidFill>
          <a:ln>
            <a:solidFill>
              <a:schemeClr val="bg1">
                <a:lumMod val="95000"/>
              </a:schemeClr>
            </a:solidFill>
          </a:ln>
        </p:spPr>
        <p:txBody>
          <a:bodyPr/>
          <a:lstStyle/>
          <a:p>
            <a:r>
              <a:rPr lang="en-SG" b="1" dirty="0">
                <a:solidFill>
                  <a:schemeClr val="bg1"/>
                </a:solidFill>
              </a:rPr>
              <a:t>Problem Framing</a:t>
            </a:r>
          </a:p>
        </p:txBody>
      </p:sp>
      <p:sp>
        <p:nvSpPr>
          <p:cNvPr id="4" name="Footer Placeholder 2">
            <a:extLst>
              <a:ext uri="{FF2B5EF4-FFF2-40B4-BE49-F238E27FC236}">
                <a16:creationId xmlns:a16="http://schemas.microsoft.com/office/drawing/2014/main" id="{D276BEF8-A849-EB01-2C33-63B32209D73C}"/>
              </a:ext>
            </a:extLst>
          </p:cNvPr>
          <p:cNvSpPr txBox="1">
            <a:spLocks/>
          </p:cNvSpPr>
          <p:nvPr/>
        </p:nvSpPr>
        <p:spPr>
          <a:xfrm>
            <a:off x="9863192" y="6544638"/>
            <a:ext cx="1164404" cy="313362"/>
          </a:xfrm>
          <a:prstGeom prst="rect">
            <a:avLst/>
          </a:prstGeom>
          <a:solidFill>
            <a:srgbClr val="A53010">
              <a:alpha val="50196"/>
            </a:srgbClr>
          </a:solidFill>
          <a:ln>
            <a:solidFill>
              <a:schemeClr val="bg1">
                <a:lumMod val="95000"/>
              </a:schemeClr>
            </a:solidFill>
          </a:ln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457200" rtl="0" eaLnBrk="1" latinLnBrk="0" hangingPunct="1">
              <a:defRPr sz="9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SG" b="1" dirty="0">
                <a:solidFill>
                  <a:schemeClr val="bg1"/>
                </a:solidFill>
              </a:rPr>
              <a:t>Key Results &amp; Insights</a:t>
            </a:r>
          </a:p>
        </p:txBody>
      </p:sp>
      <p:sp>
        <p:nvSpPr>
          <p:cNvPr id="5" name="Footer Placeholder 2">
            <a:extLst>
              <a:ext uri="{FF2B5EF4-FFF2-40B4-BE49-F238E27FC236}">
                <a16:creationId xmlns:a16="http://schemas.microsoft.com/office/drawing/2014/main" id="{081841C3-5978-63C1-A80B-B2D440067171}"/>
              </a:ext>
            </a:extLst>
          </p:cNvPr>
          <p:cNvSpPr txBox="1">
            <a:spLocks/>
          </p:cNvSpPr>
          <p:nvPr/>
        </p:nvSpPr>
        <p:spPr>
          <a:xfrm>
            <a:off x="11027596" y="6544638"/>
            <a:ext cx="1164404" cy="313362"/>
          </a:xfrm>
          <a:prstGeom prst="rect">
            <a:avLst/>
          </a:prstGeom>
          <a:solidFill>
            <a:srgbClr val="A53010">
              <a:alpha val="50196"/>
            </a:srgbClr>
          </a:solidFill>
          <a:ln>
            <a:solidFill>
              <a:schemeClr val="bg1">
                <a:lumMod val="95000"/>
              </a:schemeClr>
            </a:solidFill>
          </a:ln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457200" rtl="0" eaLnBrk="1" latinLnBrk="0" hangingPunct="1">
              <a:defRPr sz="9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SG" b="1" dirty="0">
                <a:solidFill>
                  <a:schemeClr val="bg1"/>
                </a:solidFill>
              </a:rPr>
              <a:t>Systems &amp; Decisions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D59077B-92BD-11E0-DDD2-0790E3D90BA1}"/>
              </a:ext>
            </a:extLst>
          </p:cNvPr>
          <p:cNvSpPr txBox="1"/>
          <p:nvPr/>
        </p:nvSpPr>
        <p:spPr>
          <a:xfrm>
            <a:off x="1532937" y="6596390"/>
            <a:ext cx="6615522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SG" sz="1000" b="1" i="1" dirty="0"/>
              <a:t>Note 1: Key labels and features to be further described in experiment design slide</a:t>
            </a:r>
          </a:p>
        </p:txBody>
      </p:sp>
    </p:spTree>
    <p:extLst>
      <p:ext uri="{BB962C8B-B14F-4D97-AF65-F5344CB8AC3E}">
        <p14:creationId xmlns:p14="http://schemas.microsoft.com/office/powerpoint/2010/main" val="234237654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420EFFE-3BC9-746E-B55A-3FF3FF020CD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8EF732-C230-1953-65BD-4DD8EB17EC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83080" y="624110"/>
            <a:ext cx="9721531" cy="1280890"/>
          </a:xfrm>
        </p:spPr>
        <p:txBody>
          <a:bodyPr/>
          <a:lstStyle/>
          <a:p>
            <a:r>
              <a:rPr lang="en-SG" dirty="0"/>
              <a:t>Problem Framing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FC0ACB75-412F-D05F-F8CF-9F4A4A09B767}"/>
              </a:ext>
            </a:extLst>
          </p:cNvPr>
          <p:cNvGraphicFramePr>
            <a:graphicFrameLocks noGrp="1"/>
          </p:cNvGraphicFramePr>
          <p:nvPr>
            <p:ph sz="quarter" idx="13"/>
            <p:extLst>
              <p:ext uri="{D42A27DB-BD31-4B8C-83A1-F6EECF244321}">
                <p14:modId xmlns:p14="http://schemas.microsoft.com/office/powerpoint/2010/main" val="3036323099"/>
              </p:ext>
            </p:extLst>
          </p:nvPr>
        </p:nvGraphicFramePr>
        <p:xfrm>
          <a:off x="1187265" y="1614487"/>
          <a:ext cx="9817471" cy="3629026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A1FE441-AE6F-0A0D-B4C4-A8DADB825F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698789" y="6544638"/>
            <a:ext cx="1164404" cy="313362"/>
          </a:xfrm>
          <a:solidFill>
            <a:srgbClr val="A53010">
              <a:alpha val="74902"/>
            </a:srgbClr>
          </a:solidFill>
          <a:ln>
            <a:solidFill>
              <a:schemeClr val="bg1">
                <a:lumMod val="95000"/>
              </a:schemeClr>
            </a:solidFill>
          </a:ln>
        </p:spPr>
        <p:txBody>
          <a:bodyPr/>
          <a:lstStyle/>
          <a:p>
            <a:r>
              <a:rPr lang="en-SG" b="1" dirty="0">
                <a:solidFill>
                  <a:schemeClr val="bg1"/>
                </a:solidFill>
              </a:rPr>
              <a:t>Problem Framing</a:t>
            </a:r>
          </a:p>
        </p:txBody>
      </p:sp>
      <p:sp>
        <p:nvSpPr>
          <p:cNvPr id="5" name="Footer Placeholder 2">
            <a:extLst>
              <a:ext uri="{FF2B5EF4-FFF2-40B4-BE49-F238E27FC236}">
                <a16:creationId xmlns:a16="http://schemas.microsoft.com/office/drawing/2014/main" id="{2C72A01C-42C2-875E-F216-DE24BE729E89}"/>
              </a:ext>
            </a:extLst>
          </p:cNvPr>
          <p:cNvSpPr txBox="1">
            <a:spLocks/>
          </p:cNvSpPr>
          <p:nvPr/>
        </p:nvSpPr>
        <p:spPr>
          <a:xfrm>
            <a:off x="9863192" y="6544638"/>
            <a:ext cx="1164404" cy="313362"/>
          </a:xfrm>
          <a:prstGeom prst="rect">
            <a:avLst/>
          </a:prstGeom>
          <a:solidFill>
            <a:srgbClr val="A53010">
              <a:alpha val="50196"/>
            </a:srgbClr>
          </a:solidFill>
          <a:ln>
            <a:solidFill>
              <a:schemeClr val="bg1">
                <a:lumMod val="95000"/>
              </a:schemeClr>
            </a:solidFill>
          </a:ln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457200" rtl="0" eaLnBrk="1" latinLnBrk="0" hangingPunct="1">
              <a:defRPr sz="9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SG" b="1" dirty="0">
                <a:solidFill>
                  <a:schemeClr val="bg1"/>
                </a:solidFill>
              </a:rPr>
              <a:t>Key Results &amp; Insights</a:t>
            </a:r>
          </a:p>
        </p:txBody>
      </p:sp>
      <p:sp>
        <p:nvSpPr>
          <p:cNvPr id="6" name="Footer Placeholder 2">
            <a:extLst>
              <a:ext uri="{FF2B5EF4-FFF2-40B4-BE49-F238E27FC236}">
                <a16:creationId xmlns:a16="http://schemas.microsoft.com/office/drawing/2014/main" id="{0B26C60F-7441-3A8E-7328-70D98FB1DE8C}"/>
              </a:ext>
            </a:extLst>
          </p:cNvPr>
          <p:cNvSpPr txBox="1">
            <a:spLocks/>
          </p:cNvSpPr>
          <p:nvPr/>
        </p:nvSpPr>
        <p:spPr>
          <a:xfrm>
            <a:off x="11027596" y="6544638"/>
            <a:ext cx="1164404" cy="313362"/>
          </a:xfrm>
          <a:prstGeom prst="rect">
            <a:avLst/>
          </a:prstGeom>
          <a:solidFill>
            <a:srgbClr val="A53010">
              <a:alpha val="50196"/>
            </a:srgbClr>
          </a:solidFill>
          <a:ln>
            <a:solidFill>
              <a:schemeClr val="bg1">
                <a:lumMod val="95000"/>
              </a:schemeClr>
            </a:solidFill>
          </a:ln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457200" rtl="0" eaLnBrk="1" latinLnBrk="0" hangingPunct="1">
              <a:defRPr sz="9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SG" b="1" dirty="0">
                <a:solidFill>
                  <a:schemeClr val="bg1"/>
                </a:solidFill>
              </a:rPr>
              <a:t>Systems &amp; Decisions</a:t>
            </a:r>
          </a:p>
        </p:txBody>
      </p:sp>
    </p:spTree>
    <p:extLst>
      <p:ext uri="{BB962C8B-B14F-4D97-AF65-F5344CB8AC3E}">
        <p14:creationId xmlns:p14="http://schemas.microsoft.com/office/powerpoint/2010/main" val="366109439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3C378BB-1622-9EA6-4E4B-AC7670D726C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170AAE-646C-7CC7-565C-2746292BC6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SG" dirty="0"/>
              <a:t>Experiment Design (A/B Testing)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F3D6EF6-3973-C35C-C919-245D918D82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698789" y="6544638"/>
            <a:ext cx="1164404" cy="313362"/>
          </a:xfrm>
          <a:solidFill>
            <a:srgbClr val="A53010">
              <a:alpha val="74902"/>
            </a:srgbClr>
          </a:solidFill>
          <a:ln>
            <a:solidFill>
              <a:schemeClr val="bg1">
                <a:lumMod val="95000"/>
              </a:schemeClr>
            </a:solidFill>
          </a:ln>
        </p:spPr>
        <p:txBody>
          <a:bodyPr/>
          <a:lstStyle/>
          <a:p>
            <a:r>
              <a:rPr lang="en-SG" b="1" dirty="0">
                <a:solidFill>
                  <a:schemeClr val="bg1"/>
                </a:solidFill>
              </a:rPr>
              <a:t>Problem Framing</a:t>
            </a:r>
          </a:p>
        </p:txBody>
      </p:sp>
      <p:sp>
        <p:nvSpPr>
          <p:cNvPr id="4" name="Footer Placeholder 2">
            <a:extLst>
              <a:ext uri="{FF2B5EF4-FFF2-40B4-BE49-F238E27FC236}">
                <a16:creationId xmlns:a16="http://schemas.microsoft.com/office/drawing/2014/main" id="{DD7B9F03-4736-0397-EF33-2E3B34813F6E}"/>
              </a:ext>
            </a:extLst>
          </p:cNvPr>
          <p:cNvSpPr txBox="1">
            <a:spLocks/>
          </p:cNvSpPr>
          <p:nvPr/>
        </p:nvSpPr>
        <p:spPr>
          <a:xfrm>
            <a:off x="9863192" y="6544638"/>
            <a:ext cx="1164404" cy="313362"/>
          </a:xfrm>
          <a:prstGeom prst="rect">
            <a:avLst/>
          </a:prstGeom>
          <a:solidFill>
            <a:srgbClr val="A53010">
              <a:alpha val="50196"/>
            </a:srgbClr>
          </a:solidFill>
          <a:ln>
            <a:solidFill>
              <a:schemeClr val="bg1">
                <a:lumMod val="95000"/>
              </a:schemeClr>
            </a:solidFill>
          </a:ln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457200" rtl="0" eaLnBrk="1" latinLnBrk="0" hangingPunct="1">
              <a:defRPr sz="9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SG" b="1" dirty="0">
                <a:solidFill>
                  <a:schemeClr val="bg1"/>
                </a:solidFill>
              </a:rPr>
              <a:t>Key Results &amp; Insights</a:t>
            </a:r>
          </a:p>
        </p:txBody>
      </p:sp>
      <p:sp>
        <p:nvSpPr>
          <p:cNvPr id="5" name="Footer Placeholder 2">
            <a:extLst>
              <a:ext uri="{FF2B5EF4-FFF2-40B4-BE49-F238E27FC236}">
                <a16:creationId xmlns:a16="http://schemas.microsoft.com/office/drawing/2014/main" id="{C70F9943-B05F-63A1-EE99-4FDCBF7C3A24}"/>
              </a:ext>
            </a:extLst>
          </p:cNvPr>
          <p:cNvSpPr txBox="1">
            <a:spLocks/>
          </p:cNvSpPr>
          <p:nvPr/>
        </p:nvSpPr>
        <p:spPr>
          <a:xfrm>
            <a:off x="11027596" y="6544638"/>
            <a:ext cx="1164404" cy="313362"/>
          </a:xfrm>
          <a:prstGeom prst="rect">
            <a:avLst/>
          </a:prstGeom>
          <a:solidFill>
            <a:srgbClr val="A53010">
              <a:alpha val="50196"/>
            </a:srgbClr>
          </a:solidFill>
          <a:ln>
            <a:solidFill>
              <a:schemeClr val="bg1">
                <a:lumMod val="95000"/>
              </a:schemeClr>
            </a:solidFill>
          </a:ln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457200" rtl="0" eaLnBrk="1" latinLnBrk="0" hangingPunct="1">
              <a:defRPr sz="9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SG" b="1" dirty="0">
                <a:solidFill>
                  <a:schemeClr val="bg1"/>
                </a:solidFill>
              </a:rPr>
              <a:t>Systems &amp; Decisions</a:t>
            </a:r>
          </a:p>
        </p:txBody>
      </p:sp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C89D5137-8D52-F8B7-C272-888E9E594F6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73153835"/>
              </p:ext>
            </p:extLst>
          </p:nvPr>
        </p:nvGraphicFramePr>
        <p:xfrm>
          <a:off x="660993" y="1733079"/>
          <a:ext cx="10870015" cy="24917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12981">
                  <a:extLst>
                    <a:ext uri="{9D8B030D-6E8A-4147-A177-3AD203B41FA5}">
                      <a16:colId xmlns:a16="http://schemas.microsoft.com/office/drawing/2014/main" val="3047676837"/>
                    </a:ext>
                  </a:extLst>
                </a:gridCol>
                <a:gridCol w="4538104">
                  <a:extLst>
                    <a:ext uri="{9D8B030D-6E8A-4147-A177-3AD203B41FA5}">
                      <a16:colId xmlns:a16="http://schemas.microsoft.com/office/drawing/2014/main" val="3170944857"/>
                    </a:ext>
                  </a:extLst>
                </a:gridCol>
                <a:gridCol w="3818930">
                  <a:extLst>
                    <a:ext uri="{9D8B030D-6E8A-4147-A177-3AD203B41FA5}">
                      <a16:colId xmlns:a16="http://schemas.microsoft.com/office/drawing/2014/main" val="2081168023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just"/>
                      <a:r>
                        <a:rPr lang="en-SG" sz="1200" dirty="0">
                          <a:latin typeface="Century Gothic (Body)"/>
                        </a:rPr>
                        <a:t>Element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just"/>
                      <a:r>
                        <a:rPr lang="en-SG" sz="1200" dirty="0">
                          <a:latin typeface="Century Gothic (Body)"/>
                        </a:rPr>
                        <a:t>Choice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just"/>
                      <a:r>
                        <a:rPr lang="en-SG" sz="1200" dirty="0">
                          <a:latin typeface="Century Gothic (Body)"/>
                        </a:rPr>
                        <a:t>Why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8092739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en-SG" sz="1200" b="1" dirty="0">
                          <a:solidFill>
                            <a:schemeClr val="tx1"/>
                          </a:solidFill>
                          <a:effectLst/>
                          <a:latin typeface="Century Gothic (Body)"/>
                        </a:rPr>
                        <a:t>Treatment (Customers)</a:t>
                      </a:r>
                    </a:p>
                  </a:txBody>
                  <a:tcPr marL="95250" marR="95250" marT="47625" marB="47625" anchor="ctr"/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en-SG" sz="1200" dirty="0">
                          <a:solidFill>
                            <a:schemeClr val="tx1"/>
                          </a:solidFill>
                          <a:effectLst/>
                          <a:latin typeface="Century Gothic (Body)"/>
                        </a:rPr>
                        <a:t>Received any marketing email</a:t>
                      </a:r>
                    </a:p>
                  </a:txBody>
                  <a:tcPr marL="95250" marR="95250" marT="47625" marB="47625" anchor="ctr"/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en-SG" sz="1200" dirty="0">
                          <a:solidFill>
                            <a:schemeClr val="tx1"/>
                          </a:solidFill>
                          <a:effectLst/>
                          <a:latin typeface="Century Gothic (Body)"/>
                        </a:rPr>
                        <a:t>Enables measurement of the </a:t>
                      </a:r>
                      <a:r>
                        <a:rPr lang="en-SG" sz="1200" b="1" dirty="0">
                          <a:solidFill>
                            <a:schemeClr val="tx1"/>
                          </a:solidFill>
                          <a:effectLst/>
                          <a:latin typeface="Century Gothic (Body)"/>
                        </a:rPr>
                        <a:t>treatment effect</a:t>
                      </a:r>
                      <a:r>
                        <a:rPr lang="en-SG" sz="1200" dirty="0">
                          <a:solidFill>
                            <a:schemeClr val="tx1"/>
                          </a:solidFill>
                          <a:effectLst/>
                          <a:latin typeface="Century Gothic (Body)"/>
                        </a:rPr>
                        <a:t> of sending email</a:t>
                      </a:r>
                    </a:p>
                  </a:txBody>
                  <a:tcPr marL="95250" marR="95250" marT="47625" marB="47625" anchor="ctr"/>
                </a:tc>
                <a:extLst>
                  <a:ext uri="{0D108BD9-81ED-4DB2-BD59-A6C34878D82A}">
                    <a16:rowId xmlns:a16="http://schemas.microsoft.com/office/drawing/2014/main" val="85986456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en-SG" sz="1200" b="1" dirty="0">
                          <a:solidFill>
                            <a:schemeClr val="tx1"/>
                          </a:solidFill>
                          <a:effectLst/>
                          <a:latin typeface="Century Gothic (Body)"/>
                        </a:rPr>
                        <a:t>Control (Customers)</a:t>
                      </a:r>
                    </a:p>
                  </a:txBody>
                  <a:tcPr marL="95250" marR="95250" marT="47625" marB="47625" anchor="ctr"/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en-SG" sz="1200" dirty="0">
                          <a:solidFill>
                            <a:schemeClr val="tx1"/>
                          </a:solidFill>
                          <a:effectLst/>
                          <a:latin typeface="Century Gothic (Body)"/>
                        </a:rPr>
                        <a:t>Received no email</a:t>
                      </a:r>
                    </a:p>
                  </a:txBody>
                  <a:tcPr marL="95250" marR="95250" marT="47625" marB="47625" anchor="ctr"/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en-SG" sz="1200" dirty="0">
                          <a:solidFill>
                            <a:schemeClr val="tx1"/>
                          </a:solidFill>
                          <a:effectLst/>
                          <a:latin typeface="Century Gothic (Body)"/>
                        </a:rPr>
                        <a:t>Provides the causal </a:t>
                      </a:r>
                      <a:r>
                        <a:rPr lang="en-SG" sz="1200" b="1" dirty="0">
                          <a:solidFill>
                            <a:schemeClr val="tx1"/>
                          </a:solidFill>
                          <a:effectLst/>
                          <a:latin typeface="Century Gothic (Body)"/>
                        </a:rPr>
                        <a:t>baseline</a:t>
                      </a:r>
                    </a:p>
                  </a:txBody>
                  <a:tcPr marL="95250" marR="95250" marT="47625" marB="47625" anchor="ctr"/>
                </a:tc>
                <a:extLst>
                  <a:ext uri="{0D108BD9-81ED-4DB2-BD59-A6C34878D82A}">
                    <a16:rowId xmlns:a16="http://schemas.microsoft.com/office/drawing/2014/main" val="155635024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en-SG" sz="1200" b="1" dirty="0">
                          <a:solidFill>
                            <a:schemeClr val="tx1"/>
                          </a:solidFill>
                          <a:effectLst/>
                          <a:latin typeface="Century Gothic (Body)"/>
                        </a:rPr>
                        <a:t>Assignment</a:t>
                      </a:r>
                    </a:p>
                  </a:txBody>
                  <a:tcPr marL="95250" marR="95250" marT="47625" marB="47625" anchor="ctr"/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en-SG" sz="1200" b="1" dirty="0">
                          <a:solidFill>
                            <a:schemeClr val="tx1"/>
                          </a:solidFill>
                          <a:effectLst/>
                          <a:latin typeface="Century Gothic (Body)"/>
                        </a:rPr>
                        <a:t>Randomized assignment</a:t>
                      </a:r>
                    </a:p>
                  </a:txBody>
                  <a:tcPr marL="95250" marR="95250" marT="47625" marB="47625" anchor="ctr"/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en-SG" sz="1200" dirty="0">
                          <a:solidFill>
                            <a:schemeClr val="tx1"/>
                          </a:solidFill>
                          <a:effectLst/>
                          <a:latin typeface="Century Gothic (Body)"/>
                        </a:rPr>
                        <a:t>Makes comparisons credible</a:t>
                      </a:r>
                    </a:p>
                  </a:txBody>
                  <a:tcPr marL="95250" marR="95250" marT="47625" marB="47625" anchor="ctr"/>
                </a:tc>
                <a:extLst>
                  <a:ext uri="{0D108BD9-81ED-4DB2-BD59-A6C34878D82A}">
                    <a16:rowId xmlns:a16="http://schemas.microsoft.com/office/drawing/2014/main" val="34723446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en-SG" sz="1200" b="1" dirty="0">
                          <a:solidFill>
                            <a:schemeClr val="tx1"/>
                          </a:solidFill>
                          <a:effectLst/>
                          <a:latin typeface="Century Gothic (Body)"/>
                        </a:rPr>
                        <a:t>Primary outcome</a:t>
                      </a:r>
                      <a:r>
                        <a:rPr lang="en-SG" sz="1200" b="1" baseline="30000" dirty="0">
                          <a:solidFill>
                            <a:schemeClr val="tx1"/>
                          </a:solidFill>
                          <a:effectLst/>
                          <a:latin typeface="Century Gothic (Body)"/>
                        </a:rPr>
                        <a:t>1</a:t>
                      </a:r>
                    </a:p>
                  </a:txBody>
                  <a:tcPr marL="95250" marR="95250" marT="47625" marB="47625" anchor="ctr"/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en-SG" sz="1200" b="0" i="1" dirty="0">
                          <a:solidFill>
                            <a:schemeClr val="tx1"/>
                          </a:solidFill>
                          <a:effectLst/>
                          <a:latin typeface="Century Gothic (Body)"/>
                        </a:rPr>
                        <a:t>`conversion` </a:t>
                      </a:r>
                      <a:r>
                        <a:rPr lang="en-SG" sz="1200" b="0" dirty="0">
                          <a:latin typeface="Century Gothic (Body)"/>
                        </a:rPr>
                        <a:t>– purchase (binary)</a:t>
                      </a:r>
                      <a:endParaRPr lang="en-SG" sz="1200" b="0" i="1" dirty="0">
                        <a:solidFill>
                          <a:schemeClr val="tx1"/>
                        </a:solidFill>
                        <a:effectLst/>
                        <a:latin typeface="Century Gothic (Body)"/>
                      </a:endParaRPr>
                    </a:p>
                  </a:txBody>
                  <a:tcPr marL="95250" marR="95250" marT="47625" marB="47625" anchor="ctr"/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en-SG" sz="1200" b="1" dirty="0">
                          <a:solidFill>
                            <a:schemeClr val="tx1"/>
                          </a:solidFill>
                          <a:effectLst/>
                          <a:latin typeface="Century Gothic (Body)"/>
                        </a:rPr>
                        <a:t>Direct link to business value</a:t>
                      </a:r>
                    </a:p>
                  </a:txBody>
                  <a:tcPr marL="95250" marR="95250" marT="47625" marB="47625" anchor="ctr"/>
                </a:tc>
                <a:extLst>
                  <a:ext uri="{0D108BD9-81ED-4DB2-BD59-A6C34878D82A}">
                    <a16:rowId xmlns:a16="http://schemas.microsoft.com/office/drawing/2014/main" val="183648971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en-SG" sz="1200" b="1" dirty="0">
                          <a:solidFill>
                            <a:schemeClr val="tx1"/>
                          </a:solidFill>
                          <a:effectLst/>
                          <a:latin typeface="Century Gothic (Body)"/>
                        </a:rPr>
                        <a:t>Supporting outcomes</a:t>
                      </a:r>
                      <a:r>
                        <a:rPr lang="en-SG" sz="1200" b="1" baseline="30000" dirty="0">
                          <a:solidFill>
                            <a:schemeClr val="tx1"/>
                          </a:solidFill>
                          <a:effectLst/>
                          <a:latin typeface="Century Gothic (Body)"/>
                        </a:rPr>
                        <a:t>1</a:t>
                      </a:r>
                    </a:p>
                  </a:txBody>
                  <a:tcPr marL="95250" marR="95250" marT="47625" marB="47625" anchor="ctr"/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en-SG" sz="1200" b="0" i="1" dirty="0">
                          <a:solidFill>
                            <a:schemeClr val="tx1"/>
                          </a:solidFill>
                          <a:effectLst/>
                          <a:latin typeface="Century Gothic (Body)"/>
                        </a:rPr>
                        <a:t>`spend` </a:t>
                      </a:r>
                      <a:r>
                        <a:rPr lang="en-SG" sz="1200" b="0" dirty="0">
                          <a:latin typeface="Century Gothic (Body)"/>
                        </a:rPr>
                        <a:t>–</a:t>
                      </a:r>
                      <a:r>
                        <a:rPr lang="en-SG" sz="1200" b="0" i="0" dirty="0">
                          <a:solidFill>
                            <a:schemeClr val="dk1"/>
                          </a:solidFill>
                          <a:effectLst/>
                          <a:latin typeface="Century Gothic (Body)"/>
                        </a:rPr>
                        <a:t> spend dollars</a:t>
                      </a:r>
                    </a:p>
                    <a:p>
                      <a:pPr algn="just">
                        <a:buNone/>
                      </a:pPr>
                      <a:endParaRPr lang="en-SG" sz="1200" b="0" i="0" dirty="0">
                        <a:solidFill>
                          <a:schemeClr val="dk1"/>
                        </a:solidFill>
                        <a:effectLst/>
                        <a:latin typeface="Century Gothic (Body)"/>
                      </a:endParaRPr>
                    </a:p>
                  </a:txBody>
                  <a:tcPr marL="95250" marR="95250" marT="47625" marB="47625" anchor="ctr"/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en-SG" sz="1200" dirty="0">
                          <a:solidFill>
                            <a:schemeClr val="tx1"/>
                          </a:solidFill>
                          <a:effectLst/>
                          <a:latin typeface="Century Gothic (Body)"/>
                        </a:rPr>
                        <a:t>Adds </a:t>
                      </a:r>
                      <a:r>
                        <a:rPr lang="en-SG" sz="1200" b="1" dirty="0">
                          <a:solidFill>
                            <a:schemeClr val="tx1"/>
                          </a:solidFill>
                          <a:effectLst/>
                          <a:latin typeface="Century Gothic (Body)"/>
                        </a:rPr>
                        <a:t>business value context</a:t>
                      </a:r>
                    </a:p>
                  </a:txBody>
                  <a:tcPr marL="95250" marR="95250" marT="47625" marB="47625" anchor="ctr"/>
                </a:tc>
                <a:extLst>
                  <a:ext uri="{0D108BD9-81ED-4DB2-BD59-A6C34878D82A}">
                    <a16:rowId xmlns:a16="http://schemas.microsoft.com/office/drawing/2014/main" val="180013271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algn="just" defTabSz="457200" rtl="0" eaLnBrk="1" latinLnBrk="0" hangingPunct="1">
                        <a:buNone/>
                      </a:pPr>
                      <a:r>
                        <a:rPr lang="en-SG" sz="1200" b="1" kern="1200" dirty="0">
                          <a:solidFill>
                            <a:schemeClr val="tx1"/>
                          </a:solidFill>
                          <a:effectLst/>
                          <a:latin typeface="Century Gothic (Body)"/>
                          <a:ea typeface="+mn-ea"/>
                          <a:cs typeface="+mn-cs"/>
                        </a:rPr>
                        <a:t>Customer features</a:t>
                      </a:r>
                    </a:p>
                  </a:txBody>
                  <a:tcPr marL="95250" marR="95250" marT="47625" marB="47625" anchor="ctr"/>
                </a:tc>
                <a:tc>
                  <a:txBody>
                    <a:bodyPr/>
                    <a:lstStyle/>
                    <a:p>
                      <a:pPr marL="0" algn="just" defTabSz="457200" rtl="0" eaLnBrk="1" latinLnBrk="0" hangingPunct="1">
                        <a:buNone/>
                      </a:pPr>
                      <a:r>
                        <a:rPr lang="en-SG" sz="1200" b="0" i="1" kern="1200" dirty="0">
                          <a:solidFill>
                            <a:schemeClr val="tx1"/>
                          </a:solidFill>
                          <a:effectLst/>
                          <a:latin typeface="Century Gothic (Body)"/>
                          <a:ea typeface="+mn-ea"/>
                          <a:cs typeface="+mn-cs"/>
                        </a:rPr>
                        <a:t>`history` </a:t>
                      </a:r>
                      <a:r>
                        <a:rPr lang="en-SG" sz="1200" b="0" i="0" dirty="0">
                          <a:latin typeface="Century Gothic (Body)"/>
                        </a:rPr>
                        <a:t>– </a:t>
                      </a:r>
                      <a:r>
                        <a:rPr lang="en-SG" sz="1200" b="0" i="0" kern="1200" dirty="0">
                          <a:solidFill>
                            <a:schemeClr val="tx1"/>
                          </a:solidFill>
                          <a:effectLst/>
                          <a:latin typeface="Century Gothic (Body)"/>
                          <a:ea typeface="+mn-ea"/>
                          <a:cs typeface="+mn-cs"/>
                        </a:rPr>
                        <a:t>actual dollars spent in the prior year</a:t>
                      </a:r>
                    </a:p>
                    <a:p>
                      <a:pPr marL="0" algn="just" defTabSz="457200" rtl="0" eaLnBrk="1" latinLnBrk="0" hangingPunct="1">
                        <a:buNone/>
                      </a:pPr>
                      <a:endParaRPr lang="en-SG" sz="1200" b="0" i="0" kern="1200" dirty="0">
                        <a:solidFill>
                          <a:schemeClr val="tx1"/>
                        </a:solidFill>
                        <a:effectLst/>
                        <a:latin typeface="Century Gothic (Body)"/>
                        <a:ea typeface="+mn-ea"/>
                        <a:cs typeface="+mn-cs"/>
                      </a:endParaRPr>
                    </a:p>
                  </a:txBody>
                  <a:tcPr marL="95250" marR="95250" marT="47625" marB="47625" anchor="ctr"/>
                </a:tc>
                <a:tc>
                  <a:txBody>
                    <a:bodyPr/>
                    <a:lstStyle/>
                    <a:p>
                      <a:pPr marL="0" algn="just" defTabSz="457200" rtl="0" eaLnBrk="1" latinLnBrk="0" hangingPunct="1">
                        <a:buNone/>
                      </a:pPr>
                      <a:r>
                        <a:rPr lang="en-SG" sz="1200" kern="1200" dirty="0">
                          <a:solidFill>
                            <a:schemeClr val="tx1"/>
                          </a:solidFill>
                          <a:effectLst/>
                          <a:latin typeface="Century Gothic (Body)"/>
                          <a:ea typeface="+mn-ea"/>
                          <a:cs typeface="+mn-cs"/>
                        </a:rPr>
                        <a:t>Enables targeting and segment-level analysis</a:t>
                      </a:r>
                    </a:p>
                  </a:txBody>
                  <a:tcPr marL="95250" marR="95250" marT="47625" marB="47625" anchor="ctr"/>
                </a:tc>
                <a:extLst>
                  <a:ext uri="{0D108BD9-81ED-4DB2-BD59-A6C34878D82A}">
                    <a16:rowId xmlns:a16="http://schemas.microsoft.com/office/drawing/2014/main" val="3098497052"/>
                  </a:ext>
                </a:extLst>
              </a:tr>
            </a:tbl>
          </a:graphicData>
        </a:graphic>
      </p:graphicFrame>
      <p:sp>
        <p:nvSpPr>
          <p:cNvPr id="11" name="TextBox 10">
            <a:extLst>
              <a:ext uri="{FF2B5EF4-FFF2-40B4-BE49-F238E27FC236}">
                <a16:creationId xmlns:a16="http://schemas.microsoft.com/office/drawing/2014/main" id="{8BE1F217-B533-0ADD-EAAA-DC7B34AE45DA}"/>
              </a:ext>
            </a:extLst>
          </p:cNvPr>
          <p:cNvSpPr txBox="1"/>
          <p:nvPr/>
        </p:nvSpPr>
        <p:spPr>
          <a:xfrm>
            <a:off x="660993" y="4626733"/>
            <a:ext cx="7918563" cy="1477328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pPr algn="just"/>
            <a:r>
              <a:rPr lang="en-SG" sz="1400" b="1" dirty="0"/>
              <a:t>Key Takeaway: Randomization enables causal lift measurement, </a:t>
            </a:r>
            <a:r>
              <a:rPr lang="en-SG" sz="1400" dirty="0"/>
              <a:t>by linking conversion (primary outcome), revenue impact, and segment-level analysis.</a:t>
            </a:r>
          </a:p>
          <a:p>
            <a:pPr algn="just"/>
            <a:endParaRPr lang="en-SG" sz="600" b="1" dirty="0"/>
          </a:p>
          <a:p>
            <a:pPr algn="just"/>
            <a:r>
              <a:rPr lang="en-SG" sz="1400" b="1" dirty="0"/>
              <a:t>Evaluation Criteria</a:t>
            </a:r>
          </a:p>
          <a:p>
            <a:pPr marL="285750" indent="-285750" algn="just">
              <a:buFont typeface="Wingdings" panose="05000000000000000000" pitchFamily="2" charset="2"/>
              <a:buChar char="Ø"/>
            </a:pPr>
            <a:r>
              <a:rPr lang="en-SG" sz="1400" b="1" dirty="0"/>
              <a:t>Conversion lift (treatment vs control) </a:t>
            </a:r>
          </a:p>
          <a:p>
            <a:pPr marL="285750" indent="-285750" algn="just">
              <a:buFont typeface="Wingdings" panose="05000000000000000000" pitchFamily="2" charset="2"/>
              <a:buChar char="Ø"/>
            </a:pPr>
            <a:r>
              <a:rPr lang="en-SG" sz="1400" b="1" dirty="0"/>
              <a:t>Statistical significance (confidence)</a:t>
            </a:r>
          </a:p>
          <a:p>
            <a:pPr marL="285750" indent="-285750" algn="just">
              <a:buFont typeface="Wingdings" panose="05000000000000000000" pitchFamily="2" charset="2"/>
              <a:buChar char="Ø"/>
            </a:pPr>
            <a:r>
              <a:rPr lang="en-SG" sz="1400" b="1" dirty="0"/>
              <a:t>ROI / unit economics (</a:t>
            </a:r>
            <a:r>
              <a:rPr lang="en-SG" sz="1400" b="1"/>
              <a:t>break-even threshold)</a:t>
            </a:r>
            <a:endParaRPr lang="en-SG" sz="1400" b="1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E763C794-C0F7-C1DE-2DD9-934255EBD388}"/>
              </a:ext>
            </a:extLst>
          </p:cNvPr>
          <p:cNvSpPr txBox="1"/>
          <p:nvPr/>
        </p:nvSpPr>
        <p:spPr>
          <a:xfrm>
            <a:off x="1445091" y="6596390"/>
            <a:ext cx="4384209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SG" sz="1000" b="1" i="1" dirty="0"/>
              <a:t>Note 1: Outcomes measured within 2 weeks post-treatment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91BEF0E2-0CA2-5FF7-E5DF-1A32D368F5F6}"/>
              </a:ext>
            </a:extLst>
          </p:cNvPr>
          <p:cNvSpPr txBox="1"/>
          <p:nvPr/>
        </p:nvSpPr>
        <p:spPr>
          <a:xfrm>
            <a:off x="621902" y="1285937"/>
            <a:ext cx="8977174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SG" sz="1400" b="1" dirty="0"/>
              <a:t>Original randomized design reused and adapted for incremental impact and budget decisions</a:t>
            </a:r>
          </a:p>
        </p:txBody>
      </p:sp>
    </p:spTree>
    <p:extLst>
      <p:ext uri="{BB962C8B-B14F-4D97-AF65-F5344CB8AC3E}">
        <p14:creationId xmlns:p14="http://schemas.microsoft.com/office/powerpoint/2010/main" val="373940923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2">
                <a:tint val="90000"/>
                <a:satMod val="92000"/>
                <a:lumMod val="120000"/>
              </a:schemeClr>
            </a:gs>
            <a:gs pos="100000">
              <a:schemeClr val="bg2">
                <a:shade val="98000"/>
                <a:satMod val="120000"/>
                <a:lumMod val="98000"/>
              </a:schemeClr>
            </a:gs>
          </a:gsLst>
          <a:path path="circle">
            <a:fillToRect l="50000" t="50000" r="100000" b="100000"/>
          </a:path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50D948B-F930-47FC-B923-07C47792241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Title 1">
            <a:extLst>
              <a:ext uri="{FF2B5EF4-FFF2-40B4-BE49-F238E27FC236}">
                <a16:creationId xmlns:a16="http://schemas.microsoft.com/office/drawing/2014/main" id="{8C205851-4A2E-12D6-5715-693731C44B5E}"/>
              </a:ext>
            </a:extLst>
          </p:cNvPr>
          <p:cNvSpPr txBox="1">
            <a:spLocks/>
          </p:cNvSpPr>
          <p:nvPr/>
        </p:nvSpPr>
        <p:spPr>
          <a:xfrm>
            <a:off x="2592924" y="624111"/>
            <a:ext cx="8911687" cy="624832"/>
          </a:xfrm>
          <a:prstGeom prst="rect">
            <a:avLst/>
          </a:prstGeom>
        </p:spPr>
        <p:txBody>
          <a:bodyPr vert="horz" lIns="91440" tIns="45720" rIns="91440" bIns="45720" rtlCol="0" anchor="t">
            <a:normAutofit lnSpcReduction="10000"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3600" kern="120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en-SG" dirty="0"/>
              <a:t>Key Results &amp; Insights</a:t>
            </a:r>
          </a:p>
        </p:txBody>
      </p:sp>
      <p:sp>
        <p:nvSpPr>
          <p:cNvPr id="25" name="Content Placeholder 4">
            <a:extLst>
              <a:ext uri="{FF2B5EF4-FFF2-40B4-BE49-F238E27FC236}">
                <a16:creationId xmlns:a16="http://schemas.microsoft.com/office/drawing/2014/main" id="{2006A4FC-8659-BFC6-ADED-4B07EFD3BE41}"/>
              </a:ext>
            </a:extLst>
          </p:cNvPr>
          <p:cNvSpPr txBox="1">
            <a:spLocks/>
          </p:cNvSpPr>
          <p:nvPr/>
        </p:nvSpPr>
        <p:spPr>
          <a:xfrm>
            <a:off x="675362" y="4457001"/>
            <a:ext cx="8023426" cy="2087637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just">
              <a:buNone/>
            </a:pPr>
            <a:r>
              <a:rPr lang="en-SG" sz="1400" b="1" u="sng" dirty="0">
                <a:solidFill>
                  <a:schemeClr val="tx1"/>
                </a:solidFill>
              </a:rPr>
              <a:t>Key Takeaway</a:t>
            </a:r>
          </a:p>
          <a:p>
            <a:pPr algn="just">
              <a:buFont typeface="Wingdings" panose="05000000000000000000" pitchFamily="2" charset="2"/>
              <a:buChar char="Ø"/>
            </a:pPr>
            <a:r>
              <a:rPr lang="en-SG" sz="1400" b="1" dirty="0">
                <a:solidFill>
                  <a:schemeClr val="tx1"/>
                </a:solidFill>
              </a:rPr>
              <a:t>Conversion rate (CVR): </a:t>
            </a:r>
            <a:r>
              <a:rPr lang="en-SG" sz="1400" dirty="0">
                <a:solidFill>
                  <a:schemeClr val="tx1"/>
                </a:solidFill>
              </a:rPr>
              <a:t>1.07% vs 0.57% (control)</a:t>
            </a:r>
          </a:p>
          <a:p>
            <a:pPr algn="just">
              <a:buFont typeface="Wingdings" panose="05000000000000000000" pitchFamily="2" charset="2"/>
              <a:buChar char="Ø"/>
            </a:pPr>
            <a:r>
              <a:rPr lang="en-SG" sz="1400" b="1" dirty="0">
                <a:solidFill>
                  <a:schemeClr val="tx1"/>
                </a:solidFill>
              </a:rPr>
              <a:t>CVR absolute lift: </a:t>
            </a:r>
            <a:r>
              <a:rPr lang="en-SG" sz="1400" dirty="0">
                <a:solidFill>
                  <a:schemeClr val="tx1"/>
                </a:solidFill>
              </a:rPr>
              <a:t>+0.50pp (~+86.5% relative)</a:t>
            </a:r>
          </a:p>
          <a:p>
            <a:pPr algn="just">
              <a:buFont typeface="Wingdings" panose="05000000000000000000" pitchFamily="2" charset="2"/>
              <a:buChar char="Ø"/>
            </a:pPr>
            <a:r>
              <a:rPr lang="en-SG" sz="1400" b="1" dirty="0">
                <a:solidFill>
                  <a:schemeClr val="tx1"/>
                </a:solidFill>
              </a:rPr>
              <a:t>Revenue per user: </a:t>
            </a:r>
            <a:r>
              <a:rPr lang="en-SG" sz="1400" dirty="0">
                <a:solidFill>
                  <a:schemeClr val="tx1"/>
                </a:solidFill>
              </a:rPr>
              <a:t>$1.25 vs $0.65 (+$0.60)</a:t>
            </a:r>
          </a:p>
          <a:p>
            <a:pPr algn="just">
              <a:buFont typeface="Wingdings" panose="05000000000000000000" pitchFamily="2" charset="2"/>
              <a:buChar char="Ø"/>
            </a:pPr>
            <a:r>
              <a:rPr lang="en-SG" sz="1400" b="1" dirty="0">
                <a:solidFill>
                  <a:schemeClr val="tx1"/>
                </a:solidFill>
              </a:rPr>
              <a:t>Lift is commercially meaningful </a:t>
            </a:r>
            <a:r>
              <a:rPr lang="en-SG" sz="1400" dirty="0">
                <a:solidFill>
                  <a:schemeClr val="tx1"/>
                </a:solidFill>
              </a:rPr>
              <a:t>and clears the first decision gate for further evaluation</a:t>
            </a:r>
          </a:p>
          <a:p>
            <a:pPr algn="just">
              <a:buFont typeface="Wingdings" panose="05000000000000000000" pitchFamily="2" charset="2"/>
              <a:buChar char="Ø"/>
            </a:pPr>
            <a:r>
              <a:rPr lang="en-SG" sz="1400" b="1" dirty="0">
                <a:solidFill>
                  <a:schemeClr val="tx1"/>
                </a:solidFill>
              </a:rPr>
              <a:t>Next: Validate statistical significance</a:t>
            </a:r>
            <a:r>
              <a:rPr lang="en-SG" sz="1400" dirty="0">
                <a:solidFill>
                  <a:schemeClr val="tx1"/>
                </a:solidFill>
              </a:rPr>
              <a:t> (confirm effect is not due to random variation)</a:t>
            </a:r>
          </a:p>
        </p:txBody>
      </p:sp>
      <p:sp>
        <p:nvSpPr>
          <p:cNvPr id="2" name="Footer Placeholder 2">
            <a:extLst>
              <a:ext uri="{FF2B5EF4-FFF2-40B4-BE49-F238E27FC236}">
                <a16:creationId xmlns:a16="http://schemas.microsoft.com/office/drawing/2014/main" id="{6F723062-AC58-40BC-4079-F7CCDA5DDB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698789" y="6544638"/>
            <a:ext cx="1164404" cy="313362"/>
          </a:xfrm>
          <a:solidFill>
            <a:srgbClr val="A53010">
              <a:alpha val="50196"/>
            </a:srgbClr>
          </a:solidFill>
          <a:ln>
            <a:solidFill>
              <a:schemeClr val="bg1">
                <a:lumMod val="95000"/>
              </a:schemeClr>
            </a:solidFill>
          </a:ln>
        </p:spPr>
        <p:txBody>
          <a:bodyPr/>
          <a:lstStyle/>
          <a:p>
            <a:r>
              <a:rPr lang="en-SG" b="1" dirty="0">
                <a:solidFill>
                  <a:schemeClr val="bg1"/>
                </a:solidFill>
              </a:rPr>
              <a:t>Problem Framing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E7B2A03-9DA3-5827-8767-C554B8490556}"/>
              </a:ext>
            </a:extLst>
          </p:cNvPr>
          <p:cNvSpPr txBox="1">
            <a:spLocks/>
          </p:cNvSpPr>
          <p:nvPr/>
        </p:nvSpPr>
        <p:spPr>
          <a:xfrm>
            <a:off x="9863192" y="6544638"/>
            <a:ext cx="1164404" cy="313362"/>
          </a:xfrm>
          <a:prstGeom prst="rect">
            <a:avLst/>
          </a:prstGeom>
          <a:solidFill>
            <a:srgbClr val="A53010">
              <a:alpha val="74902"/>
            </a:srgbClr>
          </a:solidFill>
          <a:ln>
            <a:solidFill>
              <a:schemeClr val="bg1">
                <a:lumMod val="95000"/>
              </a:schemeClr>
            </a:solidFill>
          </a:ln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457200" rtl="0" eaLnBrk="1" latinLnBrk="0" hangingPunct="1">
              <a:defRPr sz="9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SG" b="1" dirty="0">
                <a:solidFill>
                  <a:schemeClr val="bg1"/>
                </a:solidFill>
              </a:rPr>
              <a:t>Key Results &amp; Insights</a:t>
            </a:r>
          </a:p>
        </p:txBody>
      </p:sp>
      <p:sp>
        <p:nvSpPr>
          <p:cNvPr id="4" name="Footer Placeholder 2">
            <a:extLst>
              <a:ext uri="{FF2B5EF4-FFF2-40B4-BE49-F238E27FC236}">
                <a16:creationId xmlns:a16="http://schemas.microsoft.com/office/drawing/2014/main" id="{DD23C67B-64AB-F63D-8AFB-C594A1F37017}"/>
              </a:ext>
            </a:extLst>
          </p:cNvPr>
          <p:cNvSpPr txBox="1">
            <a:spLocks/>
          </p:cNvSpPr>
          <p:nvPr/>
        </p:nvSpPr>
        <p:spPr>
          <a:xfrm>
            <a:off x="11027596" y="6544638"/>
            <a:ext cx="1164404" cy="313362"/>
          </a:xfrm>
          <a:prstGeom prst="rect">
            <a:avLst/>
          </a:prstGeom>
          <a:solidFill>
            <a:srgbClr val="A53010">
              <a:alpha val="50196"/>
            </a:srgbClr>
          </a:solidFill>
          <a:ln>
            <a:solidFill>
              <a:schemeClr val="bg1">
                <a:lumMod val="95000"/>
              </a:schemeClr>
            </a:solidFill>
          </a:ln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457200" rtl="0" eaLnBrk="1" latinLnBrk="0" hangingPunct="1">
              <a:defRPr sz="9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SG" b="1" dirty="0">
                <a:solidFill>
                  <a:schemeClr val="bg1"/>
                </a:solidFill>
              </a:rPr>
              <a:t>Systems &amp; Decisions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75B3F503-E992-A1C9-BBAE-E0C9F92C9CA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5362" y="1691868"/>
            <a:ext cx="8232332" cy="2672203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2DC3EAEC-A9A5-E3CF-C198-F939E34F367A}"/>
              </a:ext>
            </a:extLst>
          </p:cNvPr>
          <p:cNvSpPr txBox="1"/>
          <p:nvPr/>
        </p:nvSpPr>
        <p:spPr>
          <a:xfrm>
            <a:off x="622497" y="1311800"/>
            <a:ext cx="610284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algn="just">
              <a:buNone/>
            </a:pPr>
            <a:r>
              <a:rPr lang="en-SG" sz="1800" b="1" u="sng" dirty="0"/>
              <a:t>Overall Lift (A/B Testing Analysis)</a:t>
            </a:r>
          </a:p>
        </p:txBody>
      </p:sp>
    </p:spTree>
    <p:extLst>
      <p:ext uri="{BB962C8B-B14F-4D97-AF65-F5344CB8AC3E}">
        <p14:creationId xmlns:p14="http://schemas.microsoft.com/office/powerpoint/2010/main" val="351803689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2">
                <a:tint val="90000"/>
                <a:satMod val="92000"/>
                <a:lumMod val="120000"/>
              </a:schemeClr>
            </a:gs>
            <a:gs pos="100000">
              <a:schemeClr val="bg2">
                <a:shade val="98000"/>
                <a:satMod val="120000"/>
                <a:lumMod val="98000"/>
              </a:schemeClr>
            </a:gs>
          </a:gsLst>
          <a:path path="circle">
            <a:fillToRect l="50000" t="50000" r="100000" b="100000"/>
          </a:path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0494911-5938-084F-D55D-489C5EACCE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Title 1">
            <a:extLst>
              <a:ext uri="{FF2B5EF4-FFF2-40B4-BE49-F238E27FC236}">
                <a16:creationId xmlns:a16="http://schemas.microsoft.com/office/drawing/2014/main" id="{56868761-E500-A116-DDC2-35D656A3CF6D}"/>
              </a:ext>
            </a:extLst>
          </p:cNvPr>
          <p:cNvSpPr txBox="1">
            <a:spLocks/>
          </p:cNvSpPr>
          <p:nvPr/>
        </p:nvSpPr>
        <p:spPr>
          <a:xfrm>
            <a:off x="2592924" y="624111"/>
            <a:ext cx="8911687" cy="624832"/>
          </a:xfrm>
          <a:prstGeom prst="rect">
            <a:avLst/>
          </a:prstGeom>
        </p:spPr>
        <p:txBody>
          <a:bodyPr vert="horz" lIns="91440" tIns="45720" rIns="91440" bIns="45720" rtlCol="0" anchor="t">
            <a:normAutofit lnSpcReduction="10000"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3600" kern="120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en-SG" dirty="0"/>
              <a:t>Key Results &amp; Insights</a:t>
            </a:r>
          </a:p>
        </p:txBody>
      </p:sp>
      <p:sp>
        <p:nvSpPr>
          <p:cNvPr id="25" name="Content Placeholder 4">
            <a:extLst>
              <a:ext uri="{FF2B5EF4-FFF2-40B4-BE49-F238E27FC236}">
                <a16:creationId xmlns:a16="http://schemas.microsoft.com/office/drawing/2014/main" id="{8DBA5D23-7C51-2C84-80F9-2F92D8619147}"/>
              </a:ext>
            </a:extLst>
          </p:cNvPr>
          <p:cNvSpPr txBox="1">
            <a:spLocks/>
          </p:cNvSpPr>
          <p:nvPr/>
        </p:nvSpPr>
        <p:spPr>
          <a:xfrm>
            <a:off x="690884" y="3770569"/>
            <a:ext cx="8023426" cy="202825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just">
              <a:buNone/>
            </a:pPr>
            <a:r>
              <a:rPr lang="en-SG" sz="1400" b="1" u="sng" dirty="0">
                <a:solidFill>
                  <a:schemeClr val="tx1"/>
                </a:solidFill>
              </a:rPr>
              <a:t>Key Takeaway</a:t>
            </a:r>
          </a:p>
          <a:p>
            <a:pPr marL="0" indent="0" algn="just">
              <a:buNone/>
            </a:pPr>
            <a:r>
              <a:rPr lang="en-SG" sz="1400" b="1" dirty="0">
                <a:solidFill>
                  <a:schemeClr val="tx1"/>
                </a:solidFill>
              </a:rPr>
              <a:t>Lift in conversion rates is real, clearing the statistical gate for unit economics evaluation (ROI) and scaling decisions.</a:t>
            </a:r>
          </a:p>
          <a:p>
            <a:pPr algn="just">
              <a:buFont typeface="Wingdings" panose="05000000000000000000" pitchFamily="2" charset="2"/>
              <a:buChar char="Ø"/>
            </a:pPr>
            <a:r>
              <a:rPr lang="en-SG" sz="1400" dirty="0">
                <a:solidFill>
                  <a:schemeClr val="tx1"/>
                </a:solidFill>
              </a:rPr>
              <a:t>The 95% confidence interval (CI) for lift is roughly 0.35 to 0.64 percentage points (pp), </a:t>
            </a:r>
            <a:r>
              <a:rPr lang="en-SG" sz="1400" b="1" dirty="0">
                <a:solidFill>
                  <a:schemeClr val="tx1"/>
                </a:solidFill>
              </a:rPr>
              <a:t>which stays above zero throughout.</a:t>
            </a:r>
          </a:p>
          <a:p>
            <a:pPr algn="just">
              <a:buFont typeface="Wingdings" panose="05000000000000000000" pitchFamily="2" charset="2"/>
              <a:buChar char="Ø"/>
            </a:pPr>
            <a:r>
              <a:rPr lang="en-SG" sz="1400" dirty="0">
                <a:solidFill>
                  <a:schemeClr val="tx1"/>
                </a:solidFill>
              </a:rPr>
              <a:t>The p-value &lt; 0.001, indicating strong statistical evidence of a real effect, and </a:t>
            </a:r>
            <a:r>
              <a:rPr lang="en-SG" sz="1400" b="1" dirty="0">
                <a:solidFill>
                  <a:schemeClr val="tx1"/>
                </a:solidFill>
              </a:rPr>
              <a:t>unlikely to be due to random chance.</a:t>
            </a:r>
          </a:p>
        </p:txBody>
      </p:sp>
      <p:sp>
        <p:nvSpPr>
          <p:cNvPr id="2" name="Footer Placeholder 2">
            <a:extLst>
              <a:ext uri="{FF2B5EF4-FFF2-40B4-BE49-F238E27FC236}">
                <a16:creationId xmlns:a16="http://schemas.microsoft.com/office/drawing/2014/main" id="{597F8CAD-7E18-CB8B-4694-2DB91F821C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698789" y="6544638"/>
            <a:ext cx="1164404" cy="313362"/>
          </a:xfrm>
          <a:solidFill>
            <a:srgbClr val="A53010">
              <a:alpha val="50196"/>
            </a:srgbClr>
          </a:solidFill>
          <a:ln>
            <a:solidFill>
              <a:schemeClr val="bg1">
                <a:lumMod val="95000"/>
              </a:schemeClr>
            </a:solidFill>
          </a:ln>
        </p:spPr>
        <p:txBody>
          <a:bodyPr/>
          <a:lstStyle/>
          <a:p>
            <a:r>
              <a:rPr lang="en-SG" b="1" dirty="0">
                <a:solidFill>
                  <a:schemeClr val="bg1"/>
                </a:solidFill>
              </a:rPr>
              <a:t>Problem Framing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E545216-3144-B85A-AB91-895C17CE64F8}"/>
              </a:ext>
            </a:extLst>
          </p:cNvPr>
          <p:cNvSpPr txBox="1">
            <a:spLocks/>
          </p:cNvSpPr>
          <p:nvPr/>
        </p:nvSpPr>
        <p:spPr>
          <a:xfrm>
            <a:off x="9863192" y="6544638"/>
            <a:ext cx="1164404" cy="313362"/>
          </a:xfrm>
          <a:prstGeom prst="rect">
            <a:avLst/>
          </a:prstGeom>
          <a:solidFill>
            <a:srgbClr val="A53010">
              <a:alpha val="74902"/>
            </a:srgbClr>
          </a:solidFill>
          <a:ln>
            <a:solidFill>
              <a:schemeClr val="bg1">
                <a:lumMod val="95000"/>
              </a:schemeClr>
            </a:solidFill>
          </a:ln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457200" rtl="0" eaLnBrk="1" latinLnBrk="0" hangingPunct="1">
              <a:defRPr sz="9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SG" b="1" dirty="0">
                <a:solidFill>
                  <a:schemeClr val="bg1"/>
                </a:solidFill>
              </a:rPr>
              <a:t>Key Results &amp; Insights</a:t>
            </a:r>
          </a:p>
        </p:txBody>
      </p:sp>
      <p:sp>
        <p:nvSpPr>
          <p:cNvPr id="4" name="Footer Placeholder 2">
            <a:extLst>
              <a:ext uri="{FF2B5EF4-FFF2-40B4-BE49-F238E27FC236}">
                <a16:creationId xmlns:a16="http://schemas.microsoft.com/office/drawing/2014/main" id="{A769E016-A703-EE84-844A-93A906AA08F2}"/>
              </a:ext>
            </a:extLst>
          </p:cNvPr>
          <p:cNvSpPr txBox="1">
            <a:spLocks/>
          </p:cNvSpPr>
          <p:nvPr/>
        </p:nvSpPr>
        <p:spPr>
          <a:xfrm>
            <a:off x="11027596" y="6544638"/>
            <a:ext cx="1164404" cy="313362"/>
          </a:xfrm>
          <a:prstGeom prst="rect">
            <a:avLst/>
          </a:prstGeom>
          <a:solidFill>
            <a:srgbClr val="A53010">
              <a:alpha val="50196"/>
            </a:srgbClr>
          </a:solidFill>
          <a:ln>
            <a:solidFill>
              <a:schemeClr val="bg1">
                <a:lumMod val="95000"/>
              </a:schemeClr>
            </a:solidFill>
          </a:ln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457200" rtl="0" eaLnBrk="1" latinLnBrk="0" hangingPunct="1">
              <a:defRPr sz="9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SG" b="1" dirty="0">
                <a:solidFill>
                  <a:schemeClr val="bg1"/>
                </a:solidFill>
              </a:rPr>
              <a:t>Systems &amp; Decisions</a:t>
            </a:r>
          </a:p>
        </p:txBody>
      </p:sp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E35CAB0E-1034-C5E5-2F93-F0D2A76A4D6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88693079"/>
              </p:ext>
            </p:extLst>
          </p:nvPr>
        </p:nvGraphicFramePr>
        <p:xfrm>
          <a:off x="690884" y="1778236"/>
          <a:ext cx="3956356" cy="1371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78178">
                  <a:extLst>
                    <a:ext uri="{9D8B030D-6E8A-4147-A177-3AD203B41FA5}">
                      <a16:colId xmlns:a16="http://schemas.microsoft.com/office/drawing/2014/main" val="1075030687"/>
                    </a:ext>
                  </a:extLst>
                </a:gridCol>
                <a:gridCol w="1978178">
                  <a:extLst>
                    <a:ext uri="{9D8B030D-6E8A-4147-A177-3AD203B41FA5}">
                      <a16:colId xmlns:a16="http://schemas.microsoft.com/office/drawing/2014/main" val="4226763059"/>
                    </a:ext>
                  </a:extLst>
                </a:gridCol>
              </a:tblGrid>
              <a:tr h="256389">
                <a:tc>
                  <a:txBody>
                    <a:bodyPr/>
                    <a:lstStyle/>
                    <a:p>
                      <a:r>
                        <a:rPr lang="en-SG" sz="1200" dirty="0"/>
                        <a:t>Metrics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SG" sz="1200" dirty="0"/>
                        <a:t>Values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49233891"/>
                  </a:ext>
                </a:extLst>
              </a:tr>
              <a:tr h="256389">
                <a:tc>
                  <a:txBody>
                    <a:bodyPr/>
                    <a:lstStyle/>
                    <a:p>
                      <a:r>
                        <a:rPr lang="en-SG" sz="1200" dirty="0"/>
                        <a:t>Treatment CVR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SG" sz="1200" dirty="0"/>
                        <a:t>1.07%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92388732"/>
                  </a:ext>
                </a:extLst>
              </a:tr>
              <a:tr h="256389">
                <a:tc>
                  <a:txBody>
                    <a:bodyPr/>
                    <a:lstStyle/>
                    <a:p>
                      <a:r>
                        <a:rPr lang="en-SG" sz="1200" dirty="0"/>
                        <a:t>Control CVR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SG" sz="1200" dirty="0"/>
                        <a:t>0.57%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30349113"/>
                  </a:ext>
                </a:extLst>
              </a:tr>
              <a:tr h="256389">
                <a:tc>
                  <a:txBody>
                    <a:bodyPr/>
                    <a:lstStyle/>
                    <a:p>
                      <a:r>
                        <a:rPr lang="en-SG" sz="1200" dirty="0"/>
                        <a:t>p-value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SG" sz="1200" dirty="0"/>
                        <a:t>&lt; 0.001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80436713"/>
                  </a:ext>
                </a:extLst>
              </a:tr>
              <a:tr h="256389">
                <a:tc>
                  <a:txBody>
                    <a:bodyPr/>
                    <a:lstStyle/>
                    <a:p>
                      <a:r>
                        <a:rPr lang="en-SG" sz="1200" dirty="0"/>
                        <a:t>Lift 95% CI (pp)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SG" sz="1200" dirty="0"/>
                        <a:t>+0.35 to +0.64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51898671"/>
                  </a:ext>
                </a:extLst>
              </a:tr>
            </a:tbl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CFDDC940-2C37-D525-951D-0B9C0176B6F5}"/>
              </a:ext>
            </a:extLst>
          </p:cNvPr>
          <p:cNvSpPr txBox="1"/>
          <p:nvPr/>
        </p:nvSpPr>
        <p:spPr>
          <a:xfrm>
            <a:off x="622497" y="3213981"/>
            <a:ext cx="3819260" cy="4642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50"/>
              </a:spcAft>
            </a:pPr>
            <a:r>
              <a:rPr lang="en-SG" sz="1000" b="1" i="1" u="sng" dirty="0">
                <a:solidFill>
                  <a:schemeClr val="tx1">
                    <a:lumMod val="75000"/>
                    <a:lumOff val="25000"/>
                  </a:schemeClr>
                </a:solidFill>
              </a:rPr>
              <a:t>Note</a:t>
            </a:r>
          </a:p>
          <a:p>
            <a:pPr algn="l">
              <a:spcAft>
                <a:spcPts val="450"/>
              </a:spcAft>
            </a:pPr>
            <a:r>
              <a:rPr lang="en-SG" sz="1000" b="1" i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CVR (%): </a:t>
            </a:r>
            <a:r>
              <a:rPr lang="en-SG" sz="1000" i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Conversion rate = conversions / users * 100%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2A9403E-B597-F7FD-FFF6-2C62B0C25003}"/>
              </a:ext>
            </a:extLst>
          </p:cNvPr>
          <p:cNvSpPr txBox="1"/>
          <p:nvPr/>
        </p:nvSpPr>
        <p:spPr>
          <a:xfrm>
            <a:off x="622497" y="1311800"/>
            <a:ext cx="610284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algn="just">
              <a:buNone/>
            </a:pPr>
            <a:r>
              <a:rPr lang="en-SG" sz="1800" b="1" u="sng" dirty="0"/>
              <a:t>Statistical Significance</a:t>
            </a:r>
          </a:p>
        </p:txBody>
      </p:sp>
    </p:spTree>
    <p:extLst>
      <p:ext uri="{BB962C8B-B14F-4D97-AF65-F5344CB8AC3E}">
        <p14:creationId xmlns:p14="http://schemas.microsoft.com/office/powerpoint/2010/main" val="380585787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D62C36A-1426-FC6A-438F-31638A5AF40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Title 1">
            <a:extLst>
              <a:ext uri="{FF2B5EF4-FFF2-40B4-BE49-F238E27FC236}">
                <a16:creationId xmlns:a16="http://schemas.microsoft.com/office/drawing/2014/main" id="{1DCFA1BF-6A0C-5934-DC42-BCD39590275F}"/>
              </a:ext>
            </a:extLst>
          </p:cNvPr>
          <p:cNvSpPr txBox="1">
            <a:spLocks/>
          </p:cNvSpPr>
          <p:nvPr/>
        </p:nvSpPr>
        <p:spPr>
          <a:xfrm>
            <a:off x="2592924" y="624111"/>
            <a:ext cx="8911687" cy="624832"/>
          </a:xfrm>
          <a:prstGeom prst="rect">
            <a:avLst/>
          </a:prstGeom>
        </p:spPr>
        <p:txBody>
          <a:bodyPr vert="horz" lIns="91440" tIns="45720" rIns="91440" bIns="45720" rtlCol="0" anchor="t">
            <a:normAutofit lnSpcReduction="10000"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3600" kern="120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en-SG" dirty="0"/>
              <a:t>Key Results &amp; Insights</a:t>
            </a:r>
          </a:p>
        </p:txBody>
      </p:sp>
      <p:sp>
        <p:nvSpPr>
          <p:cNvPr id="25" name="Content Placeholder 4">
            <a:extLst>
              <a:ext uri="{FF2B5EF4-FFF2-40B4-BE49-F238E27FC236}">
                <a16:creationId xmlns:a16="http://schemas.microsoft.com/office/drawing/2014/main" id="{A2506A6D-C987-6610-27EE-8183AC5B5086}"/>
              </a:ext>
            </a:extLst>
          </p:cNvPr>
          <p:cNvSpPr txBox="1">
            <a:spLocks/>
          </p:cNvSpPr>
          <p:nvPr/>
        </p:nvSpPr>
        <p:spPr>
          <a:xfrm>
            <a:off x="704691" y="3638377"/>
            <a:ext cx="6898186" cy="1827475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just">
              <a:buNone/>
            </a:pPr>
            <a:r>
              <a:rPr lang="en-SG" sz="1400" b="1" u="sng" dirty="0">
                <a:solidFill>
                  <a:schemeClr val="tx1"/>
                </a:solidFill>
              </a:rPr>
              <a:t>Key Takeaway</a:t>
            </a:r>
          </a:p>
          <a:p>
            <a:pPr marL="0" indent="0" algn="just">
              <a:buNone/>
            </a:pPr>
            <a:r>
              <a:rPr lang="en-SG" sz="1400" b="1" dirty="0">
                <a:solidFill>
                  <a:schemeClr val="tx1"/>
                </a:solidFill>
              </a:rPr>
              <a:t>Attribution overstates impact by including conversions that would have happened anyway.</a:t>
            </a:r>
          </a:p>
          <a:p>
            <a:pPr marL="0" indent="0" algn="just">
              <a:buNone/>
            </a:pPr>
            <a:r>
              <a:rPr lang="en-SG" sz="1400" b="1" dirty="0">
                <a:solidFill>
                  <a:schemeClr val="tx1"/>
                </a:solidFill>
              </a:rPr>
              <a:t>Only ~50% of conversions and revenue are truly incremental; </a:t>
            </a:r>
            <a:r>
              <a:rPr lang="en-SG" sz="1400" dirty="0">
                <a:solidFill>
                  <a:schemeClr val="tx1"/>
                </a:solidFill>
              </a:rPr>
              <a:t>the naive view overstates impact by ~2x.</a:t>
            </a:r>
          </a:p>
          <a:p>
            <a:pPr marL="0" indent="0" algn="just">
              <a:buNone/>
            </a:pPr>
            <a:r>
              <a:rPr lang="en-SG" sz="1400" b="1" dirty="0">
                <a:solidFill>
                  <a:schemeClr val="tx1"/>
                </a:solidFill>
              </a:rPr>
              <a:t>This gap materially affects ROI estimation and budget allocation decisions.</a:t>
            </a:r>
          </a:p>
        </p:txBody>
      </p:sp>
      <p:sp>
        <p:nvSpPr>
          <p:cNvPr id="2" name="Footer Placeholder 2">
            <a:extLst>
              <a:ext uri="{FF2B5EF4-FFF2-40B4-BE49-F238E27FC236}">
                <a16:creationId xmlns:a16="http://schemas.microsoft.com/office/drawing/2014/main" id="{DEF3DAAC-D164-6DA4-3237-B18399D9FF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698789" y="6544638"/>
            <a:ext cx="1164404" cy="313362"/>
          </a:xfrm>
          <a:solidFill>
            <a:srgbClr val="A53010">
              <a:alpha val="50196"/>
            </a:srgbClr>
          </a:solidFill>
          <a:ln>
            <a:solidFill>
              <a:schemeClr val="bg1">
                <a:lumMod val="95000"/>
              </a:schemeClr>
            </a:solidFill>
          </a:ln>
        </p:spPr>
        <p:txBody>
          <a:bodyPr/>
          <a:lstStyle/>
          <a:p>
            <a:r>
              <a:rPr lang="en-SG" b="1" dirty="0">
                <a:solidFill>
                  <a:schemeClr val="bg1"/>
                </a:solidFill>
              </a:rPr>
              <a:t>Problem Framing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E58D769-0A40-8949-F75D-F919E0ACA5AF}"/>
              </a:ext>
            </a:extLst>
          </p:cNvPr>
          <p:cNvSpPr txBox="1">
            <a:spLocks/>
          </p:cNvSpPr>
          <p:nvPr/>
        </p:nvSpPr>
        <p:spPr>
          <a:xfrm>
            <a:off x="9863192" y="6544638"/>
            <a:ext cx="1164404" cy="313362"/>
          </a:xfrm>
          <a:prstGeom prst="rect">
            <a:avLst/>
          </a:prstGeom>
          <a:solidFill>
            <a:srgbClr val="A53010">
              <a:alpha val="74902"/>
            </a:srgbClr>
          </a:solidFill>
          <a:ln>
            <a:solidFill>
              <a:schemeClr val="bg1">
                <a:lumMod val="95000"/>
              </a:schemeClr>
            </a:solidFill>
          </a:ln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457200" rtl="0" eaLnBrk="1" latinLnBrk="0" hangingPunct="1">
              <a:defRPr sz="9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SG" b="1" dirty="0">
                <a:solidFill>
                  <a:schemeClr val="bg1"/>
                </a:solidFill>
              </a:rPr>
              <a:t>Key Results &amp; Insights</a:t>
            </a:r>
          </a:p>
        </p:txBody>
      </p:sp>
      <p:sp>
        <p:nvSpPr>
          <p:cNvPr id="4" name="Footer Placeholder 2">
            <a:extLst>
              <a:ext uri="{FF2B5EF4-FFF2-40B4-BE49-F238E27FC236}">
                <a16:creationId xmlns:a16="http://schemas.microsoft.com/office/drawing/2014/main" id="{E9F6EC48-0482-867E-E335-5B1EA2DB7389}"/>
              </a:ext>
            </a:extLst>
          </p:cNvPr>
          <p:cNvSpPr txBox="1">
            <a:spLocks/>
          </p:cNvSpPr>
          <p:nvPr/>
        </p:nvSpPr>
        <p:spPr>
          <a:xfrm>
            <a:off x="11027596" y="6544638"/>
            <a:ext cx="1164404" cy="313362"/>
          </a:xfrm>
          <a:prstGeom prst="rect">
            <a:avLst/>
          </a:prstGeom>
          <a:solidFill>
            <a:srgbClr val="A53010">
              <a:alpha val="50196"/>
            </a:srgbClr>
          </a:solidFill>
          <a:ln>
            <a:solidFill>
              <a:schemeClr val="bg1">
                <a:lumMod val="95000"/>
              </a:schemeClr>
            </a:solidFill>
          </a:ln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457200" rtl="0" eaLnBrk="1" latinLnBrk="0" hangingPunct="1">
              <a:defRPr sz="9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SG" b="1" dirty="0">
                <a:solidFill>
                  <a:schemeClr val="bg1"/>
                </a:solidFill>
              </a:rPr>
              <a:t>Systems &amp; Decisions</a:t>
            </a:r>
          </a:p>
        </p:txBody>
      </p:sp>
      <p:graphicFrame>
        <p:nvGraphicFramePr>
          <p:cNvPr id="10" name="Table 9">
            <a:extLst>
              <a:ext uri="{FF2B5EF4-FFF2-40B4-BE49-F238E27FC236}">
                <a16:creationId xmlns:a16="http://schemas.microsoft.com/office/drawing/2014/main" id="{2B127356-BA59-4AE8-DBF1-336A220EFBB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91208523"/>
              </p:ext>
            </p:extLst>
          </p:nvPr>
        </p:nvGraphicFramePr>
        <p:xfrm>
          <a:off x="704691" y="1743990"/>
          <a:ext cx="6898186" cy="16459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15448">
                  <a:extLst>
                    <a:ext uri="{9D8B030D-6E8A-4147-A177-3AD203B41FA5}">
                      <a16:colId xmlns:a16="http://schemas.microsoft.com/office/drawing/2014/main" val="3863423956"/>
                    </a:ext>
                  </a:extLst>
                </a:gridCol>
                <a:gridCol w="1394246">
                  <a:extLst>
                    <a:ext uri="{9D8B030D-6E8A-4147-A177-3AD203B41FA5}">
                      <a16:colId xmlns:a16="http://schemas.microsoft.com/office/drawing/2014/main" val="1628900229"/>
                    </a:ext>
                  </a:extLst>
                </a:gridCol>
                <a:gridCol w="1394246">
                  <a:extLst>
                    <a:ext uri="{9D8B030D-6E8A-4147-A177-3AD203B41FA5}">
                      <a16:colId xmlns:a16="http://schemas.microsoft.com/office/drawing/2014/main" val="826243533"/>
                    </a:ext>
                  </a:extLst>
                </a:gridCol>
                <a:gridCol w="1394246">
                  <a:extLst>
                    <a:ext uri="{9D8B030D-6E8A-4147-A177-3AD203B41FA5}">
                      <a16:colId xmlns:a16="http://schemas.microsoft.com/office/drawing/2014/main" val="301582147"/>
                    </a:ext>
                  </a:extLst>
                </a:gridCol>
              </a:tblGrid>
              <a:tr h="164127">
                <a:tc>
                  <a:txBody>
                    <a:bodyPr/>
                    <a:lstStyle/>
                    <a:p>
                      <a:r>
                        <a:rPr lang="en-SG" sz="1200" dirty="0"/>
                        <a:t>Measurement Approach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SG" sz="1200" b="1" i="0" u="none" strike="noStrike" dirty="0">
                          <a:solidFill>
                            <a:schemeClr val="bg1"/>
                          </a:solidFill>
                          <a:effectLst/>
                          <a:latin typeface="Century Gothic (Body)"/>
                        </a:rPr>
                        <a:t>Users</a:t>
                      </a:r>
                      <a:r>
                        <a:rPr lang="en-SG" sz="1200" b="1" i="0" u="none" strike="noStrike" baseline="30000" dirty="0">
                          <a:solidFill>
                            <a:schemeClr val="bg1"/>
                          </a:solidFill>
                          <a:effectLst/>
                          <a:latin typeface="Century Gothic (Body)"/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SG" sz="1200" b="1" i="0" u="none" strike="noStrike" dirty="0">
                          <a:solidFill>
                            <a:schemeClr val="bg1"/>
                          </a:solidFill>
                          <a:effectLst/>
                          <a:latin typeface="Century Gothic (Body)"/>
                        </a:rPr>
                        <a:t>Conversions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SG" sz="1200" dirty="0"/>
                        <a:t>Revenue ($)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65346782"/>
                  </a:ext>
                </a:extLst>
              </a:tr>
              <a:tr h="256389">
                <a:tc>
                  <a:txBody>
                    <a:bodyPr/>
                    <a:lstStyle/>
                    <a:p>
                      <a:r>
                        <a:rPr lang="en-SG" sz="1200" b="1" dirty="0"/>
                        <a:t>Treated Total</a:t>
                      </a:r>
                    </a:p>
                    <a:p>
                      <a:r>
                        <a:rPr lang="en-SG" sz="1200" i="1" dirty="0"/>
                        <a:t>(Naive attribution)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SG" sz="1200" dirty="0"/>
                        <a:t>42,694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SG" sz="1200" dirty="0"/>
                        <a:t>456 (100%)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SG" sz="1200" dirty="0"/>
                        <a:t>53,350 (100%)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6281356"/>
                  </a:ext>
                </a:extLst>
              </a:tr>
              <a:tr h="256389">
                <a:tc>
                  <a:txBody>
                    <a:bodyPr/>
                    <a:lstStyle/>
                    <a:p>
                      <a:r>
                        <a:rPr lang="en-SG" sz="1200" b="1" dirty="0"/>
                        <a:t>Estimated Baseline</a:t>
                      </a:r>
                    </a:p>
                    <a:p>
                      <a:r>
                        <a:rPr lang="en-SG" sz="1200" b="0" i="1" dirty="0"/>
                        <a:t>(Apply control CVR; no treatment assumption)</a:t>
                      </a:r>
                    </a:p>
                  </a:txBody>
                  <a:tcP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SG" sz="1200" dirty="0"/>
                        <a:t>42,694</a:t>
                      </a:r>
                    </a:p>
                  </a:txBody>
                  <a:tcP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SG" sz="1200" dirty="0"/>
                        <a:t>244</a:t>
                      </a:r>
                      <a:r>
                        <a:rPr lang="en-SG" sz="1200" baseline="30000" dirty="0"/>
                        <a:t>1 </a:t>
                      </a:r>
                      <a:r>
                        <a:rPr lang="en-SG" sz="1200" dirty="0"/>
                        <a:t>(54%)</a:t>
                      </a:r>
                      <a:endParaRPr lang="en-SG" sz="1200" baseline="30000" dirty="0"/>
                    </a:p>
                  </a:txBody>
                  <a:tcP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SG" sz="1200" dirty="0"/>
                        <a:t>27,870 (52%)</a:t>
                      </a:r>
                    </a:p>
                  </a:txBody>
                  <a:tcP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215309663"/>
                  </a:ext>
                </a:extLst>
              </a:tr>
              <a:tr h="256389">
                <a:tc>
                  <a:txBody>
                    <a:bodyPr/>
                    <a:lstStyle/>
                    <a:p>
                      <a:r>
                        <a:rPr lang="en-SG" sz="1200" b="1" dirty="0"/>
                        <a:t>Incremental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SG" sz="1200" b="1" dirty="0"/>
                        <a:t>-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SG" sz="1200" b="1" dirty="0"/>
                        <a:t>212 (46%)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SG" sz="1200" b="1" dirty="0"/>
                        <a:t>25,480 (48%)</a:t>
                      </a:r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93643416"/>
                  </a:ext>
                </a:extLst>
              </a:tr>
            </a:tbl>
          </a:graphicData>
        </a:graphic>
      </p:graphicFrame>
      <p:sp>
        <p:nvSpPr>
          <p:cNvPr id="6" name="TextBox 5">
            <a:extLst>
              <a:ext uri="{FF2B5EF4-FFF2-40B4-BE49-F238E27FC236}">
                <a16:creationId xmlns:a16="http://schemas.microsoft.com/office/drawing/2014/main" id="{601695A3-FC8F-68C8-1727-E5D9EF2A4FEE}"/>
              </a:ext>
            </a:extLst>
          </p:cNvPr>
          <p:cNvSpPr txBox="1"/>
          <p:nvPr/>
        </p:nvSpPr>
        <p:spPr>
          <a:xfrm>
            <a:off x="7921642" y="1743990"/>
            <a:ext cx="4047751" cy="12721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50"/>
              </a:spcAft>
            </a:pPr>
            <a:r>
              <a:rPr lang="en-SG" sz="1000" b="1" i="1" u="sng" dirty="0"/>
              <a:t>Note 1</a:t>
            </a:r>
          </a:p>
          <a:p>
            <a:pPr algn="l">
              <a:spcAft>
                <a:spcPts val="450"/>
              </a:spcAft>
            </a:pPr>
            <a:r>
              <a:rPr lang="en-SG" sz="1000" b="1" i="1" dirty="0"/>
              <a:t>Estimated impact differs by measurement method on the same treated users.</a:t>
            </a:r>
          </a:p>
          <a:p>
            <a:pPr algn="l">
              <a:spcAft>
                <a:spcPts val="450"/>
              </a:spcAft>
            </a:pPr>
            <a:endParaRPr lang="en-SG" sz="1000" b="1" i="1" dirty="0"/>
          </a:p>
          <a:p>
            <a:pPr algn="l">
              <a:spcAft>
                <a:spcPts val="450"/>
              </a:spcAft>
            </a:pPr>
            <a:r>
              <a:rPr lang="en-SG" sz="1000" b="1" i="1" dirty="0"/>
              <a:t>Estimated baseline conversions = </a:t>
            </a:r>
            <a:r>
              <a:rPr lang="en-SG" sz="1000" i="1" dirty="0"/>
              <a:t>treated users × control CVR</a:t>
            </a:r>
          </a:p>
          <a:p>
            <a:r>
              <a:rPr lang="en-SG" sz="1000" i="1" dirty="0"/>
              <a:t>= 42,694 x 0.57% = </a:t>
            </a:r>
            <a:r>
              <a:rPr lang="en-SG" sz="1000" b="1" i="1" dirty="0"/>
              <a:t>244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5305D5B-DA0A-75C2-0AFD-B3594E07DF8D}"/>
              </a:ext>
            </a:extLst>
          </p:cNvPr>
          <p:cNvSpPr txBox="1"/>
          <p:nvPr/>
        </p:nvSpPr>
        <p:spPr>
          <a:xfrm>
            <a:off x="622497" y="1311800"/>
            <a:ext cx="610284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algn="just">
              <a:buNone/>
            </a:pPr>
            <a:r>
              <a:rPr lang="en-SG" sz="1800" b="1" u="sng" dirty="0"/>
              <a:t>Attribution vs Incrementality (Causal Impact)</a:t>
            </a:r>
          </a:p>
        </p:txBody>
      </p:sp>
    </p:spTree>
    <p:extLst>
      <p:ext uri="{BB962C8B-B14F-4D97-AF65-F5344CB8AC3E}">
        <p14:creationId xmlns:p14="http://schemas.microsoft.com/office/powerpoint/2010/main" val="350129365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A2CA6BA-024C-430C-8C32-66B3FC0111F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Title 1">
            <a:extLst>
              <a:ext uri="{FF2B5EF4-FFF2-40B4-BE49-F238E27FC236}">
                <a16:creationId xmlns:a16="http://schemas.microsoft.com/office/drawing/2014/main" id="{193D0E01-9333-5AE1-985A-9EB72E43927F}"/>
              </a:ext>
            </a:extLst>
          </p:cNvPr>
          <p:cNvSpPr txBox="1">
            <a:spLocks/>
          </p:cNvSpPr>
          <p:nvPr/>
        </p:nvSpPr>
        <p:spPr>
          <a:xfrm>
            <a:off x="2592924" y="624111"/>
            <a:ext cx="8911687" cy="624832"/>
          </a:xfrm>
          <a:prstGeom prst="rect">
            <a:avLst/>
          </a:prstGeom>
        </p:spPr>
        <p:txBody>
          <a:bodyPr vert="horz" lIns="91440" tIns="45720" rIns="91440" bIns="45720" rtlCol="0" anchor="t">
            <a:normAutofit lnSpcReduction="10000"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3600" kern="120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en-SG" dirty="0"/>
              <a:t>Key Results &amp; Insights</a:t>
            </a:r>
          </a:p>
        </p:txBody>
      </p:sp>
      <p:sp>
        <p:nvSpPr>
          <p:cNvPr id="25" name="Content Placeholder 4">
            <a:extLst>
              <a:ext uri="{FF2B5EF4-FFF2-40B4-BE49-F238E27FC236}">
                <a16:creationId xmlns:a16="http://schemas.microsoft.com/office/drawing/2014/main" id="{04C98B89-A158-1C8A-714A-8F173E07AD15}"/>
              </a:ext>
            </a:extLst>
          </p:cNvPr>
          <p:cNvSpPr txBox="1">
            <a:spLocks/>
          </p:cNvSpPr>
          <p:nvPr/>
        </p:nvSpPr>
        <p:spPr>
          <a:xfrm>
            <a:off x="211705" y="4313190"/>
            <a:ext cx="5813183" cy="2492903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just">
              <a:buNone/>
            </a:pPr>
            <a:r>
              <a:rPr lang="en-SG" sz="1400" b="1" u="sng" dirty="0">
                <a:solidFill>
                  <a:schemeClr val="tx1"/>
                </a:solidFill>
              </a:rPr>
              <a:t>Key Takeaway</a:t>
            </a:r>
          </a:p>
          <a:p>
            <a:pPr marL="0" indent="0" algn="just">
              <a:buNone/>
            </a:pPr>
            <a:r>
              <a:rPr lang="en-SG" sz="1400" b="1" dirty="0">
                <a:solidFill>
                  <a:schemeClr val="tx1"/>
                </a:solidFill>
              </a:rPr>
              <a:t>Positive Unit Economics → Scale with cost discipline.</a:t>
            </a:r>
            <a:endParaRPr lang="en-SG" sz="1400" b="1" u="sng" dirty="0">
              <a:solidFill>
                <a:schemeClr val="tx1"/>
              </a:solidFill>
            </a:endParaRPr>
          </a:p>
          <a:p>
            <a:pPr algn="just">
              <a:buFont typeface="Wingdings" panose="05000000000000000000" pitchFamily="2" charset="2"/>
              <a:buChar char="Ø"/>
            </a:pPr>
            <a:r>
              <a:rPr lang="en-SG" sz="1400" dirty="0">
                <a:solidFill>
                  <a:schemeClr val="tx1"/>
                </a:solidFill>
              </a:rPr>
              <a:t>Unit economics are strongly positive </a:t>
            </a:r>
            <a:r>
              <a:rPr lang="en-SG" sz="1400" b="1" dirty="0">
                <a:solidFill>
                  <a:schemeClr val="tx1"/>
                </a:solidFill>
              </a:rPr>
              <a:t>(~$0.55 net per user)</a:t>
            </a:r>
            <a:r>
              <a:rPr lang="en-SG" sz="1400" dirty="0">
                <a:solidFill>
                  <a:schemeClr val="tx1"/>
                </a:solidFill>
              </a:rPr>
              <a:t>,</a:t>
            </a:r>
            <a:r>
              <a:rPr lang="en-SG" sz="1400" b="1" dirty="0">
                <a:solidFill>
                  <a:schemeClr val="tx1"/>
                </a:solidFill>
              </a:rPr>
              <a:t> </a:t>
            </a:r>
            <a:r>
              <a:rPr lang="en-SG" sz="1400" dirty="0">
                <a:solidFill>
                  <a:schemeClr val="tx1"/>
                </a:solidFill>
              </a:rPr>
              <a:t>supporting scale. </a:t>
            </a:r>
          </a:p>
          <a:p>
            <a:pPr algn="just">
              <a:buFont typeface="Wingdings" panose="05000000000000000000" pitchFamily="2" charset="2"/>
              <a:buChar char="Ø"/>
            </a:pPr>
            <a:r>
              <a:rPr lang="en-SG" sz="1400" dirty="0">
                <a:solidFill>
                  <a:schemeClr val="tx1"/>
                </a:solidFill>
              </a:rPr>
              <a:t>Scaling remains attractive if cost per user &lt; </a:t>
            </a:r>
            <a:r>
              <a:rPr lang="en-SG" sz="1400" b="1" dirty="0">
                <a:solidFill>
                  <a:schemeClr val="tx1"/>
                </a:solidFill>
              </a:rPr>
              <a:t>~$0.60 (break-even)</a:t>
            </a:r>
            <a:r>
              <a:rPr lang="en-SG" sz="1400" dirty="0">
                <a:solidFill>
                  <a:schemeClr val="tx1"/>
                </a:solidFill>
              </a:rPr>
              <a:t>.</a:t>
            </a:r>
            <a:r>
              <a:rPr lang="en-SG" sz="1400" b="1" dirty="0">
                <a:solidFill>
                  <a:schemeClr val="tx1"/>
                </a:solidFill>
              </a:rPr>
              <a:t> Decision rule: Scale while cost per user &lt; $0.60 and monitor marginal performance.</a:t>
            </a:r>
          </a:p>
          <a:p>
            <a:pPr algn="just">
              <a:buFont typeface="Wingdings" panose="05000000000000000000" pitchFamily="2" charset="2"/>
              <a:buChar char="Ø"/>
            </a:pPr>
            <a:r>
              <a:rPr lang="en-SG" sz="1400" b="1" dirty="0">
                <a:solidFill>
                  <a:schemeClr val="tx1"/>
                </a:solidFill>
              </a:rPr>
              <a:t>At scale, performance may weaken as targeting expands to less responsive users.</a:t>
            </a:r>
          </a:p>
        </p:txBody>
      </p:sp>
      <p:sp>
        <p:nvSpPr>
          <p:cNvPr id="2" name="Footer Placeholder 2">
            <a:extLst>
              <a:ext uri="{FF2B5EF4-FFF2-40B4-BE49-F238E27FC236}">
                <a16:creationId xmlns:a16="http://schemas.microsoft.com/office/drawing/2014/main" id="{DAE1B2EB-8DFB-E4D1-7C76-B063D0E1C6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698789" y="6544638"/>
            <a:ext cx="1164404" cy="313362"/>
          </a:xfrm>
          <a:solidFill>
            <a:srgbClr val="A53010">
              <a:alpha val="50196"/>
            </a:srgbClr>
          </a:solidFill>
          <a:ln>
            <a:solidFill>
              <a:schemeClr val="bg1">
                <a:lumMod val="95000"/>
              </a:schemeClr>
            </a:solidFill>
          </a:ln>
        </p:spPr>
        <p:txBody>
          <a:bodyPr/>
          <a:lstStyle/>
          <a:p>
            <a:r>
              <a:rPr lang="en-SG" b="1" dirty="0">
                <a:solidFill>
                  <a:schemeClr val="bg1"/>
                </a:solidFill>
              </a:rPr>
              <a:t>Problem Framing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F1B143F-B4F7-7B71-0F17-A37085AA7AA4}"/>
              </a:ext>
            </a:extLst>
          </p:cNvPr>
          <p:cNvSpPr txBox="1">
            <a:spLocks/>
          </p:cNvSpPr>
          <p:nvPr/>
        </p:nvSpPr>
        <p:spPr>
          <a:xfrm>
            <a:off x="9863192" y="6544638"/>
            <a:ext cx="1164404" cy="313362"/>
          </a:xfrm>
          <a:prstGeom prst="rect">
            <a:avLst/>
          </a:prstGeom>
          <a:solidFill>
            <a:srgbClr val="A53010">
              <a:alpha val="74902"/>
            </a:srgbClr>
          </a:solidFill>
          <a:ln>
            <a:solidFill>
              <a:schemeClr val="bg1">
                <a:lumMod val="95000"/>
              </a:schemeClr>
            </a:solidFill>
          </a:ln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457200" rtl="0" eaLnBrk="1" latinLnBrk="0" hangingPunct="1">
              <a:defRPr sz="9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SG" b="1" dirty="0">
                <a:solidFill>
                  <a:schemeClr val="bg1"/>
                </a:solidFill>
              </a:rPr>
              <a:t>Key Results &amp; Insights</a:t>
            </a:r>
          </a:p>
        </p:txBody>
      </p:sp>
      <p:sp>
        <p:nvSpPr>
          <p:cNvPr id="4" name="Footer Placeholder 2">
            <a:extLst>
              <a:ext uri="{FF2B5EF4-FFF2-40B4-BE49-F238E27FC236}">
                <a16:creationId xmlns:a16="http://schemas.microsoft.com/office/drawing/2014/main" id="{573A6DF3-780E-4EE6-DC87-A7C7B91449E9}"/>
              </a:ext>
            </a:extLst>
          </p:cNvPr>
          <p:cNvSpPr txBox="1">
            <a:spLocks/>
          </p:cNvSpPr>
          <p:nvPr/>
        </p:nvSpPr>
        <p:spPr>
          <a:xfrm>
            <a:off x="11027596" y="6544638"/>
            <a:ext cx="1164404" cy="313362"/>
          </a:xfrm>
          <a:prstGeom prst="rect">
            <a:avLst/>
          </a:prstGeom>
          <a:solidFill>
            <a:srgbClr val="A53010">
              <a:alpha val="50196"/>
            </a:srgbClr>
          </a:solidFill>
          <a:ln>
            <a:solidFill>
              <a:schemeClr val="bg1">
                <a:lumMod val="95000"/>
              </a:schemeClr>
            </a:solidFill>
          </a:ln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457200" rtl="0" eaLnBrk="1" latinLnBrk="0" hangingPunct="1">
              <a:defRPr sz="9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SG" b="1" dirty="0">
                <a:solidFill>
                  <a:schemeClr val="bg1"/>
                </a:solidFill>
              </a:rPr>
              <a:t>Systems &amp; Decisions</a:t>
            </a:r>
          </a:p>
        </p:txBody>
      </p:sp>
      <p:graphicFrame>
        <p:nvGraphicFramePr>
          <p:cNvPr id="10" name="Table 9">
            <a:extLst>
              <a:ext uri="{FF2B5EF4-FFF2-40B4-BE49-F238E27FC236}">
                <a16:creationId xmlns:a16="http://schemas.microsoft.com/office/drawing/2014/main" id="{E5A393C7-B522-36AB-300B-604FE288648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43016956"/>
              </p:ext>
            </p:extLst>
          </p:nvPr>
        </p:nvGraphicFramePr>
        <p:xfrm>
          <a:off x="704692" y="1958131"/>
          <a:ext cx="5069384" cy="2286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349557">
                  <a:extLst>
                    <a:ext uri="{9D8B030D-6E8A-4147-A177-3AD203B41FA5}">
                      <a16:colId xmlns:a16="http://schemas.microsoft.com/office/drawing/2014/main" val="3863423956"/>
                    </a:ext>
                  </a:extLst>
                </a:gridCol>
                <a:gridCol w="1719827">
                  <a:extLst>
                    <a:ext uri="{9D8B030D-6E8A-4147-A177-3AD203B41FA5}">
                      <a16:colId xmlns:a16="http://schemas.microsoft.com/office/drawing/2014/main" val="1628900229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endParaRPr lang="en-SG" sz="1200" baseline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SG" sz="1200" b="1" i="0" u="none" strike="noStrike" baseline="0" dirty="0">
                          <a:solidFill>
                            <a:schemeClr val="bg1"/>
                          </a:solidFill>
                          <a:effectLst/>
                          <a:latin typeface="Century Gothic (Body)"/>
                        </a:rPr>
                        <a:t>$ per User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65346782"/>
                  </a:ext>
                </a:extLst>
              </a:tr>
              <a:tr h="256389"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SG" sz="1200" i="0" baseline="0" dirty="0"/>
                        <a:t>Treatment </a:t>
                      </a:r>
                      <a:r>
                        <a:rPr lang="en-SG" sz="1200" b="0" dirty="0"/>
                        <a:t>–</a:t>
                      </a:r>
                      <a:r>
                        <a:rPr lang="en-SG" sz="1200" i="0" baseline="0" dirty="0"/>
                        <a:t> Revenue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SG" sz="1200" baseline="0" dirty="0"/>
                        <a:t>1.25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6281356"/>
                  </a:ext>
                </a:extLst>
              </a:tr>
              <a:tr h="256389"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SG" sz="1200" b="0" i="0" baseline="0" dirty="0"/>
                        <a:t>Control </a:t>
                      </a:r>
                      <a:r>
                        <a:rPr lang="en-SG" sz="1200" b="0" dirty="0"/>
                        <a:t>–</a:t>
                      </a:r>
                      <a:r>
                        <a:rPr lang="en-SG" sz="1200" i="0" baseline="0" dirty="0"/>
                        <a:t> Revenue</a:t>
                      </a:r>
                      <a:endParaRPr lang="en-SG" sz="1200" b="0" i="0" baseline="0" dirty="0"/>
                    </a:p>
                  </a:txBody>
                  <a:tcP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SG" sz="1200" baseline="0" dirty="0"/>
                        <a:t>0.65</a:t>
                      </a:r>
                    </a:p>
                  </a:txBody>
                  <a:tcP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215309663"/>
                  </a:ext>
                </a:extLst>
              </a:tr>
              <a:tr h="256389">
                <a:tc>
                  <a:txBody>
                    <a:bodyPr/>
                    <a:lstStyle/>
                    <a:p>
                      <a:r>
                        <a:rPr lang="en-SG" sz="1200" b="1" baseline="0" dirty="0"/>
                        <a:t>Incremental Revenue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SG" sz="1200" b="1" baseline="0" dirty="0"/>
                        <a:t>0.60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93643416"/>
                  </a:ext>
                </a:extLst>
              </a:tr>
              <a:tr h="256389">
                <a:tc>
                  <a:txBody>
                    <a:bodyPr/>
                    <a:lstStyle/>
                    <a:p>
                      <a:r>
                        <a:rPr lang="en-SG" sz="1200" b="0" baseline="0" dirty="0"/>
                        <a:t>Assumption: Email Cost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SG" sz="1200" b="0" baseline="0" dirty="0"/>
                        <a:t>(0.05)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994873531"/>
                  </a:ext>
                </a:extLst>
              </a:tr>
              <a:tr h="256389">
                <a:tc>
                  <a:txBody>
                    <a:bodyPr/>
                    <a:lstStyle/>
                    <a:p>
                      <a:r>
                        <a:rPr lang="en-SG" sz="1200" b="1" baseline="0" dirty="0"/>
                        <a:t>Net Incremental Value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SG" sz="1200" b="1" baseline="0" dirty="0"/>
                        <a:t>0.55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35404844"/>
                  </a:ext>
                </a:extLst>
              </a:tr>
              <a:tr h="0">
                <a:tc>
                  <a:txBody>
                    <a:bodyPr/>
                    <a:lstStyle/>
                    <a:p>
                      <a:endParaRPr lang="en-SG" sz="600" b="1" baseline="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SG" sz="600" b="1" baseline="0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4245594824"/>
                  </a:ext>
                </a:extLst>
              </a:tr>
              <a:tr h="256389">
                <a:tc>
                  <a:txBody>
                    <a:bodyPr/>
                    <a:lstStyle/>
                    <a:p>
                      <a:r>
                        <a:rPr lang="en-SG" sz="1200" b="1" baseline="0" dirty="0"/>
                        <a:t>Break-Even Cost</a:t>
                      </a:r>
                    </a:p>
                    <a:p>
                      <a:r>
                        <a:rPr lang="en-SG" sz="1200" b="1" baseline="0" dirty="0"/>
                        <a:t>(Assumption: Budget Ceiling = Break-Even)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SG" sz="1200" b="1" baseline="0" dirty="0"/>
                        <a:t>0.60</a:t>
                      </a:r>
                    </a:p>
                  </a:txBody>
                  <a:tcPr>
                    <a:lnL w="12700" cmpd="sng"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809812545"/>
                  </a:ext>
                </a:extLst>
              </a:tr>
            </a:tbl>
          </a:graphicData>
        </a:graphic>
      </p:graphicFrame>
      <p:sp>
        <p:nvSpPr>
          <p:cNvPr id="7" name="TextBox 6">
            <a:extLst>
              <a:ext uri="{FF2B5EF4-FFF2-40B4-BE49-F238E27FC236}">
                <a16:creationId xmlns:a16="http://schemas.microsoft.com/office/drawing/2014/main" id="{746F6209-C3E0-7204-2A78-08A933641443}"/>
              </a:ext>
            </a:extLst>
          </p:cNvPr>
          <p:cNvSpPr txBox="1"/>
          <p:nvPr/>
        </p:nvSpPr>
        <p:spPr>
          <a:xfrm>
            <a:off x="602456" y="1681132"/>
            <a:ext cx="517162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SG" sz="1200" b="1" u="sng" dirty="0"/>
              <a:t>Unit Economics Snapshot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B0A2BB9-EC29-A441-84A1-A4CC41AB2F5E}"/>
              </a:ext>
            </a:extLst>
          </p:cNvPr>
          <p:cNvSpPr txBox="1"/>
          <p:nvPr/>
        </p:nvSpPr>
        <p:spPr>
          <a:xfrm>
            <a:off x="6120385" y="1681132"/>
            <a:ext cx="517162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SG" sz="1200" b="1" u="sng" dirty="0"/>
              <a:t>Scaling implication (assuming stable unit economics)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748EAC3-383F-A076-E244-2EC6914502B8}"/>
              </a:ext>
            </a:extLst>
          </p:cNvPr>
          <p:cNvSpPr txBox="1"/>
          <p:nvPr/>
        </p:nvSpPr>
        <p:spPr>
          <a:xfrm>
            <a:off x="622497" y="1311800"/>
            <a:ext cx="610284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algn="just">
              <a:buNone/>
            </a:pPr>
            <a:r>
              <a:rPr lang="en-SG" sz="1800" b="1" u="sng" dirty="0"/>
              <a:t>Unit Economics (ROI) and Budget Decision</a:t>
            </a:r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6C1DD91B-15A0-7A7B-995D-2D46FF15DA1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67113" y="1958131"/>
            <a:ext cx="5867476" cy="32230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2527046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B1DE568-5E79-1195-2724-63B1F051CD6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Title 1">
            <a:extLst>
              <a:ext uri="{FF2B5EF4-FFF2-40B4-BE49-F238E27FC236}">
                <a16:creationId xmlns:a16="http://schemas.microsoft.com/office/drawing/2014/main" id="{AFBC06EC-B45E-9F19-F4B3-CFAB405C7E9B}"/>
              </a:ext>
            </a:extLst>
          </p:cNvPr>
          <p:cNvSpPr txBox="1">
            <a:spLocks/>
          </p:cNvSpPr>
          <p:nvPr/>
        </p:nvSpPr>
        <p:spPr>
          <a:xfrm>
            <a:off x="2592924" y="624111"/>
            <a:ext cx="8911687" cy="624832"/>
          </a:xfrm>
          <a:prstGeom prst="rect">
            <a:avLst/>
          </a:prstGeom>
        </p:spPr>
        <p:txBody>
          <a:bodyPr vert="horz" lIns="91440" tIns="45720" rIns="91440" bIns="45720" rtlCol="0" anchor="t">
            <a:normAutofit lnSpcReduction="10000"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3600" kern="120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en-SG" dirty="0"/>
              <a:t>Key Results &amp; Insights</a:t>
            </a:r>
          </a:p>
        </p:txBody>
      </p:sp>
      <p:sp>
        <p:nvSpPr>
          <p:cNvPr id="25" name="Content Placeholder 4">
            <a:extLst>
              <a:ext uri="{FF2B5EF4-FFF2-40B4-BE49-F238E27FC236}">
                <a16:creationId xmlns:a16="http://schemas.microsoft.com/office/drawing/2014/main" id="{C5C9EF13-63FF-902F-CF25-F72E8D9A4E7B}"/>
              </a:ext>
            </a:extLst>
          </p:cNvPr>
          <p:cNvSpPr txBox="1">
            <a:spLocks/>
          </p:cNvSpPr>
          <p:nvPr/>
        </p:nvSpPr>
        <p:spPr>
          <a:xfrm>
            <a:off x="273496" y="1915540"/>
            <a:ext cx="3555554" cy="3237485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just">
              <a:buNone/>
            </a:pPr>
            <a:r>
              <a:rPr lang="en-SG" sz="1400" b="1" u="sng" dirty="0">
                <a:solidFill>
                  <a:schemeClr val="tx1"/>
                </a:solidFill>
              </a:rPr>
              <a:t>Key Takeaway</a:t>
            </a:r>
          </a:p>
          <a:p>
            <a:pPr marL="0" indent="0" algn="just">
              <a:buNone/>
            </a:pPr>
            <a:r>
              <a:rPr lang="en-SG" sz="1400" b="1" dirty="0">
                <a:solidFill>
                  <a:schemeClr val="tx1"/>
                </a:solidFill>
              </a:rPr>
              <a:t>Scale from highest incremental value segments first; monitoring marginal returns.</a:t>
            </a:r>
          </a:p>
          <a:p>
            <a:pPr algn="just">
              <a:buFont typeface="Wingdings" panose="05000000000000000000" pitchFamily="2" charset="2"/>
              <a:buChar char="Ø"/>
            </a:pPr>
            <a:r>
              <a:rPr lang="en-SG" sz="1400" b="1" dirty="0">
                <a:solidFill>
                  <a:schemeClr val="tx1"/>
                </a:solidFill>
              </a:rPr>
              <a:t>All segments are profitable at assumed cost per user </a:t>
            </a:r>
            <a:r>
              <a:rPr lang="en-SG" sz="1400" dirty="0">
                <a:solidFill>
                  <a:schemeClr val="tx1"/>
                </a:solidFill>
              </a:rPr>
              <a:t>($0.05).</a:t>
            </a:r>
          </a:p>
          <a:p>
            <a:pPr algn="just">
              <a:buFont typeface="Wingdings" panose="05000000000000000000" pitchFamily="2" charset="2"/>
              <a:buChar char="Ø"/>
            </a:pPr>
            <a:r>
              <a:rPr lang="en-SG" sz="1400" b="1" dirty="0">
                <a:solidFill>
                  <a:schemeClr val="tx1"/>
                </a:solidFill>
              </a:rPr>
              <a:t>Prioritize the highest-spend segment first</a:t>
            </a:r>
            <a:r>
              <a:rPr lang="en-SG" sz="1400" dirty="0">
                <a:solidFill>
                  <a:schemeClr val="tx1"/>
                </a:solidFill>
              </a:rPr>
              <a:t> (~$0.94 net value per user).</a:t>
            </a:r>
          </a:p>
          <a:p>
            <a:pPr algn="just">
              <a:buFont typeface="Wingdings" panose="05000000000000000000" pitchFamily="2" charset="2"/>
              <a:buChar char="Ø"/>
            </a:pPr>
            <a:r>
              <a:rPr lang="en-SG" sz="1400" b="1" dirty="0">
                <a:solidFill>
                  <a:schemeClr val="tx1"/>
                </a:solidFill>
              </a:rPr>
              <a:t>Allocate budget primarily by net value per user, </a:t>
            </a:r>
            <a:r>
              <a:rPr lang="en-SG" sz="1400" dirty="0">
                <a:solidFill>
                  <a:schemeClr val="tx1"/>
                </a:solidFill>
              </a:rPr>
              <a:t>while lift remains a supporting metric.</a:t>
            </a:r>
          </a:p>
        </p:txBody>
      </p:sp>
      <p:sp>
        <p:nvSpPr>
          <p:cNvPr id="2" name="Footer Placeholder 2">
            <a:extLst>
              <a:ext uri="{FF2B5EF4-FFF2-40B4-BE49-F238E27FC236}">
                <a16:creationId xmlns:a16="http://schemas.microsoft.com/office/drawing/2014/main" id="{020C5C35-418D-D030-FBD2-4B503848CC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698789" y="6544638"/>
            <a:ext cx="1164404" cy="313362"/>
          </a:xfrm>
          <a:solidFill>
            <a:srgbClr val="A53010">
              <a:alpha val="50196"/>
            </a:srgbClr>
          </a:solidFill>
          <a:ln>
            <a:solidFill>
              <a:schemeClr val="bg1">
                <a:lumMod val="95000"/>
              </a:schemeClr>
            </a:solidFill>
          </a:ln>
        </p:spPr>
        <p:txBody>
          <a:bodyPr/>
          <a:lstStyle/>
          <a:p>
            <a:r>
              <a:rPr lang="en-SG" b="1" dirty="0">
                <a:solidFill>
                  <a:schemeClr val="bg1"/>
                </a:solidFill>
              </a:rPr>
              <a:t>Problem Framing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173D7E8-6A0E-E484-ACE9-E98E6504EB8F}"/>
              </a:ext>
            </a:extLst>
          </p:cNvPr>
          <p:cNvSpPr txBox="1">
            <a:spLocks/>
          </p:cNvSpPr>
          <p:nvPr/>
        </p:nvSpPr>
        <p:spPr>
          <a:xfrm>
            <a:off x="9863192" y="6544638"/>
            <a:ext cx="1164404" cy="313362"/>
          </a:xfrm>
          <a:prstGeom prst="rect">
            <a:avLst/>
          </a:prstGeom>
          <a:solidFill>
            <a:srgbClr val="A53010">
              <a:alpha val="74902"/>
            </a:srgbClr>
          </a:solidFill>
          <a:ln>
            <a:solidFill>
              <a:schemeClr val="bg1">
                <a:lumMod val="95000"/>
              </a:schemeClr>
            </a:solidFill>
          </a:ln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457200" rtl="0" eaLnBrk="1" latinLnBrk="0" hangingPunct="1">
              <a:defRPr sz="9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SG" b="1" dirty="0">
                <a:solidFill>
                  <a:schemeClr val="bg1"/>
                </a:solidFill>
              </a:rPr>
              <a:t>Key Results &amp; Insights</a:t>
            </a:r>
          </a:p>
        </p:txBody>
      </p:sp>
      <p:sp>
        <p:nvSpPr>
          <p:cNvPr id="4" name="Footer Placeholder 2">
            <a:extLst>
              <a:ext uri="{FF2B5EF4-FFF2-40B4-BE49-F238E27FC236}">
                <a16:creationId xmlns:a16="http://schemas.microsoft.com/office/drawing/2014/main" id="{1C42B59A-74A7-7820-C061-5482295CFD2A}"/>
              </a:ext>
            </a:extLst>
          </p:cNvPr>
          <p:cNvSpPr txBox="1">
            <a:spLocks/>
          </p:cNvSpPr>
          <p:nvPr/>
        </p:nvSpPr>
        <p:spPr>
          <a:xfrm>
            <a:off x="11027596" y="6544638"/>
            <a:ext cx="1164404" cy="313362"/>
          </a:xfrm>
          <a:prstGeom prst="rect">
            <a:avLst/>
          </a:prstGeom>
          <a:solidFill>
            <a:srgbClr val="A53010">
              <a:alpha val="50196"/>
            </a:srgbClr>
          </a:solidFill>
          <a:ln>
            <a:solidFill>
              <a:schemeClr val="bg1">
                <a:lumMod val="95000"/>
              </a:schemeClr>
            </a:solidFill>
          </a:ln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457200" rtl="0" eaLnBrk="1" latinLnBrk="0" hangingPunct="1">
              <a:defRPr sz="9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SG" b="1" dirty="0">
                <a:solidFill>
                  <a:schemeClr val="bg1"/>
                </a:solidFill>
              </a:rPr>
              <a:t>Systems &amp; Decisions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97A02B1-CA30-9202-1CC6-9BEF2C7A2B24}"/>
              </a:ext>
            </a:extLst>
          </p:cNvPr>
          <p:cNvSpPr txBox="1"/>
          <p:nvPr/>
        </p:nvSpPr>
        <p:spPr>
          <a:xfrm>
            <a:off x="622497" y="1311800"/>
            <a:ext cx="610284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algn="just">
              <a:buNone/>
            </a:pPr>
            <a:r>
              <a:rPr lang="en-SG" sz="1800" b="1" u="sng" dirty="0"/>
              <a:t>Segment Insights: Who Should We Target First?</a:t>
            </a: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9654CD22-02A7-7B5C-3DDE-0147DF14D1C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68322" y="1915540"/>
            <a:ext cx="8057003" cy="41614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760112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85B1195-A16D-BF32-77D0-3758E920F18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CF3390-7544-6390-7EF1-3E23E4199C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039763" y="413988"/>
            <a:ext cx="8911687" cy="1280890"/>
          </a:xfrm>
        </p:spPr>
        <p:txBody>
          <a:bodyPr/>
          <a:lstStyle/>
          <a:p>
            <a:r>
              <a:rPr lang="en-SG" dirty="0"/>
              <a:t>Decision Framework</a:t>
            </a:r>
          </a:p>
        </p:txBody>
      </p:sp>
      <p:graphicFrame>
        <p:nvGraphicFramePr>
          <p:cNvPr id="6" name="Content Placeholder 5">
            <a:extLst>
              <a:ext uri="{FF2B5EF4-FFF2-40B4-BE49-F238E27FC236}">
                <a16:creationId xmlns:a16="http://schemas.microsoft.com/office/drawing/2014/main" id="{45F054CE-4589-99A3-366F-03EDC39494EC}"/>
              </a:ext>
            </a:extLst>
          </p:cNvPr>
          <p:cNvGraphicFramePr>
            <a:graphicFrameLocks noGrp="1"/>
          </p:cNvGraphicFramePr>
          <p:nvPr>
            <p:ph sz="quarter" idx="13"/>
            <p:extLst>
              <p:ext uri="{D42A27DB-BD31-4B8C-83A1-F6EECF244321}">
                <p14:modId xmlns:p14="http://schemas.microsoft.com/office/powerpoint/2010/main" val="1845696417"/>
              </p:ext>
            </p:extLst>
          </p:nvPr>
        </p:nvGraphicFramePr>
        <p:xfrm>
          <a:off x="1439567" y="1827837"/>
          <a:ext cx="6447133" cy="494283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7" name="Arrow: Down 6">
            <a:extLst>
              <a:ext uri="{FF2B5EF4-FFF2-40B4-BE49-F238E27FC236}">
                <a16:creationId xmlns:a16="http://schemas.microsoft.com/office/drawing/2014/main" id="{EF8FA1B2-EC26-DDAF-CA12-160EEC51A6A5}"/>
              </a:ext>
            </a:extLst>
          </p:cNvPr>
          <p:cNvSpPr/>
          <p:nvPr/>
        </p:nvSpPr>
        <p:spPr>
          <a:xfrm>
            <a:off x="8198059" y="1888250"/>
            <a:ext cx="270842" cy="4822005"/>
          </a:xfrm>
          <a:prstGeom prst="downArrow">
            <a:avLst/>
          </a:prstGeom>
          <a:solidFill>
            <a:srgbClr val="A53010">
              <a:alpha val="74902"/>
            </a:srgb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75A5E4C-6363-09C1-EACB-81F1A20BEB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698789" y="6544638"/>
            <a:ext cx="1164404" cy="313362"/>
          </a:xfrm>
          <a:solidFill>
            <a:srgbClr val="A53010">
              <a:alpha val="50196"/>
            </a:srgbClr>
          </a:solidFill>
          <a:ln>
            <a:solidFill>
              <a:schemeClr val="bg1">
                <a:lumMod val="95000"/>
              </a:schemeClr>
            </a:solidFill>
          </a:ln>
        </p:spPr>
        <p:txBody>
          <a:bodyPr/>
          <a:lstStyle/>
          <a:p>
            <a:r>
              <a:rPr lang="en-SG" b="1" dirty="0">
                <a:solidFill>
                  <a:schemeClr val="bg1"/>
                </a:solidFill>
              </a:rPr>
              <a:t>Problem Framing</a:t>
            </a:r>
          </a:p>
        </p:txBody>
      </p:sp>
      <p:sp>
        <p:nvSpPr>
          <p:cNvPr id="4" name="Footer Placeholder 2">
            <a:extLst>
              <a:ext uri="{FF2B5EF4-FFF2-40B4-BE49-F238E27FC236}">
                <a16:creationId xmlns:a16="http://schemas.microsoft.com/office/drawing/2014/main" id="{39BAC06C-3677-E500-3EAD-6CF2B375B483}"/>
              </a:ext>
            </a:extLst>
          </p:cNvPr>
          <p:cNvSpPr txBox="1">
            <a:spLocks/>
          </p:cNvSpPr>
          <p:nvPr/>
        </p:nvSpPr>
        <p:spPr>
          <a:xfrm>
            <a:off x="9863192" y="6544638"/>
            <a:ext cx="1164404" cy="313362"/>
          </a:xfrm>
          <a:prstGeom prst="rect">
            <a:avLst/>
          </a:prstGeom>
          <a:solidFill>
            <a:srgbClr val="A53010">
              <a:alpha val="50196"/>
            </a:srgbClr>
          </a:solidFill>
          <a:ln>
            <a:solidFill>
              <a:schemeClr val="bg1">
                <a:lumMod val="95000"/>
              </a:schemeClr>
            </a:solidFill>
          </a:ln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457200" rtl="0" eaLnBrk="1" latinLnBrk="0" hangingPunct="1">
              <a:defRPr sz="9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SG" b="1" dirty="0">
                <a:solidFill>
                  <a:schemeClr val="bg1"/>
                </a:solidFill>
              </a:rPr>
              <a:t>Key Results &amp; Insights</a:t>
            </a:r>
          </a:p>
        </p:txBody>
      </p:sp>
      <p:sp>
        <p:nvSpPr>
          <p:cNvPr id="5" name="Footer Placeholder 2">
            <a:extLst>
              <a:ext uri="{FF2B5EF4-FFF2-40B4-BE49-F238E27FC236}">
                <a16:creationId xmlns:a16="http://schemas.microsoft.com/office/drawing/2014/main" id="{759AE184-12F5-F3EB-AF08-E23F41435743}"/>
              </a:ext>
            </a:extLst>
          </p:cNvPr>
          <p:cNvSpPr txBox="1">
            <a:spLocks/>
          </p:cNvSpPr>
          <p:nvPr/>
        </p:nvSpPr>
        <p:spPr>
          <a:xfrm>
            <a:off x="11027596" y="6544638"/>
            <a:ext cx="1164404" cy="313362"/>
          </a:xfrm>
          <a:prstGeom prst="rect">
            <a:avLst/>
          </a:prstGeom>
          <a:solidFill>
            <a:srgbClr val="A53010">
              <a:alpha val="74902"/>
            </a:srgbClr>
          </a:solidFill>
          <a:ln>
            <a:solidFill>
              <a:schemeClr val="bg1">
                <a:lumMod val="95000"/>
              </a:schemeClr>
            </a:solidFill>
          </a:ln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457200" rtl="0" eaLnBrk="1" latinLnBrk="0" hangingPunct="1">
              <a:defRPr sz="9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SG" b="1" dirty="0">
                <a:solidFill>
                  <a:schemeClr val="bg1"/>
                </a:solidFill>
              </a:rPr>
              <a:t>Decision Framework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929C5AF-A273-BD62-ED32-F7004A5E4BA9}"/>
              </a:ext>
            </a:extLst>
          </p:cNvPr>
          <p:cNvSpPr txBox="1"/>
          <p:nvPr/>
        </p:nvSpPr>
        <p:spPr>
          <a:xfrm>
            <a:off x="1439567" y="1080755"/>
            <a:ext cx="6447133" cy="738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SG" sz="1400" b="1" dirty="0">
                <a:effectLst/>
                <a:latin typeface="Century Gothic (Body)"/>
              </a:rPr>
              <a:t>From Experiments to Business Decisions </a:t>
            </a:r>
          </a:p>
          <a:p>
            <a:pPr algn="just"/>
            <a:r>
              <a:rPr lang="en-SG" sz="1400" dirty="0">
                <a:effectLst/>
                <a:latin typeface="Century Gothic (Body)"/>
              </a:rPr>
              <a:t>Translate experimental results into ROI-driven targeting and scaling decisions </a:t>
            </a:r>
            <a:endParaRPr lang="en-SG" sz="1000" dirty="0"/>
          </a:p>
        </p:txBody>
      </p:sp>
    </p:spTree>
    <p:extLst>
      <p:ext uri="{BB962C8B-B14F-4D97-AF65-F5344CB8AC3E}">
        <p14:creationId xmlns:p14="http://schemas.microsoft.com/office/powerpoint/2010/main" val="337018071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141B413-355C-5F28-BF5B-C0EA7222EC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7E9BF5-ED40-08C0-1A19-82C112E540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SG" dirty="0"/>
              <a:t>Key Recommendations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549101E7-22EF-7DA6-591A-F9EDD3E16E10}"/>
              </a:ext>
            </a:extLst>
          </p:cNvPr>
          <p:cNvGraphicFramePr>
            <a:graphicFrameLocks noGrp="1"/>
          </p:cNvGraphicFramePr>
          <p:nvPr>
            <p:ph sz="quarter" idx="13"/>
            <p:extLst>
              <p:ext uri="{D42A27DB-BD31-4B8C-83A1-F6EECF244321}">
                <p14:modId xmlns:p14="http://schemas.microsoft.com/office/powerpoint/2010/main" val="185268614"/>
              </p:ext>
            </p:extLst>
          </p:nvPr>
        </p:nvGraphicFramePr>
        <p:xfrm>
          <a:off x="1681315" y="1815711"/>
          <a:ext cx="8911687" cy="459986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753F6CD-02DE-7B68-6AB1-39B24F157B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698789" y="6544638"/>
            <a:ext cx="1164404" cy="313362"/>
          </a:xfrm>
          <a:solidFill>
            <a:srgbClr val="A53010">
              <a:alpha val="50196"/>
            </a:srgbClr>
          </a:solidFill>
          <a:ln>
            <a:solidFill>
              <a:schemeClr val="bg1">
                <a:lumMod val="95000"/>
              </a:schemeClr>
            </a:solidFill>
          </a:ln>
        </p:spPr>
        <p:txBody>
          <a:bodyPr/>
          <a:lstStyle/>
          <a:p>
            <a:r>
              <a:rPr lang="en-SG" b="1" dirty="0">
                <a:solidFill>
                  <a:schemeClr val="bg1"/>
                </a:solidFill>
              </a:rPr>
              <a:t>Problem Framing</a:t>
            </a:r>
          </a:p>
        </p:txBody>
      </p:sp>
      <p:sp>
        <p:nvSpPr>
          <p:cNvPr id="5" name="Footer Placeholder 2">
            <a:extLst>
              <a:ext uri="{FF2B5EF4-FFF2-40B4-BE49-F238E27FC236}">
                <a16:creationId xmlns:a16="http://schemas.microsoft.com/office/drawing/2014/main" id="{F00AC071-D817-4D34-C669-67FC341EBC19}"/>
              </a:ext>
            </a:extLst>
          </p:cNvPr>
          <p:cNvSpPr txBox="1">
            <a:spLocks/>
          </p:cNvSpPr>
          <p:nvPr/>
        </p:nvSpPr>
        <p:spPr>
          <a:xfrm>
            <a:off x="9863192" y="6544638"/>
            <a:ext cx="1164404" cy="313362"/>
          </a:xfrm>
          <a:prstGeom prst="rect">
            <a:avLst/>
          </a:prstGeom>
          <a:solidFill>
            <a:srgbClr val="A53010">
              <a:alpha val="50196"/>
            </a:srgbClr>
          </a:solidFill>
          <a:ln>
            <a:solidFill>
              <a:schemeClr val="bg1">
                <a:lumMod val="95000"/>
              </a:schemeClr>
            </a:solidFill>
          </a:ln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457200" rtl="0" eaLnBrk="1" latinLnBrk="0" hangingPunct="1">
              <a:defRPr sz="9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SG" b="1" dirty="0">
                <a:solidFill>
                  <a:schemeClr val="bg1"/>
                </a:solidFill>
              </a:rPr>
              <a:t>Key Results &amp; Insights</a:t>
            </a:r>
          </a:p>
        </p:txBody>
      </p:sp>
      <p:sp>
        <p:nvSpPr>
          <p:cNvPr id="6" name="Footer Placeholder 2">
            <a:extLst>
              <a:ext uri="{FF2B5EF4-FFF2-40B4-BE49-F238E27FC236}">
                <a16:creationId xmlns:a16="http://schemas.microsoft.com/office/drawing/2014/main" id="{4E33D093-FE47-F0CB-C37A-B2DD977CD9AD}"/>
              </a:ext>
            </a:extLst>
          </p:cNvPr>
          <p:cNvSpPr txBox="1">
            <a:spLocks/>
          </p:cNvSpPr>
          <p:nvPr/>
        </p:nvSpPr>
        <p:spPr>
          <a:xfrm>
            <a:off x="11027596" y="6544638"/>
            <a:ext cx="1164404" cy="313362"/>
          </a:xfrm>
          <a:prstGeom prst="rect">
            <a:avLst/>
          </a:prstGeom>
          <a:solidFill>
            <a:srgbClr val="A53010">
              <a:alpha val="74902"/>
            </a:srgbClr>
          </a:solidFill>
          <a:ln>
            <a:solidFill>
              <a:schemeClr val="bg1">
                <a:lumMod val="95000"/>
              </a:schemeClr>
            </a:solidFill>
          </a:ln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457200" rtl="0" eaLnBrk="1" latinLnBrk="0" hangingPunct="1">
              <a:defRPr sz="9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SG" b="1" dirty="0">
                <a:solidFill>
                  <a:schemeClr val="bg1"/>
                </a:solidFill>
              </a:rPr>
              <a:t>Decision Framework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7D70CA5-45A2-81E6-F7DD-0025FEF0B36A}"/>
              </a:ext>
            </a:extLst>
          </p:cNvPr>
          <p:cNvSpPr txBox="1"/>
          <p:nvPr/>
        </p:nvSpPr>
        <p:spPr>
          <a:xfrm>
            <a:off x="1681316" y="1252716"/>
            <a:ext cx="5129059" cy="52322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r>
              <a:rPr lang="en-SG" sz="1400" b="1" dirty="0"/>
              <a:t>Key Takeaway: Scale the campaign with disciplined targeting and incrementality-based measurement.</a:t>
            </a:r>
          </a:p>
        </p:txBody>
      </p:sp>
    </p:spTree>
    <p:extLst>
      <p:ext uri="{BB962C8B-B14F-4D97-AF65-F5344CB8AC3E}">
        <p14:creationId xmlns:p14="http://schemas.microsoft.com/office/powerpoint/2010/main" val="360105809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3044D2D-F996-181A-D2B2-8132326E055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CBF999-F601-3A98-DF96-76839A76FC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90600" y="624110"/>
            <a:ext cx="10514011" cy="1280890"/>
          </a:xfrm>
        </p:spPr>
        <p:txBody>
          <a:bodyPr/>
          <a:lstStyle/>
          <a:p>
            <a:r>
              <a:rPr lang="en-SG" dirty="0"/>
              <a:t>Limitations &amp; Production Considerations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CBF22264-5774-5A82-FCEE-B9B6A35B44EE}"/>
              </a:ext>
            </a:extLst>
          </p:cNvPr>
          <p:cNvGraphicFramePr>
            <a:graphicFrameLocks noGrp="1"/>
          </p:cNvGraphicFramePr>
          <p:nvPr>
            <p:ph sz="quarter" idx="13"/>
            <p:extLst>
              <p:ext uri="{D42A27DB-BD31-4B8C-83A1-F6EECF244321}">
                <p14:modId xmlns:p14="http://schemas.microsoft.com/office/powerpoint/2010/main" val="3579207238"/>
              </p:ext>
            </p:extLst>
          </p:nvPr>
        </p:nvGraphicFramePr>
        <p:xfrm>
          <a:off x="816797" y="1652364"/>
          <a:ext cx="10822753" cy="359591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5B9ED7B-68DA-A991-F186-43BC8931C5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698789" y="6544638"/>
            <a:ext cx="1164404" cy="313362"/>
          </a:xfrm>
          <a:solidFill>
            <a:srgbClr val="A53010">
              <a:alpha val="50196"/>
            </a:srgbClr>
          </a:solidFill>
          <a:ln>
            <a:solidFill>
              <a:schemeClr val="bg1">
                <a:lumMod val="95000"/>
              </a:schemeClr>
            </a:solidFill>
          </a:ln>
        </p:spPr>
        <p:txBody>
          <a:bodyPr/>
          <a:lstStyle/>
          <a:p>
            <a:r>
              <a:rPr lang="en-SG" b="1" dirty="0">
                <a:solidFill>
                  <a:schemeClr val="bg1"/>
                </a:solidFill>
              </a:rPr>
              <a:t>Problem Framing</a:t>
            </a:r>
          </a:p>
        </p:txBody>
      </p:sp>
      <p:sp>
        <p:nvSpPr>
          <p:cNvPr id="5" name="Footer Placeholder 2">
            <a:extLst>
              <a:ext uri="{FF2B5EF4-FFF2-40B4-BE49-F238E27FC236}">
                <a16:creationId xmlns:a16="http://schemas.microsoft.com/office/drawing/2014/main" id="{C8042974-16AA-B1FA-D642-A4F2CEE9DC26}"/>
              </a:ext>
            </a:extLst>
          </p:cNvPr>
          <p:cNvSpPr txBox="1">
            <a:spLocks/>
          </p:cNvSpPr>
          <p:nvPr/>
        </p:nvSpPr>
        <p:spPr>
          <a:xfrm>
            <a:off x="9863192" y="6544638"/>
            <a:ext cx="1164404" cy="313362"/>
          </a:xfrm>
          <a:prstGeom prst="rect">
            <a:avLst/>
          </a:prstGeom>
          <a:solidFill>
            <a:srgbClr val="A53010">
              <a:alpha val="50196"/>
            </a:srgbClr>
          </a:solidFill>
          <a:ln>
            <a:solidFill>
              <a:schemeClr val="bg1">
                <a:lumMod val="95000"/>
              </a:schemeClr>
            </a:solidFill>
          </a:ln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457200" rtl="0" eaLnBrk="1" latinLnBrk="0" hangingPunct="1">
              <a:defRPr sz="9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SG" b="1" dirty="0">
                <a:solidFill>
                  <a:schemeClr val="bg1"/>
                </a:solidFill>
              </a:rPr>
              <a:t>Key Results &amp; Insights</a:t>
            </a:r>
          </a:p>
        </p:txBody>
      </p:sp>
      <p:sp>
        <p:nvSpPr>
          <p:cNvPr id="6" name="Footer Placeholder 2">
            <a:extLst>
              <a:ext uri="{FF2B5EF4-FFF2-40B4-BE49-F238E27FC236}">
                <a16:creationId xmlns:a16="http://schemas.microsoft.com/office/drawing/2014/main" id="{057EDC39-B533-F13F-5910-D52EE0E52540}"/>
              </a:ext>
            </a:extLst>
          </p:cNvPr>
          <p:cNvSpPr txBox="1">
            <a:spLocks/>
          </p:cNvSpPr>
          <p:nvPr/>
        </p:nvSpPr>
        <p:spPr>
          <a:xfrm>
            <a:off x="11027596" y="6544638"/>
            <a:ext cx="1164404" cy="313362"/>
          </a:xfrm>
          <a:prstGeom prst="rect">
            <a:avLst/>
          </a:prstGeom>
          <a:solidFill>
            <a:srgbClr val="A53010">
              <a:alpha val="74902"/>
            </a:srgbClr>
          </a:solidFill>
          <a:ln>
            <a:solidFill>
              <a:schemeClr val="bg1">
                <a:lumMod val="95000"/>
              </a:schemeClr>
            </a:solidFill>
          </a:ln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457200" rtl="0" eaLnBrk="1" latinLnBrk="0" hangingPunct="1">
              <a:defRPr sz="9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SG" b="1" dirty="0">
                <a:solidFill>
                  <a:schemeClr val="bg1"/>
                </a:solidFill>
              </a:rPr>
              <a:t>Decision Framework</a:t>
            </a:r>
          </a:p>
        </p:txBody>
      </p:sp>
    </p:spTree>
    <p:extLst>
      <p:ext uri="{BB962C8B-B14F-4D97-AF65-F5344CB8AC3E}">
        <p14:creationId xmlns:p14="http://schemas.microsoft.com/office/powerpoint/2010/main" val="235122149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BA64A0C-2B9E-D6D3-DC3D-E9F3E8CD406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8B485C-74AA-4203-A662-37A20CDCFA3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90600" y="624110"/>
            <a:ext cx="10514011" cy="1280890"/>
          </a:xfrm>
        </p:spPr>
        <p:txBody>
          <a:bodyPr/>
          <a:lstStyle/>
          <a:p>
            <a:r>
              <a:rPr lang="en-SG" dirty="0"/>
              <a:t>Potential Extensions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AF537B4-B516-08BB-143D-6411393E7B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698789" y="6544638"/>
            <a:ext cx="1164404" cy="313362"/>
          </a:xfrm>
          <a:solidFill>
            <a:srgbClr val="A53010">
              <a:alpha val="50196"/>
            </a:srgbClr>
          </a:solidFill>
          <a:ln>
            <a:solidFill>
              <a:schemeClr val="bg1">
                <a:lumMod val="95000"/>
              </a:schemeClr>
            </a:solidFill>
          </a:ln>
        </p:spPr>
        <p:txBody>
          <a:bodyPr/>
          <a:lstStyle/>
          <a:p>
            <a:r>
              <a:rPr lang="en-SG" b="1" dirty="0">
                <a:solidFill>
                  <a:schemeClr val="bg1"/>
                </a:solidFill>
              </a:rPr>
              <a:t>Problem Framing</a:t>
            </a:r>
          </a:p>
        </p:txBody>
      </p:sp>
      <p:sp>
        <p:nvSpPr>
          <p:cNvPr id="5" name="Footer Placeholder 2">
            <a:extLst>
              <a:ext uri="{FF2B5EF4-FFF2-40B4-BE49-F238E27FC236}">
                <a16:creationId xmlns:a16="http://schemas.microsoft.com/office/drawing/2014/main" id="{E4C31E9D-2371-E714-AAD8-2344B50C4E18}"/>
              </a:ext>
            </a:extLst>
          </p:cNvPr>
          <p:cNvSpPr txBox="1">
            <a:spLocks/>
          </p:cNvSpPr>
          <p:nvPr/>
        </p:nvSpPr>
        <p:spPr>
          <a:xfrm>
            <a:off x="9863192" y="6544638"/>
            <a:ext cx="1164404" cy="313362"/>
          </a:xfrm>
          <a:prstGeom prst="rect">
            <a:avLst/>
          </a:prstGeom>
          <a:solidFill>
            <a:srgbClr val="A53010">
              <a:alpha val="50196"/>
            </a:srgbClr>
          </a:solidFill>
          <a:ln>
            <a:solidFill>
              <a:schemeClr val="bg1">
                <a:lumMod val="95000"/>
              </a:schemeClr>
            </a:solidFill>
          </a:ln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457200" rtl="0" eaLnBrk="1" latinLnBrk="0" hangingPunct="1">
              <a:defRPr sz="9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SG" b="1" dirty="0">
                <a:solidFill>
                  <a:schemeClr val="bg1"/>
                </a:solidFill>
              </a:rPr>
              <a:t>Key Results &amp; Insights</a:t>
            </a:r>
          </a:p>
        </p:txBody>
      </p:sp>
      <p:sp>
        <p:nvSpPr>
          <p:cNvPr id="6" name="Footer Placeholder 2">
            <a:extLst>
              <a:ext uri="{FF2B5EF4-FFF2-40B4-BE49-F238E27FC236}">
                <a16:creationId xmlns:a16="http://schemas.microsoft.com/office/drawing/2014/main" id="{85F8CF38-F17B-DF09-76D6-A87BABAD7B51}"/>
              </a:ext>
            </a:extLst>
          </p:cNvPr>
          <p:cNvSpPr txBox="1">
            <a:spLocks/>
          </p:cNvSpPr>
          <p:nvPr/>
        </p:nvSpPr>
        <p:spPr>
          <a:xfrm>
            <a:off x="11027596" y="6544638"/>
            <a:ext cx="1164404" cy="313362"/>
          </a:xfrm>
          <a:prstGeom prst="rect">
            <a:avLst/>
          </a:prstGeom>
          <a:solidFill>
            <a:srgbClr val="A53010">
              <a:alpha val="74902"/>
            </a:srgbClr>
          </a:solidFill>
          <a:ln>
            <a:solidFill>
              <a:schemeClr val="bg1">
                <a:lumMod val="95000"/>
              </a:schemeClr>
            </a:solidFill>
          </a:ln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457200" rtl="0" eaLnBrk="1" latinLnBrk="0" hangingPunct="1">
              <a:defRPr sz="9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SG" b="1" dirty="0">
                <a:solidFill>
                  <a:schemeClr val="bg1"/>
                </a:solidFill>
              </a:rPr>
              <a:t>Decision Framework</a:t>
            </a:r>
          </a:p>
        </p:txBody>
      </p:sp>
      <p:graphicFrame>
        <p:nvGraphicFramePr>
          <p:cNvPr id="17" name="Content Placeholder 3">
            <a:extLst>
              <a:ext uri="{FF2B5EF4-FFF2-40B4-BE49-F238E27FC236}">
                <a16:creationId xmlns:a16="http://schemas.microsoft.com/office/drawing/2014/main" id="{D1E5AF8D-22C3-9A85-5D53-A0EF08A98807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178017929"/>
              </p:ext>
            </p:extLst>
          </p:nvPr>
        </p:nvGraphicFramePr>
        <p:xfrm>
          <a:off x="1085850" y="1490440"/>
          <a:ext cx="10115550" cy="346256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4017059870"/>
      </p:ext>
    </p:extLst>
  </p:cSld>
  <p:clrMapOvr>
    <a:masterClrMapping/>
  </p:clrMapOvr>
</p:sld>
</file>

<file path=ppt/theme/theme1.xml><?xml version="1.0" encoding="utf-8"?>
<a:theme xmlns:a="http://schemas.openxmlformats.org/drawingml/2006/main" name="Wisp">
  <a:themeElements>
    <a:clrScheme name="Wisp">
      <a:dk1>
        <a:sysClr val="windowText" lastClr="000000"/>
      </a:dk1>
      <a:lt1>
        <a:sysClr val="window" lastClr="FFFFFF"/>
      </a:lt1>
      <a:dk2>
        <a:srgbClr val="766F54"/>
      </a:dk2>
      <a:lt2>
        <a:srgbClr val="E3EACF"/>
      </a:lt2>
      <a:accent1>
        <a:srgbClr val="A53010"/>
      </a:accent1>
      <a:accent2>
        <a:srgbClr val="DE7E18"/>
      </a:accent2>
      <a:accent3>
        <a:srgbClr val="9F8351"/>
      </a:accent3>
      <a:accent4>
        <a:srgbClr val="728653"/>
      </a:accent4>
      <a:accent5>
        <a:srgbClr val="92AA4C"/>
      </a:accent5>
      <a:accent6>
        <a:srgbClr val="6AAC91"/>
      </a:accent6>
      <a:hlink>
        <a:srgbClr val="FB4A18"/>
      </a:hlink>
      <a:folHlink>
        <a:srgbClr val="FB9318"/>
      </a:folHlink>
    </a:clrScheme>
    <a:fontScheme name="Wisp">
      <a:maj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Wisp">
      <a:fillStyleLst>
        <a:solidFill>
          <a:schemeClr val="phClr"/>
        </a:solidFill>
        <a:solidFill>
          <a:schemeClr val="phClr">
            <a:tint val="70000"/>
            <a:lumMod val="104000"/>
          </a:schemeClr>
        </a:solidFill>
        <a:gradFill rotWithShape="1">
          <a:gsLst>
            <a:gs pos="0">
              <a:schemeClr val="phClr">
                <a:tint val="96000"/>
                <a:lumMod val="104000"/>
              </a:schemeClr>
            </a:gs>
            <a:gs pos="100000">
              <a:schemeClr val="phClr">
                <a:shade val="98000"/>
                <a:lumMod val="9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>
              <a:shade val="90000"/>
            </a:schemeClr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2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6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satMod val="92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Wisp" id="{7CB32D59-10C0-40DD-B7BD-2E94284A981C}" vid="{24B1A44C-C006-48B2-A4D7-E5549B3D8CD4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Wisp</Template>
  <TotalTime>1511</TotalTime>
  <Words>1468</Words>
  <Application>Microsoft Office PowerPoint</Application>
  <PresentationFormat>Widescreen</PresentationFormat>
  <Paragraphs>228</Paragraphs>
  <Slides>13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20" baseType="lpstr">
      <vt:lpstr>Century Gothic (Body)</vt:lpstr>
      <vt:lpstr>Aptos</vt:lpstr>
      <vt:lpstr>Arial</vt:lpstr>
      <vt:lpstr>Century Gothic</vt:lpstr>
      <vt:lpstr>Wingdings</vt:lpstr>
      <vt:lpstr>Wingdings 3</vt:lpstr>
      <vt:lpstr>Wisp</vt:lpstr>
      <vt:lpstr>Marketing Incrementality via A/B Testing</vt:lpstr>
      <vt:lpstr>Business &amp; Dataset Context</vt:lpstr>
      <vt:lpstr>Problem Framing</vt:lpstr>
      <vt:lpstr>Experiment Design (A/B Testing)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Decision Framework</vt:lpstr>
      <vt:lpstr>Key Recommendations</vt:lpstr>
      <vt:lpstr>Limitations &amp; Production Considerations</vt:lpstr>
      <vt:lpstr>Potential Extensions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Humphrey Tan</dc:creator>
  <cp:lastModifiedBy>Humphrey Tan</cp:lastModifiedBy>
  <cp:revision>842</cp:revision>
  <dcterms:created xsi:type="dcterms:W3CDTF">2026-03-25T06:59:36Z</dcterms:created>
  <dcterms:modified xsi:type="dcterms:W3CDTF">2026-04-04T11:08:36Z</dcterms:modified>
</cp:coreProperties>
</file>